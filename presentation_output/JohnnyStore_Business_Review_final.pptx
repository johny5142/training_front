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d57a0fe1e04888" /><Relationship Type="http://schemas.openxmlformats.org/officeDocument/2006/relationships/extended-properties" Target="/docProps/app.xml" Id="R6631a1f8fff84233" /><Relationship Type="http://schemas.openxmlformats.org/officeDocument/2006/relationships/officeDocument" Target="/ppt/presentation.xml" Id="R2c1b6bc8ba36451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9e64d081cb74150"/>
  </p:sldMasterIdLst>
  <p:notesMasterIdLst>
    <p:notesMasterId xmlns:r="http://schemas.openxmlformats.org/officeDocument/2006/relationships" r:id="R895e58f061cc40dc"/>
  </p:notesMasterIdLst>
  <p:sldIdLst>
    <p:sldId xmlns:r="http://schemas.openxmlformats.org/officeDocument/2006/relationships" id="256" r:id="Rd1e5c0d871534057"/>
    <p:sldId xmlns:r="http://schemas.openxmlformats.org/officeDocument/2006/relationships" id="257" r:id="R00853d72123846a6"/>
    <p:sldId xmlns:r="http://schemas.openxmlformats.org/officeDocument/2006/relationships" id="258" r:id="R9cd1e3c624a84c1e"/>
    <p:sldId xmlns:r="http://schemas.openxmlformats.org/officeDocument/2006/relationships" id="259" r:id="R0398b16dbcf54e90"/>
    <p:sldId xmlns:r="http://schemas.openxmlformats.org/officeDocument/2006/relationships" id="260" r:id="R47dbffcd0965423e"/>
    <p:sldId xmlns:r="http://schemas.openxmlformats.org/officeDocument/2006/relationships" id="261" r:id="R612d098aca0c44a4"/>
    <p:sldId xmlns:r="http://schemas.openxmlformats.org/officeDocument/2006/relationships" id="262" r:id="R4b310828f91a48dd"/>
    <p:sldId xmlns:r="http://schemas.openxmlformats.org/officeDocument/2006/relationships" id="263" r:id="R0da11fbca7314754"/>
    <p:sldId xmlns:r="http://schemas.openxmlformats.org/officeDocument/2006/relationships" id="264" r:id="Rb75641f50622490e"/>
    <p:sldId xmlns:r="http://schemas.openxmlformats.org/officeDocument/2006/relationships" id="265" r:id="R886cde641320486d"/>
    <p:sldId xmlns:r="http://schemas.openxmlformats.org/officeDocument/2006/relationships" id="266" r:id="R05e26c12854f43d8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3cb57c82618a46b2"/>
      <p:italic xmlns:r="http://schemas.openxmlformats.org/officeDocument/2006/relationships" r:id="R01db55034aea4408"/>
    </p:embeddedFont>
    <p:embeddedFont>
      <p:font typeface="Lora SemiBold"/>
      <p:regular xmlns:r="http://schemas.openxmlformats.org/officeDocument/2006/relationships" r:id="R0f140205e77d4306"/>
      <p:bold xmlns:r="http://schemas.openxmlformats.org/officeDocument/2006/relationships" r:id="Reb57bf3697304bd3"/>
      <p:italic xmlns:r="http://schemas.openxmlformats.org/officeDocument/2006/relationships" r:id="R3eb9c580b7474859"/>
      <p:boldItalic xmlns:r="http://schemas.openxmlformats.org/officeDocument/2006/relationships" r:id="Rbeb3b77a184a423f"/>
    </p:embeddedFont>
    <p:embeddedFont>
      <p:font typeface="OpenAI Sans"/>
      <p:regular xmlns:r="http://schemas.openxmlformats.org/officeDocument/2006/relationships" r:id="R1c833d8d05a44094"/>
      <p:bold xmlns:r="http://schemas.openxmlformats.org/officeDocument/2006/relationships" r:id="R5262049f2e994105"/>
      <p:italic xmlns:r="http://schemas.openxmlformats.org/officeDocument/2006/relationships" r:id="R38aa44ed5b0d42da"/>
      <p:boldItalic xmlns:r="http://schemas.openxmlformats.org/officeDocument/2006/relationships" r:id="R078494468ee947a1"/>
    </p:embeddedFont>
    <p:embeddedFont>
      <p:font typeface="Roboto"/>
      <p:regular xmlns:r="http://schemas.openxmlformats.org/officeDocument/2006/relationships" r:id="R59f597f95cc74238"/>
      <p:bold xmlns:r="http://schemas.openxmlformats.org/officeDocument/2006/relationships" r:id="Rf727da345e894c6b"/>
      <p:italic xmlns:r="http://schemas.openxmlformats.org/officeDocument/2006/relationships" r:id="R29c6a1745c31469c"/>
      <p:boldItalic xmlns:r="http://schemas.openxmlformats.org/officeDocument/2006/relationships" r:id="R0708e4bcef4940db"/>
    </p:embeddedFont>
    <p:embeddedFont>
      <p:font typeface="Roboto Medium"/>
      <p:regular xmlns:r="http://schemas.openxmlformats.org/officeDocument/2006/relationships" r:id="Ra54fd4d8db514a53"/>
      <p:italic xmlns:r="http://schemas.openxmlformats.org/officeDocument/2006/relationships" r:id="R4504f48fd1f84509"/>
    </p:embeddedFont>
    <p:embeddedFont>
      <p:font typeface="Roboto SemiBold"/>
      <p:regular xmlns:r="http://schemas.openxmlformats.org/officeDocument/2006/relationships" r:id="Rcaf69de9c37c4b26"/>
      <p:bold xmlns:r="http://schemas.openxmlformats.org/officeDocument/2006/relationships" r:id="R529191abb07f41ca"/>
      <p:italic xmlns:r="http://schemas.openxmlformats.org/officeDocument/2006/relationships" r:id="R70004deac8684d3a"/>
      <p:boldItalic xmlns:r="http://schemas.openxmlformats.org/officeDocument/2006/relationships" r:id="R31beb7bad3e04ace"/>
    </p:embeddedFont>
    <p:embeddedFont>
      <p:font typeface="Roboto Serif 14pt"/>
      <p:regular xmlns:r="http://schemas.openxmlformats.org/officeDocument/2006/relationships" r:id="R24f7d43e84a04983"/>
      <p:bold xmlns:r="http://schemas.openxmlformats.org/officeDocument/2006/relationships" r:id="Re245d5804753494d"/>
      <p:italic xmlns:r="http://schemas.openxmlformats.org/officeDocument/2006/relationships" r:id="Rdf28a2e5625f4c7d"/>
      <p:boldItalic xmlns:r="http://schemas.openxmlformats.org/officeDocument/2006/relationships" r:id="R4179b06470764bce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308c11604e47db" /><Relationship Type="http://schemas.openxmlformats.org/officeDocument/2006/relationships/slideMaster" Target="/ppt/slideMasters/slideMaster1.xml" Id="R69e64d081cb74150" /><Relationship Type="http://schemas.openxmlformats.org/officeDocument/2006/relationships/notesMaster" Target="/ppt/notesMasters/notesMaster1.xml" Id="R895e58f061cc40dc" /><Relationship Type="http://schemas.openxmlformats.org/officeDocument/2006/relationships/presProps" Target="/ppt/presProps.xml" Id="R150621e0af6a4cd4" /><Relationship Type="http://schemas.openxmlformats.org/officeDocument/2006/relationships/viewProps" Target="/ppt/viewProps.xml" Id="R7cb262bb1d4a437f" /><Relationship Type="http://schemas.openxmlformats.org/officeDocument/2006/relationships/tableStyles" Target="/ppt/tableStyles.xml" Id="R7c3e5016914d4bb5" /><Relationship Type="http://schemas.openxmlformats.org/officeDocument/2006/relationships/font" Target="/ppt/fonts/font.dat" Id="R3cb57c82618a46b2" /><Relationship Type="http://schemas.openxmlformats.org/officeDocument/2006/relationships/font" Target="/ppt/fonts/font2.dat" Id="R01db55034aea4408" /><Relationship Type="http://schemas.openxmlformats.org/officeDocument/2006/relationships/font" Target="/ppt/fonts/font3.dat" Id="R0f140205e77d4306" /><Relationship Type="http://schemas.openxmlformats.org/officeDocument/2006/relationships/font" Target="/ppt/fonts/font4.dat" Id="Reb57bf3697304bd3" /><Relationship Type="http://schemas.openxmlformats.org/officeDocument/2006/relationships/font" Target="/ppt/fonts/font5.dat" Id="R3eb9c580b7474859" /><Relationship Type="http://schemas.openxmlformats.org/officeDocument/2006/relationships/font" Target="/ppt/fonts/font6.dat" Id="Rbeb3b77a184a423f" /><Relationship Type="http://schemas.openxmlformats.org/officeDocument/2006/relationships/font" Target="/ppt/fonts/font7.dat" Id="R1c833d8d05a44094" /><Relationship Type="http://schemas.openxmlformats.org/officeDocument/2006/relationships/font" Target="/ppt/fonts/font8.dat" Id="R5262049f2e994105" /><Relationship Type="http://schemas.openxmlformats.org/officeDocument/2006/relationships/font" Target="/ppt/fonts/font9.dat" Id="R38aa44ed5b0d42da" /><Relationship Type="http://schemas.openxmlformats.org/officeDocument/2006/relationships/font" Target="/ppt/fonts/font10.dat" Id="R078494468ee947a1" /><Relationship Type="http://schemas.openxmlformats.org/officeDocument/2006/relationships/font" Target="/ppt/fonts/font11.dat" Id="R59f597f95cc74238" /><Relationship Type="http://schemas.openxmlformats.org/officeDocument/2006/relationships/font" Target="/ppt/fonts/font12.dat" Id="Rf727da345e894c6b" /><Relationship Type="http://schemas.openxmlformats.org/officeDocument/2006/relationships/font" Target="/ppt/fonts/font13.dat" Id="R29c6a1745c31469c" /><Relationship Type="http://schemas.openxmlformats.org/officeDocument/2006/relationships/font" Target="/ppt/fonts/font14.dat" Id="R0708e4bcef4940db" /><Relationship Type="http://schemas.openxmlformats.org/officeDocument/2006/relationships/font" Target="/ppt/fonts/font15.dat" Id="Ra54fd4d8db514a53" /><Relationship Type="http://schemas.openxmlformats.org/officeDocument/2006/relationships/font" Target="/ppt/fonts/font16.dat" Id="R4504f48fd1f84509" /><Relationship Type="http://schemas.openxmlformats.org/officeDocument/2006/relationships/font" Target="/ppt/fonts/font17.dat" Id="Rcaf69de9c37c4b26" /><Relationship Type="http://schemas.openxmlformats.org/officeDocument/2006/relationships/font" Target="/ppt/fonts/font18.dat" Id="R529191abb07f41ca" /><Relationship Type="http://schemas.openxmlformats.org/officeDocument/2006/relationships/font" Target="/ppt/fonts/font19.dat" Id="R70004deac8684d3a" /><Relationship Type="http://schemas.openxmlformats.org/officeDocument/2006/relationships/font" Target="/ppt/fonts/font20.dat" Id="R31beb7bad3e04ace" /><Relationship Type="http://schemas.openxmlformats.org/officeDocument/2006/relationships/font" Target="/ppt/fonts/font21.dat" Id="R24f7d43e84a04983" /><Relationship Type="http://schemas.openxmlformats.org/officeDocument/2006/relationships/font" Target="/ppt/fonts/font22.dat" Id="Re245d5804753494d" /><Relationship Type="http://schemas.openxmlformats.org/officeDocument/2006/relationships/font" Target="/ppt/fonts/font23.dat" Id="Rdf28a2e5625f4c7d" /><Relationship Type="http://schemas.openxmlformats.org/officeDocument/2006/relationships/font" Target="/ppt/fonts/font24.dat" Id="R4179b06470764bce" /><Relationship Type="http://schemas.openxmlformats.org/officeDocument/2006/relationships/slide" Target="/ppt/slides/slide1.xml" Id="Rd1e5c0d871534057" /><Relationship Type="http://schemas.openxmlformats.org/officeDocument/2006/relationships/slide" Target="/ppt/slides/slide2.xml" Id="R00853d72123846a6" /><Relationship Type="http://schemas.openxmlformats.org/officeDocument/2006/relationships/slide" Target="/ppt/slides/slide3.xml" Id="R9cd1e3c624a84c1e" /><Relationship Type="http://schemas.openxmlformats.org/officeDocument/2006/relationships/slide" Target="/ppt/slides/slide4.xml" Id="R0398b16dbcf54e90" /><Relationship Type="http://schemas.openxmlformats.org/officeDocument/2006/relationships/slide" Target="/ppt/slides/slide5.xml" Id="R47dbffcd0965423e" /><Relationship Type="http://schemas.openxmlformats.org/officeDocument/2006/relationships/slide" Target="/ppt/slides/slide6.xml" Id="R612d098aca0c44a4" /><Relationship Type="http://schemas.openxmlformats.org/officeDocument/2006/relationships/slide" Target="/ppt/slides/slide7.xml" Id="R4b310828f91a48dd" /><Relationship Type="http://schemas.openxmlformats.org/officeDocument/2006/relationships/slide" Target="/ppt/slides/slide8.xml" Id="R0da11fbca7314754" /><Relationship Type="http://schemas.openxmlformats.org/officeDocument/2006/relationships/slide" Target="/ppt/slides/slide9.xml" Id="Rb75641f50622490e" /><Relationship Type="http://schemas.openxmlformats.org/officeDocument/2006/relationships/slide" Target="/ppt/slides/slide10.xml" Id="R886cde641320486d" /><Relationship Type="http://schemas.openxmlformats.org/officeDocument/2006/relationships/slide" Target="/ppt/slides/slide11.xml" Id="R05e26c12854f43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120c36a8734b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e75f8479c84a26" /><Relationship Type="http://schemas.openxmlformats.org/officeDocument/2006/relationships/notesMaster" Target="/ppt/notesMasters/notesMaster1.xml" Id="Rebea61e2191449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7c5da3ea9945cc" /><Relationship Type="http://schemas.openxmlformats.org/officeDocument/2006/relationships/notesMaster" Target="/ppt/notesMasters/notesMaster1.xml" Id="R17231644e1224c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0bdee202e84535" /><Relationship Type="http://schemas.openxmlformats.org/officeDocument/2006/relationships/notesMaster" Target="/ppt/notesMasters/notesMaster1.xml" Id="R7a7f663d052842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963cb6769944da" /><Relationship Type="http://schemas.openxmlformats.org/officeDocument/2006/relationships/notesMaster" Target="/ppt/notesMasters/notesMaster1.xml" Id="R9246df87a22b46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6f9091992947cb" /><Relationship Type="http://schemas.openxmlformats.org/officeDocument/2006/relationships/notesMaster" Target="/ppt/notesMasters/notesMaster1.xml" Id="Rde1b6159717849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91e0b47a354669" /><Relationship Type="http://schemas.openxmlformats.org/officeDocument/2006/relationships/notesMaster" Target="/ppt/notesMasters/notesMaster1.xml" Id="R9c97fe8a220143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5bce3a1a234ef3" /><Relationship Type="http://schemas.openxmlformats.org/officeDocument/2006/relationships/notesMaster" Target="/ppt/notesMasters/notesMaster1.xml" Id="Rcc6b2f7720c848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faf166a6754dc6" /><Relationship Type="http://schemas.openxmlformats.org/officeDocument/2006/relationships/notesMaster" Target="/ppt/notesMasters/notesMaster1.xml" Id="R9182c51f10364e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2209e9bb4b40a3" /><Relationship Type="http://schemas.openxmlformats.org/officeDocument/2006/relationships/notesMaster" Target="/ppt/notesMasters/notesMaster1.xml" Id="Rb3a73954c7ab4f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d7aab7ef2347d2" /><Relationship Type="http://schemas.openxmlformats.org/officeDocument/2006/relationships/notesMaster" Target="/ppt/notesMasters/notesMaster1.xml" Id="Rb4eedea7e23147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f6d07b795c4635" /><Relationship Type="http://schemas.openxmlformats.org/officeDocument/2006/relationships/notesMaster" Target="/ppt/notesMasters/notesMaster1.xml" Id="R1b8c3100e92048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Начните с одной фразы: JohnnyStore — учебный одностраничный интернет-магазин техники, собранный как цельный продукт. Сегодня я покажу не только интерфейс, но и то, как устроен пользовательский сценарий и кодовая база.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коротко обозначьте логику рассказа: сначала проблема и ценность, затем путь пользователя, потом техническая реализация и честный разговор о том, что уже готово и что логично делать дальше.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Главная мысль слайда: проект уже демонстрирует связный пользовательский опыт. Важно подчеркнуть, что локальные данные — осознанное ограничение учебного MVP, а productService оставляет точку замены на API.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Объясните ценность через четыре слоя: пользователь может найти товар, сузить выбор, принять решение и завершить покупку. Последняя карточка показывает, что проект учитывает не только визуальный слой, но и базовую доступность.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На этом слайде перечислите то, что можно показать в демо без дополнительных пояснений: каталог, checkout и состояния интерфейса. Отдельно скажите, что оплата учебная и не подключена к реальному платёжному провайдеру.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Расскажите об архитектуре сверху вниз: App задаёт маршруты, Layout собирает общую оболочку, Context-модули владеют состоянием, а productService скрывает источник данных. Это показывает, что структура проекта поддерживает дальнейшее расширение.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Проведите аудиторию по flow слева направо. Затем покажите, что каждому шагу соответствует понятный технический слой: маршруты, контексты, сервис данных и persistence в localStorage.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Это смысловой акцент презентации. Скажите: ценность JohnnyStore не в количестве экранов, а в том, что эти экраны работают вместе и ведут пользователя к понятному результату.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Здесь опирайтесь на цифры из исходного каталога: 42 позиции, шесть категорий. Важно честно обозначить ограничение: данные локальные, а оплата учебная. Это не скрывает ценность прототипа, а задаёт понятный план развития.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График показывает распределение каталога. Аксессуары дают самый широкий слой данных, а основные устройства распределены равномерно. Это хороший фундамент для будущего API, фильтров и аналитики ассортимента.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Финал: сформулируйте три следующих действия. Первое — подключить API через уже выделенный productService. Второе — добавить тесты для основных reducer и checkout-сценариев. Третье — вынести заказ и оплату в backend.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3c3efabbc443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573f514774b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f940567e946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ee84373f041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3553b723d4c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cab8ac5a9482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ce49e3627470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6c2ff744f4109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c8b9b063cb4b5e" /><Relationship Type="http://schemas.openxmlformats.org/officeDocument/2006/relationships/slideLayout" Target="/ppt/slideLayouts/slideLayout1.xml" Id="Rc6a1aa9b328b4acc" /><Relationship Type="http://schemas.openxmlformats.org/officeDocument/2006/relationships/slideLayout" Target="/ppt/slideLayouts/slideLayout2.xml" Id="R5e453a5d7aab4006" /><Relationship Type="http://schemas.openxmlformats.org/officeDocument/2006/relationships/slideLayout" Target="/ppt/slideLayouts/slideLayout3.xml" Id="R837e9b405fa94b55" /><Relationship Type="http://schemas.openxmlformats.org/officeDocument/2006/relationships/slideLayout" Target="/ppt/slideLayouts/slideLayout4.xml" Id="R925236accc9a49fc" /><Relationship Type="http://schemas.openxmlformats.org/officeDocument/2006/relationships/slideLayout" Target="/ppt/slideLayouts/slideLayout5.xml" Id="Rfdd2bd7f9f2640bf" /><Relationship Type="http://schemas.openxmlformats.org/officeDocument/2006/relationships/slideLayout" Target="/ppt/slideLayouts/slideLayout6.xml" Id="Re079dc0e23f64f6d" /><Relationship Type="http://schemas.openxmlformats.org/officeDocument/2006/relationships/slideLayout" Target="/ppt/slideLayouts/slideLayout7.xml" Id="Recbfe750f5194fb2" /><Relationship Type="http://schemas.openxmlformats.org/officeDocument/2006/relationships/slideLayout" Target="/ppt/slideLayouts/slideLayout8.xml" Id="R8cb5a116150b477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a1aa9b328b4acc"/>
    <p:sldLayoutId xmlns:r="http://schemas.openxmlformats.org/officeDocument/2006/relationships" id="2147483650" r:id="R5e453a5d7aab4006"/>
    <p:sldLayoutId xmlns:r="http://schemas.openxmlformats.org/officeDocument/2006/relationships" id="2147483651" r:id="R837e9b405fa94b55"/>
    <p:sldLayoutId xmlns:r="http://schemas.openxmlformats.org/officeDocument/2006/relationships" id="2147483652" r:id="R925236accc9a49fc"/>
    <p:sldLayoutId xmlns:r="http://schemas.openxmlformats.org/officeDocument/2006/relationships" id="2147483653" r:id="Rfdd2bd7f9f2640bf"/>
    <p:sldLayoutId xmlns:r="http://schemas.openxmlformats.org/officeDocument/2006/relationships" id="2147483654" r:id="Re079dc0e23f64f6d"/>
    <p:sldLayoutId xmlns:r="http://schemas.openxmlformats.org/officeDocument/2006/relationships" id="2147483655" r:id="Recbfe750f5194fb2"/>
    <p:sldLayoutId xmlns:r="http://schemas.openxmlformats.org/officeDocument/2006/relationships" id="2147483656" r:id="R8cb5a116150b477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17e8ab1f643f2" /><Relationship Type="http://schemas.openxmlformats.org/officeDocument/2006/relationships/notesSlide" Target="/ppt/notesSlides/notesSlide1.xml" Id="R1d06a015740c48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cd7bc4a33d4864" /><Relationship Type="http://schemas.openxmlformats.org/officeDocument/2006/relationships/notesSlide" Target="/ppt/notesSlides/notesSlide2.xml" Id="R305da4e6c15540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4267a41b554736" /><Relationship Type="http://schemas.openxmlformats.org/officeDocument/2006/relationships/notesSlide" Target="/ppt/notesSlides/notesSlide3.xml" Id="R771ff232ebce41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c8d2e576be4570" /><Relationship Type="http://schemas.openxmlformats.org/officeDocument/2006/relationships/notesSlide" Target="/ppt/notesSlides/notesSlide4.xml" Id="Rdc25f79aac9649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393ad579864565" /><Relationship Type="http://schemas.openxmlformats.org/officeDocument/2006/relationships/notesSlide" Target="/ppt/notesSlides/notesSlide5.xml" Id="R98e42757a72e40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28a1b49126403e" /><Relationship Type="http://schemas.openxmlformats.org/officeDocument/2006/relationships/notesSlide" Target="/ppt/notesSlides/notesSlide6.xml" Id="R0a62bd7e20c944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79f9d7b25e4dce" /><Relationship Type="http://schemas.openxmlformats.org/officeDocument/2006/relationships/notesSlide" Target="/ppt/notesSlides/notesSlide7.xml" Id="R9e49b1a5517e4f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e3c5ecad2c4e73" /><Relationship Type="http://schemas.openxmlformats.org/officeDocument/2006/relationships/notesSlide" Target="/ppt/notesSlides/notesSlide8.xml" Id="R7c77b6cc200e4f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aed82c50084d1f" /><Relationship Type="http://schemas.openxmlformats.org/officeDocument/2006/relationships/notesSlide" Target="/ppt/notesSlides/notesSlide9.xml" Id="R27f1e8166d9249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f673e03bb348c3" /><Relationship Type="http://schemas.openxmlformats.org/officeDocument/2006/relationships/notesSlide" Target="/ppt/notesSlides/notesSlide10.xml" Id="R33df9577bd7e40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c792755a84fcf" /><Relationship Type="http://schemas.openxmlformats.org/officeDocument/2006/relationships/notesSlide" Target="/ppt/notesSlides/notesSlide11.xml" Id="Rb6945765cc03449d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58000">
              <a:srgbClr val="F5F7FB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r>
              <a:rPr sz="5500">
                <a:solidFill>
                  <a:schemeClr val="accent1"/>
                </a:solidFill>
                <a:latin typeface="Inter"/>
                <a:ea typeface="Inter"/>
                <a:cs typeface="Inter"/>
              </a:rPr>
              <a:t>JohnnyStore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solidFill>
                  <a:schemeClr val="accent2">
                    <a:lumMod val="50000"/>
                  </a:schemeClr>
                </a:solidFill>
                <a:latin typeface="Inter"/>
                <a:ea typeface="Inter"/>
                <a:cs typeface="Inter"/>
              </a:rPr>
              <a:t>Обзор продукта, пользовательского пути и архитектуры учебного e-commerce проекта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r>
              <a:rPr sz="1600" b="1">
                <a:solidFill>
                  <a:schemeClr val="accent1"/>
                </a:solidFill>
                <a:latin typeface="Inter"/>
                <a:ea typeface="Inter"/>
                <a:cs typeface="Inter"/>
              </a:rPr>
              <a:t>ОКТЯБРЬ 2026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r>
              <a:rPr sz="1800">
                <a:solidFill>
                  <a:schemeClr val="accent2">
                    <a:lumMod val="90000"/>
                  </a:schemeClr>
                </a:solidFill>
                <a:latin typeface="Inter"/>
                <a:ea typeface="Inter"/>
                <a:cs typeface="Inter"/>
              </a:rPr>
              <a:t>FRONTRAIN / JOHNNYSTORE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FF9A3A48-C53E-41BD-B917-57B26372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58000">
              <a:srgbClr val="F5F7FB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fld id="{00000000-1234-1234-1234-123412341234}" type="slidenum">
              <a:rPr>
                <a:latin typeface="Inter"/>
                <a:ea typeface="Inter"/>
                <a:cs typeface="Inter"/>
              </a:rPr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9448800" cy="98580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r>
              <a:rPr>
                <a:latin typeface="Inter"/>
                <a:ea typeface="Inter"/>
                <a:cs typeface="Inter"/>
              </a:rPr>
              <a:t>JohnnyStore: обзор проекта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r>
              <a:rPr sz="1800">
                <a:solidFill>
                  <a:schemeClr val="accent1"/>
                </a:solidFill>
                <a:latin typeface="Inter"/>
                <a:ea typeface="Inter"/>
                <a:cs typeface="Inter"/>
              </a:rPr>
              <a:t>Содержание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9F417F9E-74A4-4CA2-83CD-4E19976C6F87}"/>
              </a:ext>
            </a:extLst>
          </p:cNvPr>
          <p:cNvGraphicFramePr/>
          <p:nvPr/>
        </p:nvGraphicFramePr>
        <p:xfrm>
          <a:off xmlns:a="http://schemas.openxmlformats.org/drawingml/2006/main" x="393700" y="2573020"/>
          <a:ext xmlns:a="http://schemas.openxmlformats.org/drawingml/2006/main" cx="11404600" cy="35661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/>
                <a:gridCol w="6875813"/>
                <a:gridCol w="3901209"/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Идея продукта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JohnnyStore как учебный e-commerce flow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Пользовательский путь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От каталога до подтверждения заказа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Архитектура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React, Router, Context API и слой данных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Текущий статус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42 товара, 6 категорий, полный основной сценарий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Следующие шаги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API, тесты и реальный backend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Демо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Ключевые решения и ограничения проекта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60133703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58000">
              <a:srgbClr val="F5F7FB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4A3BAC-0B15-4A0A-B780-C015C5E85EA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699" y="2812968"/>
            <a:ext cx="5537200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JohnnyStore уже выглядит как продукт, а не набор отдельных экранов.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D94420B-35FE-403C-94D6-9A35872B80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fld id="{0EB0D0D6-9F19-4EDB-1B7A-65BF181B1A1D}" type="slidenum">
              <a:rPr>
                <a:latin typeface="Inter"/>
                <a:ea typeface="Inter"/>
                <a:cs typeface="Inter"/>
              </a:rPr>
              <a:t>Зафиксировать следующий шаг: подключить API и backend, сохранив текущий интерфейс и сервисный слой.</a:t>
            </a:fld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111025"/>
            <a:ext cx="1844403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2000">
                <a:latin typeface="Inter"/>
                <a:ea typeface="Inter"/>
                <a:cs typeface="Inter"/>
              </a:rPr>
              <a:t>Текущий статус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826992"/>
            <a:ext cx="5537200" cy="1001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Сильная сторона проекта — связность: единое состояние каталога, корзины, избранного, сравнения и темы.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344035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2000">
                <a:latin typeface="Inter"/>
                <a:ea typeface="Inter"/>
                <a:cs typeface="Inter"/>
              </a:rPr>
              <a:t>Главный вывод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11403610" cy="6238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r>
              <a:rPr>
                <a:latin typeface="Inter"/>
                <a:ea typeface="Inter"/>
                <a:cs typeface="Inter"/>
              </a:rPr>
              <a:t>Проект собран как цельный shopping flow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r>
              <a:rPr sz="1800">
                <a:solidFill>
                  <a:schemeClr val="accent1"/>
                </a:solidFill>
                <a:latin typeface="Inter"/>
                <a:ea typeface="Inter"/>
                <a:cs typeface="Inter"/>
              </a:rPr>
              <a:t>Резюме проекта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1E93BF4A-0405-4855-A606-2F15D21A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867987"/>
            <a:ext cx="5537200" cy="1200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Lorem ipsum dolor sit </a:t>
            </a:r>
            <a:r>
              <a:rPr sz="1600">
                <a:latin typeface="Inter"/>
                <a:ea typeface="Inter"/>
                <a:cs typeface="Inter"/>
              </a:rPr>
              <a:t>amet</a:t>
            </a:r>
            <a:r>
              <a:rPr sz="1600">
                <a:latin typeface="Inter"/>
                <a:ea typeface="Inter"/>
                <a:cs typeface="Inter"/>
              </a:rPr>
              <a:t>, </a:t>
            </a:r>
            <a:r>
              <a:rPr sz="1600">
                <a:latin typeface="Inter"/>
                <a:ea typeface="Inter"/>
                <a:cs typeface="Inter"/>
              </a:rPr>
              <a:t>consectetur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adipiscing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elit</a:t>
            </a:r>
            <a:r>
              <a:rPr sz="1600">
                <a:latin typeface="Inter"/>
                <a:ea typeface="Inter"/>
                <a:cs typeface="Inter"/>
              </a:rPr>
              <a:t>. </a:t>
            </a:r>
            <a:r>
              <a:rPr sz="1600">
                <a:latin typeface="Inter"/>
                <a:ea typeface="Inter"/>
                <a:cs typeface="Inter"/>
              </a:rPr>
              <a:t>Pellentesque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ultricies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quam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ut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massa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luctus</a:t>
            </a:r>
            <a:r>
              <a:rPr sz="1600">
                <a:latin typeface="Inter"/>
                <a:ea typeface="Inter"/>
                <a:cs typeface="Inter"/>
              </a:rPr>
              <a:t> cursus. </a:t>
            </a:r>
            <a:r>
              <a:rPr sz="1600">
                <a:latin typeface="Inter"/>
                <a:ea typeface="Inter"/>
                <a:cs typeface="Inter"/>
              </a:rPr>
              <a:t>Nullam</a:t>
            </a:r>
            <a:r>
              <a:rPr sz="1600">
                <a:latin typeface="Inter"/>
                <a:ea typeface="Inter"/>
                <a:cs typeface="Inter"/>
              </a:rPr>
              <a:t> pharetra </a:t>
            </a:r>
            <a:r>
              <a:rPr sz="1600">
                <a:latin typeface="Inter"/>
                <a:ea typeface="Inter"/>
                <a:cs typeface="Inter"/>
              </a:rPr>
              <a:t>mauris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tortor</a:t>
            </a:r>
            <a:r>
              <a:rPr sz="1600">
                <a:latin typeface="Inter"/>
                <a:ea typeface="Inter"/>
                <a:cs typeface="Inter"/>
              </a:rPr>
              <a:t>. In hac </a:t>
            </a:r>
            <a:r>
              <a:rPr sz="1600">
                <a:latin typeface="Inter"/>
                <a:ea typeface="Inter"/>
                <a:cs typeface="Inter"/>
              </a:rPr>
              <a:t>habitasse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platea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dictumst</a:t>
            </a:r>
            <a:r>
              <a:rPr sz="1600">
                <a:latin typeface="Inter"/>
                <a:ea typeface="Inter"/>
                <a:cs typeface="Inter"/>
              </a:rPr>
              <a:t>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385030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2000">
                <a:latin typeface="Inter"/>
                <a:ea typeface="Inter"/>
                <a:cs typeface="Inter"/>
              </a:rPr>
              <a:t>Решение на следующий этап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99" y="2093356"/>
            <a:ext cx="2271780" cy="402442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ctr">
              <a:buNone/>
              <a:defRPr>
                <a:latin typeface="Inter"/>
                <a:ea typeface="Inter"/>
                <a:cs typeface="Inter"/>
              </a:defRPr>
            </a:pPr>
            <a:r>
              <a:rPr>
                <a:solidFill>
                  <a:schemeClr val="accent1"/>
                </a:solidFill>
                <a:latin typeface="Inter"/>
                <a:ea typeface="Inter"/>
                <a:cs typeface="Inter"/>
              </a:rPr>
              <a:t>Учебный MVP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4756098"/>
            <a:ext cx="5537199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Итог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51" y="5134071"/>
            <a:ext cx="5537200" cy="86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Lorem ipsum dolor sit </a:t>
            </a:r>
            <a:r>
              <a:rPr sz="1600">
                <a:latin typeface="Inter"/>
                <a:ea typeface="Inter"/>
                <a:cs typeface="Inter"/>
              </a:rPr>
              <a:t>amet</a:t>
            </a:r>
            <a:r>
              <a:rPr sz="1600">
                <a:latin typeface="Inter"/>
                <a:ea typeface="Inter"/>
                <a:cs typeface="Inter"/>
              </a:rPr>
              <a:t>, </a:t>
            </a:r>
            <a:r>
              <a:rPr sz="1600">
                <a:latin typeface="Inter"/>
                <a:ea typeface="Inter"/>
                <a:cs typeface="Inter"/>
              </a:rPr>
              <a:t>consectetur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adipiscing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elit</a:t>
            </a:r>
            <a:r>
              <a:rPr sz="1600">
                <a:latin typeface="Inter"/>
                <a:ea typeface="Inter"/>
                <a:cs typeface="Inter"/>
              </a:rPr>
              <a:t>. </a:t>
            </a:r>
            <a:r>
              <a:rPr sz="1600">
                <a:latin typeface="Inter"/>
                <a:ea typeface="Inter"/>
                <a:cs typeface="Inter"/>
              </a:rPr>
              <a:t>Pellentesque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ultricies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quam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ut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massa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luctus</a:t>
            </a:r>
            <a:r>
              <a:rPr sz="1600">
                <a:latin typeface="Inter"/>
                <a:ea typeface="Inter"/>
                <a:cs typeface="Inter"/>
              </a:rPr>
              <a:t> cursus.</a:t>
            </a:r>
          </a:p>
        </p:txBody>
      </p:sp>
    </p:spTree>
    <p:extLst>
      <p:ext uri="{BB962C8B-B14F-4D97-AF65-F5344CB8AC3E}">
        <p14:creationId xmlns:p14="http://schemas.microsoft.com/office/powerpoint/2010/main" val="221908589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58000">
              <a:srgbClr val="F5F7FB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fld id="{00000000-1234-1234-1234-123412341234}" type="slidenum">
              <a:rPr>
                <a:latin typeface="Inter"/>
                <a:ea typeface="Inter"/>
                <a:cs typeface="Inter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r>
              <a:rPr>
                <a:solidFill>
                  <a:schemeClr val="accent1"/>
                </a:solidFill>
                <a:latin typeface="Inter"/>
                <a:ea typeface="Inter"/>
                <a:cs typeface="Inter"/>
              </a:rPr>
              <a:t>Ключевая ценность для пользователя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6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6 категорий техники и поиск без перезагрузки.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Один интерфейс закрывает выбор, сравнение, сохранение и покупку техники.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2000">
                <a:latin typeface="Inter"/>
                <a:ea typeface="Inter"/>
                <a:cs typeface="Inter"/>
              </a:rPr>
              <a:t>Lorem ipsum dolor sit </a:t>
            </a:r>
            <a:r>
              <a:rPr sz="2000">
                <a:latin typeface="Inter"/>
                <a:ea typeface="Inter"/>
                <a:cs typeface="Inter"/>
              </a:rPr>
              <a:t>amet</a:t>
            </a:r>
            <a:r>
              <a:rPr sz="2000">
                <a:latin typeface="Inter"/>
                <a:ea typeface="Inter"/>
                <a:cs typeface="Inter"/>
              </a:rPr>
              <a:t>, </a:t>
            </a:r>
            <a:r>
              <a:rPr sz="2000">
                <a:latin typeface="Inter"/>
                <a:ea typeface="Inter"/>
                <a:cs typeface="Inter"/>
              </a:rPr>
              <a:t>consectetur</a:t>
            </a:r>
            <a:r>
              <a:rPr sz="2000">
                <a:latin typeface="Inter"/>
                <a:ea typeface="Inter"/>
                <a:cs typeface="Inter"/>
              </a:rPr>
              <a:t> </a:t>
            </a:r>
            <a:r>
              <a:rPr sz="2000">
                <a:latin typeface="Inter"/>
                <a:ea typeface="Inter"/>
                <a:cs typeface="Inter"/>
              </a:rPr>
              <a:t>adipiscing</a:t>
            </a:r>
            <a:r>
              <a:rPr sz="2000">
                <a:latin typeface="Inter"/>
                <a:ea typeface="Inter"/>
                <a:cs typeface="Inter"/>
              </a:rPr>
              <a:t> </a:t>
            </a:r>
            <a:r>
              <a:rPr sz="2000">
                <a:latin typeface="Inter"/>
                <a:ea typeface="Inter"/>
                <a:cs typeface="Inter"/>
              </a:rPr>
              <a:t>elit</a:t>
            </a:r>
            <a:r>
              <a:rPr sz="2000">
                <a:latin typeface="Inter"/>
                <a:ea typeface="Inter"/>
                <a:cs typeface="Inter"/>
              </a:rPr>
              <a:t>. 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Каталог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6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Категория, цена, бренд, наличие и сортировка.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Фильтры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6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Корзина, валидация checkout и подтверждение заказа.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Покупка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6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Адаптивность, keyboard focus и reduced motion.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Доступность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58000">
              <a:srgbClr val="F5F7FB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fld id="{00000000-1234-1234-1234-123412341234}" type="slidenum">
              <a:rPr>
                <a:latin typeface="Inter"/>
                <a:ea typeface="Inter"/>
                <a:cs typeface="Inter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r>
              <a:rPr>
                <a:solidFill>
                  <a:schemeClr val="accent1"/>
                </a:solidFill>
                <a:latin typeface="Inter"/>
                <a:ea typeface="Inter"/>
                <a:cs typeface="Inter"/>
              </a:rPr>
              <a:t>Что уже реализовано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55372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Функциональность собрана вокруг реального пути покупателя, а не вокруг отдельных компонентов.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3666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2000">
                <a:latin typeface="Inter"/>
                <a:ea typeface="Inter"/>
                <a:cs typeface="Inter"/>
              </a:rPr>
              <a:t>Функциональность собрана вокруг реального пути покупателя, а не вокруг отдельных компонентов.</a:t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4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Поиск, фильтры, сортировка, категории и карточки товаров.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Каталог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4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Валидация формы, доставка, оплата и учебный номер заказа.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Checkout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4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Skeleton Loader, Error, Empty, 404, темы и mobile navigation.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Состояния интерфейса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58000">
              <a:srgbClr val="F5F7FB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fld id="{00000000-1234-1234-1234-123412341234}" type="slidenum">
              <a:rPr>
                <a:latin typeface="Inter"/>
                <a:ea typeface="Inter"/>
                <a:cs typeface="Inter"/>
              </a:rPr>
              <a:t>6</a:t>
            </a:fld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solidFill>
                  <a:schemeClr val="accent1"/>
                </a:solidFill>
                <a:latin typeface="Inter"/>
                <a:ea typeface="Inter"/>
                <a:cs typeface="Inter"/>
              </a:rPr>
              <a:t>Context API + useReducer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solidFill>
                  <a:schemeClr val="accent1"/>
                </a:solidFill>
                <a:latin typeface="Inter"/>
                <a:ea typeface="Inter"/>
                <a:cs typeface="Inter"/>
              </a:rPr>
              <a:t>Корзина, каталог, избранное, сравнение и тема живут отдельно.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solidFill>
                  <a:schemeClr val="accent1"/>
                </a:solidFill>
                <a:latin typeface="Inter"/>
                <a:ea typeface="Inter"/>
                <a:cs typeface="Inter"/>
              </a:rPr>
              <a:t>productService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Локальный JSON изолирован от компонентов и готов к замене на API.</a:t>
            </a:r>
            <a:endParaRPr sz="1600"/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r>
              <a:rPr>
                <a:solidFill>
                  <a:schemeClr val="accent1"/>
                </a:solidFill>
                <a:latin typeface="Inter"/>
                <a:ea typeface="Inter"/>
                <a:cs typeface="Inter"/>
              </a:rPr>
              <a:t>Архитектура продукта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solidFill>
                  <a:schemeClr val="accent1"/>
                </a:solidFill>
                <a:latin typeface="Inter"/>
                <a:ea typeface="Inter"/>
                <a:cs typeface="Inter"/>
              </a:rPr>
              <a:t>React + Router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Страницы и маршрутизация собраны вокруг единого Layout.</a:t>
            </a:r>
            <a:endParaRPr sz="1600"/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Такой разрез упрощает развитие проекта и подключение backend без переписывания страниц.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2000">
                <a:latin typeface="Inter"/>
                <a:ea typeface="Inter"/>
                <a:cs typeface="Inter"/>
              </a:rPr>
              <a:t>Lorem ipsum dolor sit </a:t>
            </a:r>
            <a:r>
              <a:rPr sz="2000">
                <a:latin typeface="Inter"/>
                <a:ea typeface="Inter"/>
                <a:cs typeface="Inter"/>
              </a:rPr>
              <a:t>amet</a:t>
            </a:r>
            <a:r>
              <a:rPr sz="2000">
                <a:latin typeface="Inter"/>
                <a:ea typeface="Inter"/>
                <a:cs typeface="Inter"/>
              </a:rPr>
              <a:t>, </a:t>
            </a:r>
            <a:r>
              <a:rPr sz="2000">
                <a:latin typeface="Inter"/>
                <a:ea typeface="Inter"/>
                <a:cs typeface="Inter"/>
              </a:rPr>
              <a:t>consectetur</a:t>
            </a:r>
            <a:r>
              <a:rPr sz="2000">
                <a:latin typeface="Inter"/>
                <a:ea typeface="Inter"/>
                <a:cs typeface="Inter"/>
              </a:rPr>
              <a:t> </a:t>
            </a:r>
            <a:r>
              <a:rPr sz="2000">
                <a:latin typeface="Inter"/>
                <a:ea typeface="Inter"/>
                <a:cs typeface="Inter"/>
              </a:rPr>
              <a:t>adipiscing</a:t>
            </a:r>
            <a:r>
              <a:rPr sz="2000">
                <a:latin typeface="Inter"/>
                <a:ea typeface="Inter"/>
                <a:cs typeface="Inter"/>
              </a:rPr>
              <a:t> </a:t>
            </a:r>
            <a:r>
              <a:rPr sz="2000">
                <a:latin typeface="Inter"/>
                <a:ea typeface="Inter"/>
                <a:cs typeface="Inter"/>
              </a:rPr>
              <a:t>elit</a:t>
            </a:r>
            <a:r>
              <a:rPr sz="2000">
                <a:latin typeface="Inter"/>
                <a:ea typeface="Inter"/>
                <a:cs typeface="Inter"/>
              </a:rPr>
              <a:t>. </a:t>
            </a:r>
            <a:endParaRPr sz="20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58000">
              <a:srgbClr val="F5F7FB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latin typeface="Inter"/>
                <a:ea typeface="Inter"/>
                <a:cs typeface="Inter"/>
              </a:rPr>
              <a:t>1. Найти товар через категории, поиск и фильтры.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latin typeface="Inter"/>
                <a:ea typeface="Inter"/>
                <a:cs typeface="Inter"/>
              </a:rPr>
              <a:t>2. Открыть карточку и добавить в корзину или сравнение.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latin typeface="Inter"/>
                <a:ea typeface="Inter"/>
                <a:cs typeface="Inter"/>
              </a:rPr>
              <a:t>3. Проверить заказ и пройти валидацию checkout.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latin typeface="Inter"/>
                <a:ea typeface="Inter"/>
                <a:cs typeface="Inter"/>
              </a:rPr>
              <a:t>4. Получить учебный номер заказа и очистить корзину.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fld id="{42D94613-2318-AF8E-5E44-A9368AF45A21}" type="slidenum">
              <a:rPr>
                <a:latin typeface="Inter"/>
                <a:ea typeface="Inter"/>
                <a:cs typeface="Inter"/>
              </a:rPr>
              <a:t>• React + Vite + React Router</a:t>
            </a:fld>
            <a:endParaRPr/>
          </a:p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fld id="{DB66ABA5-BEC9-1EDD-5E03-0EF99B631C08}" type="slidenum">
              <a:rPr>
                <a:latin typeface="Inter"/>
                <a:ea typeface="Inter"/>
                <a:cs typeface="Inter"/>
              </a:rPr>
              <a:t>• Context API и useReducer</a:t>
            </a:fld>
            <a:endParaRPr/>
          </a:p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fld id="{44618FFC-A248-6F9D-0559-42BF5226347E}" type="slidenum">
              <a:rPr>
                <a:latin typeface="Inter"/>
                <a:ea typeface="Inter"/>
                <a:cs typeface="Inter"/>
              </a:rPr>
              <a:t>• Fetch API через productService</a:t>
            </a:fld>
            <a:endParaRPr/>
          </a:p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fld id="{2A482979-3790-306B-CD2F-108ABEF4CA98}" type="slidenum">
              <a:rPr>
                <a:latin typeface="Inter"/>
                <a:ea typeface="Inter"/>
                <a:cs typeface="Inter"/>
              </a:rPr>
              <a:t>• localStorage для cart, favorites и theme</a:t>
            </a:fld>
            <a:endParaRPr/>
          </a:p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fld id="{5023409B-3904-89AB-E7BD-D1939C33297F}" type="slidenum">
              <a:rPr>
                <a:latin typeface="Inter"/>
                <a:ea typeface="Inter"/>
                <a:cs typeface="Inter"/>
              </a:rPr>
              <a:t>• CSS media queries для desktop, tablet и mobile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r>
              <a:rPr>
                <a:solidFill>
                  <a:schemeClr val="accent1"/>
                </a:solidFill>
                <a:latin typeface="Inter"/>
                <a:ea typeface="Inter"/>
                <a:cs typeface="Inter"/>
              </a:rPr>
              <a:t>Пользовательский путь и техническая реализация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latin typeface="Inter"/>
                <a:ea typeface="Inter"/>
                <a:cs typeface="Inter"/>
              </a:rPr>
              <a:t>Lorem ipsum dolor sit </a:t>
            </a:r>
            <a:r>
              <a:rPr sz="1400">
                <a:latin typeface="Inter"/>
                <a:ea typeface="Inter"/>
                <a:cs typeface="Inter"/>
              </a:rPr>
              <a:t>amet</a:t>
            </a:r>
            <a:r>
              <a:rPr sz="1400">
                <a:latin typeface="Inter"/>
                <a:ea typeface="Inter"/>
                <a:cs typeface="Inter"/>
              </a:rPr>
              <a:t>, </a:t>
            </a:r>
            <a:r>
              <a:rPr sz="1400">
                <a:latin typeface="Inter"/>
                <a:ea typeface="Inter"/>
                <a:cs typeface="Inter"/>
              </a:rPr>
              <a:t>consectetur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adipiscing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elit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  <a:r>
              <a:rPr sz="1400">
                <a:latin typeface="Inter"/>
                <a:ea typeface="Inter"/>
                <a:cs typeface="Inter"/>
              </a:rPr>
              <a:t>Pellentesque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ultricies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quam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ut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massa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luctus</a:t>
            </a:r>
            <a:r>
              <a:rPr sz="1400">
                <a:latin typeface="Inter"/>
                <a:ea typeface="Inter"/>
                <a:cs typeface="Inter"/>
              </a:rPr>
              <a:t> cursus. </a:t>
            </a:r>
            <a:r>
              <a:rPr sz="1400">
                <a:latin typeface="Inter"/>
                <a:ea typeface="Inter"/>
                <a:cs typeface="Inter"/>
              </a:rPr>
              <a:t>Nullam</a:t>
            </a:r>
            <a:r>
              <a:rPr sz="1400">
                <a:latin typeface="Inter"/>
                <a:ea typeface="Inter"/>
                <a:cs typeface="Inter"/>
              </a:rPr>
              <a:t> pharetra </a:t>
            </a:r>
            <a:r>
              <a:rPr sz="1400">
                <a:latin typeface="Inter"/>
                <a:ea typeface="Inter"/>
                <a:cs typeface="Inter"/>
              </a:rPr>
              <a:t>mauris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tortor</a:t>
            </a:r>
            <a:r>
              <a:rPr sz="1400">
                <a:latin typeface="Inter"/>
                <a:ea typeface="Inter"/>
                <a:cs typeface="Inter"/>
              </a:rPr>
              <a:t>. In hac </a:t>
            </a:r>
            <a:r>
              <a:rPr sz="1400">
                <a:latin typeface="Inter"/>
                <a:ea typeface="Inter"/>
                <a:cs typeface="Inter"/>
              </a:rPr>
              <a:t>habitasse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platea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dictumst</a:t>
            </a:r>
            <a:r>
              <a:rPr sz="1400">
                <a:latin typeface="Inter"/>
                <a:ea typeface="Inter"/>
                <a:cs typeface="Inter"/>
              </a:rPr>
              <a:t>. Proin </a:t>
            </a:r>
            <a:r>
              <a:rPr sz="1400">
                <a:latin typeface="Inter"/>
                <a:ea typeface="Inter"/>
                <a:cs typeface="Inter"/>
              </a:rPr>
              <a:t>mattis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nibh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risus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  <a:r>
              <a:rPr sz="1400">
                <a:latin typeface="Inter"/>
                <a:ea typeface="Inter"/>
                <a:cs typeface="Inter"/>
              </a:rPr>
              <a:t>Nulla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tempor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ut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massa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elementum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dapibus</a:t>
            </a:r>
            <a:r>
              <a:rPr sz="1400">
                <a:latin typeface="Inter"/>
                <a:ea typeface="Inter"/>
                <a:cs typeface="Inter"/>
              </a:rPr>
              <a:t>. Nam non ante quis </a:t>
            </a:r>
            <a:r>
              <a:rPr sz="1400">
                <a:latin typeface="Inter"/>
                <a:ea typeface="Inter"/>
                <a:cs typeface="Inter"/>
              </a:rPr>
              <a:t>enim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fringilla</a:t>
            </a:r>
            <a:r>
              <a:rPr sz="1400">
                <a:latin typeface="Inter"/>
                <a:ea typeface="Inter"/>
                <a:cs typeface="Inter"/>
              </a:rPr>
              <a:t> tempus nec in </a:t>
            </a:r>
            <a:r>
              <a:rPr sz="1400">
                <a:latin typeface="Inter"/>
                <a:ea typeface="Inter"/>
                <a:cs typeface="Inter"/>
              </a:rPr>
              <a:t>lectus</a:t>
            </a:r>
            <a:r>
              <a:rPr sz="1400">
                <a:latin typeface="Inter"/>
                <a:ea typeface="Inter"/>
                <a:cs typeface="Inter"/>
              </a:rPr>
              <a:t>. In hac </a:t>
            </a:r>
            <a:r>
              <a:rPr sz="1400">
                <a:latin typeface="Inter"/>
                <a:ea typeface="Inter"/>
                <a:cs typeface="Inter"/>
              </a:rPr>
              <a:t>habitasse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platea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dictumst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latin typeface="Inter"/>
                <a:ea typeface="Inter"/>
                <a:cs typeface="Inter"/>
              </a:rPr>
              <a:t>Lorem ipsum dolor sit </a:t>
            </a:r>
            <a:r>
              <a:rPr sz="1400">
                <a:latin typeface="Inter"/>
                <a:ea typeface="Inter"/>
                <a:cs typeface="Inter"/>
              </a:rPr>
              <a:t>amet</a:t>
            </a:r>
            <a:r>
              <a:rPr sz="1400">
                <a:latin typeface="Inter"/>
                <a:ea typeface="Inter"/>
                <a:cs typeface="Inter"/>
              </a:rPr>
              <a:t>, </a:t>
            </a:r>
            <a:r>
              <a:rPr sz="1400">
                <a:latin typeface="Inter"/>
                <a:ea typeface="Inter"/>
                <a:cs typeface="Inter"/>
              </a:rPr>
              <a:t>consectetur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adipiscing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elit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  <a:r>
              <a:rPr sz="1400">
                <a:latin typeface="Inter"/>
                <a:ea typeface="Inter"/>
                <a:cs typeface="Inter"/>
              </a:rPr>
              <a:t>Pellentesque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ultricies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quam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ut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massa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luctus</a:t>
            </a:r>
            <a:r>
              <a:rPr sz="1400">
                <a:latin typeface="Inter"/>
                <a:ea typeface="Inter"/>
                <a:cs typeface="Inter"/>
              </a:rPr>
              <a:t> cursus. </a:t>
            </a:r>
            <a:r>
              <a:rPr sz="1400">
                <a:latin typeface="Inter"/>
                <a:ea typeface="Inter"/>
                <a:cs typeface="Inter"/>
              </a:rPr>
              <a:t>Nullam</a:t>
            </a:r>
            <a:r>
              <a:rPr sz="1400">
                <a:latin typeface="Inter"/>
                <a:ea typeface="Inter"/>
                <a:cs typeface="Inter"/>
              </a:rPr>
              <a:t> pharetra </a:t>
            </a:r>
            <a:r>
              <a:rPr sz="1400">
                <a:latin typeface="Inter"/>
                <a:ea typeface="Inter"/>
                <a:cs typeface="Inter"/>
              </a:rPr>
              <a:t>mauris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tortor</a:t>
            </a:r>
            <a:r>
              <a:rPr sz="1400">
                <a:latin typeface="Inter"/>
                <a:ea typeface="Inter"/>
                <a:cs typeface="Inter"/>
              </a:rPr>
              <a:t>. In hac </a:t>
            </a:r>
            <a:r>
              <a:rPr sz="1400">
                <a:latin typeface="Inter"/>
                <a:ea typeface="Inter"/>
                <a:cs typeface="Inter"/>
              </a:rPr>
              <a:t>habitasse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platea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dictumst</a:t>
            </a:r>
            <a:r>
              <a:rPr sz="1400">
                <a:latin typeface="Inter"/>
                <a:ea typeface="Inter"/>
                <a:cs typeface="Inter"/>
              </a:rPr>
              <a:t>. Proin </a:t>
            </a:r>
            <a:r>
              <a:rPr sz="1400">
                <a:latin typeface="Inter"/>
                <a:ea typeface="Inter"/>
                <a:cs typeface="Inter"/>
              </a:rPr>
              <a:t>mattis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nibh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risus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  <a:r>
              <a:rPr sz="1400">
                <a:latin typeface="Inter"/>
                <a:ea typeface="Inter"/>
                <a:cs typeface="Inter"/>
              </a:rPr>
              <a:t>Nulla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tempor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ut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massa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elementum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dapibus</a:t>
            </a:r>
            <a:r>
              <a:rPr sz="1400">
                <a:latin typeface="Inter"/>
                <a:ea typeface="Inter"/>
                <a:cs typeface="Inter"/>
              </a:rPr>
              <a:t>. Nam non ante quis </a:t>
            </a:r>
            <a:r>
              <a:rPr sz="1400">
                <a:latin typeface="Inter"/>
                <a:ea typeface="Inter"/>
                <a:cs typeface="Inter"/>
              </a:rPr>
              <a:t>enim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fringilla</a:t>
            </a:r>
            <a:r>
              <a:rPr sz="1400">
                <a:latin typeface="Inter"/>
                <a:ea typeface="Inter"/>
                <a:cs typeface="Inter"/>
              </a:rPr>
              <a:t> tempus nec in </a:t>
            </a:r>
            <a:r>
              <a:rPr sz="1400">
                <a:latin typeface="Inter"/>
                <a:ea typeface="Inter"/>
                <a:cs typeface="Inter"/>
              </a:rPr>
              <a:t>lectus</a:t>
            </a:r>
            <a:r>
              <a:rPr sz="1400">
                <a:latin typeface="Inter"/>
                <a:ea typeface="Inter"/>
                <a:cs typeface="Inter"/>
              </a:rPr>
              <a:t>. In hac </a:t>
            </a:r>
            <a:r>
              <a:rPr sz="1400">
                <a:latin typeface="Inter"/>
                <a:ea typeface="Inter"/>
                <a:cs typeface="Inter"/>
              </a:rPr>
              <a:t>habitasse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platea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dictumst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latin typeface="Inter"/>
                <a:ea typeface="Inter"/>
                <a:cs typeface="Inter"/>
              </a:rPr>
              <a:t>Lorem ipsum dolor sit </a:t>
            </a:r>
            <a:r>
              <a:rPr sz="1400">
                <a:latin typeface="Inter"/>
                <a:ea typeface="Inter"/>
                <a:cs typeface="Inter"/>
              </a:rPr>
              <a:t>amet</a:t>
            </a:r>
            <a:r>
              <a:rPr sz="1400">
                <a:latin typeface="Inter"/>
                <a:ea typeface="Inter"/>
                <a:cs typeface="Inter"/>
              </a:rPr>
              <a:t>, </a:t>
            </a:r>
            <a:r>
              <a:rPr sz="1400">
                <a:latin typeface="Inter"/>
                <a:ea typeface="Inter"/>
                <a:cs typeface="Inter"/>
              </a:rPr>
              <a:t>consectetur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adipiscing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elit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  <a:r>
              <a:rPr sz="1400">
                <a:latin typeface="Inter"/>
                <a:ea typeface="Inter"/>
                <a:cs typeface="Inter"/>
              </a:rPr>
              <a:t>Pellentesque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ultricies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quam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ut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massa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luctus</a:t>
            </a:r>
            <a:r>
              <a:rPr sz="1400">
                <a:latin typeface="Inter"/>
                <a:ea typeface="Inter"/>
                <a:cs typeface="Inter"/>
              </a:rPr>
              <a:t> cursus. </a:t>
            </a:r>
            <a:r>
              <a:rPr sz="1400">
                <a:latin typeface="Inter"/>
                <a:ea typeface="Inter"/>
                <a:cs typeface="Inter"/>
              </a:rPr>
              <a:t>Nullam</a:t>
            </a:r>
            <a:r>
              <a:rPr sz="1400">
                <a:latin typeface="Inter"/>
                <a:ea typeface="Inter"/>
                <a:cs typeface="Inter"/>
              </a:rPr>
              <a:t> pharetra </a:t>
            </a:r>
            <a:r>
              <a:rPr sz="1400">
                <a:latin typeface="Inter"/>
                <a:ea typeface="Inter"/>
                <a:cs typeface="Inter"/>
              </a:rPr>
              <a:t>mauris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tortor</a:t>
            </a:r>
            <a:r>
              <a:rPr sz="1400">
                <a:latin typeface="Inter"/>
                <a:ea typeface="Inter"/>
                <a:cs typeface="Inter"/>
              </a:rPr>
              <a:t>. In hac </a:t>
            </a:r>
            <a:r>
              <a:rPr sz="1400">
                <a:latin typeface="Inter"/>
                <a:ea typeface="Inter"/>
                <a:cs typeface="Inter"/>
              </a:rPr>
              <a:t>habitasse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platea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dictumst</a:t>
            </a:r>
            <a:r>
              <a:rPr sz="1400">
                <a:latin typeface="Inter"/>
                <a:ea typeface="Inter"/>
                <a:cs typeface="Inter"/>
              </a:rPr>
              <a:t>. Proin </a:t>
            </a:r>
            <a:r>
              <a:rPr sz="1400">
                <a:latin typeface="Inter"/>
                <a:ea typeface="Inter"/>
                <a:cs typeface="Inter"/>
              </a:rPr>
              <a:t>mattis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nibh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risus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  <a:r>
              <a:rPr sz="1400">
                <a:latin typeface="Inter"/>
                <a:ea typeface="Inter"/>
                <a:cs typeface="Inter"/>
              </a:rPr>
              <a:t>Nulla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tempor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ut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massa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elementum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dapibus</a:t>
            </a:r>
            <a:r>
              <a:rPr sz="1400">
                <a:latin typeface="Inter"/>
                <a:ea typeface="Inter"/>
                <a:cs typeface="Inter"/>
              </a:rPr>
              <a:t>. Nam non ante quis </a:t>
            </a:r>
            <a:r>
              <a:rPr sz="1400">
                <a:latin typeface="Inter"/>
                <a:ea typeface="Inter"/>
                <a:cs typeface="Inter"/>
              </a:rPr>
              <a:t>enim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fringilla</a:t>
            </a:r>
            <a:r>
              <a:rPr sz="1400">
                <a:latin typeface="Inter"/>
                <a:ea typeface="Inter"/>
                <a:cs typeface="Inter"/>
              </a:rPr>
              <a:t> tempus nec in </a:t>
            </a:r>
            <a:r>
              <a:rPr sz="1400">
                <a:latin typeface="Inter"/>
                <a:ea typeface="Inter"/>
                <a:cs typeface="Inter"/>
              </a:rPr>
              <a:t>lectus</a:t>
            </a:r>
            <a:r>
              <a:rPr sz="1400">
                <a:latin typeface="Inter"/>
                <a:ea typeface="Inter"/>
                <a:cs typeface="Inter"/>
              </a:rPr>
              <a:t>. In hac </a:t>
            </a:r>
            <a:r>
              <a:rPr sz="1400">
                <a:latin typeface="Inter"/>
                <a:ea typeface="Inter"/>
                <a:cs typeface="Inter"/>
              </a:rPr>
              <a:t>habitasse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platea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dictumst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2000">
                <a:latin typeface="Inter"/>
                <a:ea typeface="Inter"/>
                <a:cs typeface="Inter"/>
              </a:rPr>
              <a:t>Главный flow: главная → каталог → товар → корзина → checkout → подтверждение.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58000">
              <a:srgbClr val="F5F7FB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fld id="{00000000-1234-1234-1234-123412341234}" type="slidenum">
              <a:rPr>
                <a:latin typeface="Inter"/>
                <a:ea typeface="Inter"/>
                <a:cs typeface="Inter"/>
              </a:rPr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1170935"/>
            <a:ext cx="11404600" cy="17979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ctr">
              <a:buNone/>
              <a:defRPr>
                <a:latin typeface="Inter"/>
                <a:ea typeface="Inter"/>
                <a:cs typeface="Inter"/>
              </a:defRPr>
            </a:pPr>
            <a:r>
              <a:rPr sz="4200">
                <a:solidFill>
                  <a:schemeClr val="accent1"/>
                </a:solidFill>
                <a:latin typeface="Inter"/>
                <a:ea typeface="Inter"/>
                <a:cs typeface="Inter"/>
              </a:rPr>
              <a:t>Учебный проект собран как настоящий e-commerce experience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AEFF86C5-A7D2-315F-C644-70488B8E4B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677" y="3297710"/>
            <a:ext cx="7092645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В нём есть не только витрина, но и полный пользовательский сценарий: поиск, выбор, сравнение, покупка и подтверждение.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58000">
              <a:srgbClr val="F5F7FB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fld id="{00000000-1234-1234-1234-123412341234}" type="slidenum">
              <a:rPr>
                <a:latin typeface="Inter"/>
                <a:ea typeface="Inter"/>
                <a:cs typeface="Inter"/>
              </a:rPr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r>
              <a:rPr>
                <a:solidFill>
                  <a:schemeClr val="accent1"/>
                </a:solidFill>
                <a:latin typeface="Inter"/>
                <a:ea typeface="Inter"/>
                <a:cs typeface="Inter"/>
              </a:rPr>
              <a:t>Каталог и покрытие сценариев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2" name="Google Shape;644;p93">
            <a:extLst xmlns:a="http://schemas.openxmlformats.org/drawingml/2006/main">
              <a:ext uri="{FF2B5EF4-FFF2-40B4-BE49-F238E27FC236}">
                <a16:creationId xmlns:a16="http://schemas.microsoft.com/office/drawing/2014/main" id="{E70B1C0F-40C6-4ACA-9455-5435DC5B1546}"/>
              </a:ext>
            </a:extLst>
          </p:cNvPr>
          <p:cNvGraphicFramePr/>
          <p:nvPr/>
        </p:nvGraphicFramePr>
        <p:xfrm>
          <a:off xmlns:a="http://schemas.openxmlformats.org/drawingml/2006/main" x="4752785" y="1549337"/>
          <a:ext xmlns:a="http://schemas.openxmlformats.org/drawingml/2006/main" cx="6777990" cy="40957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Товаров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Пример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Сценарии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Смартфоны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iPhone 17 Pro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поиск, фильтр, корзина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Ноутбуки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MacBook Air 13” M3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карточка, сравнение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Планшеты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iPad Air 11” M2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избранное, отзывы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Наушники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AirPods 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фильтр, checkout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Мониторы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Studio Display 27”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категория, сравнение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Аксессуары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Apple Pencil Pro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категория, поиск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Итого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42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Apple catalog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основной flow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Источник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JSON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src/data/products.json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productService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Ограничение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нет реальной оплаты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учебный MVP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latin typeface="Inter"/>
                <a:ea typeface="Inter"/>
                <a:cs typeface="Inter"/>
              </a:rPr>
              <a:t>Каталог содержит 42 позиции в 6 категориях. Все товары приходят из локального JSON через productService.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2000">
                <a:latin typeface="Inter"/>
                <a:ea typeface="Inter"/>
                <a:cs typeface="Inter"/>
              </a:rPr>
              <a:t>Фактический scope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58000">
              <a:srgbClr val="F5F7FB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fld id="{00000000-1234-1234-1234-123412341234}" type="slidenum">
              <a:rPr>
                <a:latin typeface="Inter"/>
                <a:ea typeface="Inter"/>
                <a:cs typeface="Inter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r>
              <a:rPr>
                <a:solidFill>
                  <a:schemeClr val="accent1"/>
                </a:solidFill>
                <a:latin typeface="Inter"/>
                <a:ea typeface="Inter"/>
                <a:cs typeface="Inter"/>
              </a:rPr>
              <a:t>Каталог как база для развития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749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088295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6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42 товара в 6 категориях.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631212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Локальный scope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6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Оплата учебная, backend пока не подключён.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Ограничение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391117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1104512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6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productService отделяет UI от источника данных.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647429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API-ready слой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516C1E9-8E8C-409C-BFB5-B784F23B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1714500"/>
            <a:ext cx="5124164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defPPr>
            <a:lvl1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1pPr>
            <a:lvl2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2pPr>
            <a:lvl3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3pPr>
            <a:lvl4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4pPr>
            <a:lvl5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5pPr>
            <a:lvl6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6pPr>
            <a:lvl7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7pPr>
            <a:lvl8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8pPr>
            <a:lvl9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3357B8"/>
                </a:solidFill>
                <a:latin typeface="Inter"/>
                <a:ea typeface="Inter"/>
                <a:cs typeface="Inter"/>
              </a:rPr>
              <a:t>42</a:t>
            </a:r>
          </a:p>
          <a:p xmlns:a="http://schemas.openxmlformats.org/drawingml/2006/main">
            <a: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3357B8"/>
                </a:solidFill>
                <a:latin typeface="Inter"/>
                <a:ea typeface="Inter"/>
                <a:cs typeface="Inter"/>
              </a:rPr>
              <a:t>товара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3357B8"/>
                </a:solidFill>
                <a:latin typeface="Inter"/>
                <a:ea typeface="Inter"/>
                <a:cs typeface="Inter"/>
              </a:rPr>
              <a:t>6</a:t>
            </a:r>
          </a:p>
          <a:p xmlns:a="http://schemas.openxmlformats.org/drawingml/2006/main">
            <a: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3357B8"/>
                </a:solidFill>
                <a:latin typeface="Inter"/>
                <a:ea typeface="Inter"/>
                <a:cs typeface="Inter"/>
              </a:rPr>
              <a:t>категорий</a:t>
            </a:r>
          </a:p>
        </p:txBody>
      </p:sp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58000">
              <a:srgbClr val="F5F7FB"/>
            </a:gs>
            <a:gs pos="100000">
              <a:srgbClr val="EEF2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fld id="{6DC532E1-40B6-29A8-B015-EB0F29E1B9BE}" type="slidenum">
              <a:rPr>
                <a:latin typeface="Inter"/>
                <a:ea typeface="Inter"/>
                <a:cs typeface="Inter"/>
              </a:rPr>
              <a:t>Каталог изолирован от UI через productService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defRPr>
                <a:latin typeface="Inter"/>
                <a:ea typeface="Inter"/>
                <a:cs typeface="Inter"/>
              </a:defRPr>
            </a:lvl1pPr>
            <a:lvl2pPr>
              <a:defRPr>
                <a:latin typeface="Inter"/>
                <a:ea typeface="Inter"/>
                <a:cs typeface="Inter"/>
              </a:defRPr>
            </a:lvl2pPr>
            <a:lvl3pPr>
              <a:defRPr>
                <a:latin typeface="Inter"/>
                <a:ea typeface="Inter"/>
                <a:cs typeface="Inter"/>
              </a:defRPr>
            </a:lvl3pPr>
            <a:lvl4pPr>
              <a:defRPr>
                <a:latin typeface="Inter"/>
                <a:ea typeface="Inter"/>
                <a:cs typeface="Inter"/>
              </a:defRPr>
            </a:lvl4pPr>
            <a:lvl5pPr>
              <a:defRPr>
                <a:latin typeface="Inter"/>
                <a:ea typeface="Inter"/>
                <a:cs typeface="Inter"/>
              </a:defRPr>
            </a:lvl5pPr>
            <a:lvl6pPr>
              <a:defRPr>
                <a:latin typeface="Inter"/>
                <a:ea typeface="Inter"/>
                <a:cs typeface="Inter"/>
              </a:defRPr>
            </a:lvl6pPr>
            <a:lvl7pPr>
              <a:defRPr>
                <a:latin typeface="Inter"/>
                <a:ea typeface="Inter"/>
                <a:cs typeface="Inter"/>
              </a:defRPr>
            </a:lvl7pPr>
            <a:lvl8pPr>
              <a:defRPr>
                <a:latin typeface="Inter"/>
                <a:ea typeface="Inter"/>
                <a:cs typeface="Inter"/>
              </a:defRPr>
            </a:lvl8pPr>
            <a:lvl9pPr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defRPr>
                <a:latin typeface="Inter"/>
                <a:ea typeface="Inter"/>
                <a:cs typeface="Inter"/>
              </a:defRPr>
            </a:pPr>
            <a:r>
              <a:rPr>
                <a:solidFill>
                  <a:schemeClr val="accent1"/>
                </a:solidFill>
                <a:latin typeface="Inter"/>
                <a:ea typeface="Inter"/>
                <a:cs typeface="Inter"/>
              </a:rPr>
              <a:t>Готовность к следующему этапу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BED08C-D3A0-E23F-F823-E34BEC6E526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48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>
                <a:latin typeface="Inter"/>
                <a:ea typeface="Inter"/>
                <a:cs typeface="Inter"/>
              </a:defRPr>
            </a:pPr>
            <a:r>
              <a:rPr sz="6200" u="none" strike="noStrike" cap="none" spc="0" baseline="0">
                <a:ln>
                  <a:noFill/>
                </a:ln>
                <a:solidFill>
                  <a:schemeClr val="accent1"/>
                </a:solidFill>
                <a:latin typeface="Inter"/>
                <a:ea typeface="Inter"/>
                <a:cs typeface="Inter"/>
              </a:rPr>
              <a:t>42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966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товара в локальном каталоге</a:t>
            </a:r>
            <a:endParaRPr sz="1600"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553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>
                <a:latin typeface="Inter"/>
                <a:ea typeface="Inter"/>
                <a:cs typeface="Inter"/>
              </a:defRPr>
            </a:pPr>
            <a:r>
              <a:rPr sz="6200" u="none" strike="noStrike" cap="none" spc="0" baseline="0">
                <a:ln>
                  <a:noFill/>
                </a:ln>
                <a:solidFill>
                  <a:schemeClr val="accent1"/>
                </a:solidFill>
                <a:latin typeface="Inter"/>
                <a:ea typeface="Inter"/>
                <a:cs typeface="Inter"/>
              </a:rPr>
              <a:t>6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171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категорий техники</a:t>
            </a:r>
            <a:endParaRPr sz="1600"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497133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42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317616F-849B-4253-A369-F12315F1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1714500"/>
            <a:ext cx="5124164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defPPr>
            <a:lvl1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1pPr>
            <a:lvl2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2pPr>
            <a:lvl3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3pPr>
            <a:lvl4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4pPr>
            <a:lvl5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5pPr>
            <a:lvl6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6pPr>
            <a:lvl7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7pPr>
            <a:lvl8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8pPr>
            <a:lvl9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3357B8"/>
                </a:solidFill>
                <a:latin typeface="Inter"/>
                <a:ea typeface="Inter"/>
                <a:cs typeface="Inter"/>
              </a:rPr>
              <a:t>Следующий этап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3357B8"/>
                </a:solidFill>
                <a:latin typeface="Inter"/>
                <a:ea typeface="Inter"/>
                <a:cs typeface="Inter"/>
              </a:rPr>
              <a:t>API + backend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3357B8"/>
                </a:solidFill>
                <a:latin typeface="Inter"/>
                <a:ea typeface="Inter"/>
                <a:cs typeface="Inter"/>
              </a:rPr>
              <a:t>Тесты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3357B8"/>
                </a:solidFill>
                <a:latin typeface="Inter"/>
                <a:ea typeface="Inter"/>
                <a:cs typeface="Inter"/>
              </a:rPr>
              <a:t>Реальная оплата</a:t>
            </a:r>
          </a:p>
        </p:txBody>
      </p:sp>
    </p:spTree>
    <p:extLst>
      <p:ext uri="{BB962C8B-B14F-4D97-AF65-F5344CB8AC3E}">
        <p14:creationId xmlns:p14="http://schemas.microsoft.com/office/powerpoint/2010/main" val="39938313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2026-10-24T14:50:30.2760000Z</dcterms:created>
  <dcterms:modified xsi:type="dcterms:W3CDTF">2026-10-24T14:50:30.2760000Z</dcterms:modified>
</coreProperties>
</file>