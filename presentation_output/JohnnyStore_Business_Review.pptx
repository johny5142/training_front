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5088a4d295e4c7e" /><Relationship Type="http://schemas.openxmlformats.org/officeDocument/2006/relationships/extended-properties" Target="/docProps/app.xml" Id="Re56302381c50401c" /><Relationship Type="http://schemas.openxmlformats.org/officeDocument/2006/relationships/officeDocument" Target="/ppt/presentation.xml" Id="R8d9aa7dffb7a455f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d59f9e5c0be24ab2"/>
  </p:sldMasterIdLst>
  <p:notesMasterIdLst>
    <p:notesMasterId xmlns:r="http://schemas.openxmlformats.org/officeDocument/2006/relationships" r:id="Rd7622c17da114df4"/>
  </p:notesMasterIdLst>
  <p:sldIdLst>
    <p:sldId xmlns:r="http://schemas.openxmlformats.org/officeDocument/2006/relationships" id="256" r:id="R7db9faa701f146e6"/>
    <p:sldId xmlns:r="http://schemas.openxmlformats.org/officeDocument/2006/relationships" id="257" r:id="R670e26b012e04ff0"/>
    <p:sldId xmlns:r="http://schemas.openxmlformats.org/officeDocument/2006/relationships" id="258" r:id="R0d00c1e85a8e4cb7"/>
    <p:sldId xmlns:r="http://schemas.openxmlformats.org/officeDocument/2006/relationships" id="259" r:id="Re43a259f63994a19"/>
    <p:sldId xmlns:r="http://schemas.openxmlformats.org/officeDocument/2006/relationships" id="260" r:id="R80429d1566734e31"/>
    <p:sldId xmlns:r="http://schemas.openxmlformats.org/officeDocument/2006/relationships" id="261" r:id="R98f21bc10e5b405a"/>
    <p:sldId xmlns:r="http://schemas.openxmlformats.org/officeDocument/2006/relationships" id="262" r:id="R69605e2563f748a7"/>
    <p:sldId xmlns:r="http://schemas.openxmlformats.org/officeDocument/2006/relationships" id="263" r:id="Rd573ec3a799445b3"/>
    <p:sldId xmlns:r="http://schemas.openxmlformats.org/officeDocument/2006/relationships" id="264" r:id="R477e2599a74e4e61"/>
    <p:sldId xmlns:r="http://schemas.openxmlformats.org/officeDocument/2006/relationships" id="265" r:id="Re9b66fb5fa6e4976"/>
    <p:sldId xmlns:r="http://schemas.openxmlformats.org/officeDocument/2006/relationships" id="266" r:id="Re40b2b47983a4a13"/>
  </p:sldIdLst>
  <p:sldSz cx="12192000" cy="6858000"/>
  <p:notesSz cx="6858000" cy="9144000"/>
  <p:embeddedFontLst>
    <p:embeddedFont>
      <p:font typeface="Lora Medium"/>
      <p:regular xmlns:r="http://schemas.openxmlformats.org/officeDocument/2006/relationships" r:id="R24d99890d74a47c5"/>
      <p:italic xmlns:r="http://schemas.openxmlformats.org/officeDocument/2006/relationships" r:id="R23a3f904208446a4"/>
    </p:embeddedFont>
    <p:embeddedFont>
      <p:font typeface="Lora SemiBold"/>
      <p:regular xmlns:r="http://schemas.openxmlformats.org/officeDocument/2006/relationships" r:id="Rf2eb73233b9f414a"/>
      <p:bold xmlns:r="http://schemas.openxmlformats.org/officeDocument/2006/relationships" r:id="Rcef8b8ba8dc84e0d"/>
      <p:italic xmlns:r="http://schemas.openxmlformats.org/officeDocument/2006/relationships" r:id="R2f7b10a4eba44149"/>
      <p:boldItalic xmlns:r="http://schemas.openxmlformats.org/officeDocument/2006/relationships" r:id="R67528427237d42d7"/>
    </p:embeddedFont>
    <p:embeddedFont>
      <p:font typeface="OpenAI Sans"/>
      <p:regular xmlns:r="http://schemas.openxmlformats.org/officeDocument/2006/relationships" r:id="Rd23f93885893498e"/>
      <p:bold xmlns:r="http://schemas.openxmlformats.org/officeDocument/2006/relationships" r:id="Rd19a663b2af3475e"/>
      <p:italic xmlns:r="http://schemas.openxmlformats.org/officeDocument/2006/relationships" r:id="Rec1a6723657948a2"/>
      <p:boldItalic xmlns:r="http://schemas.openxmlformats.org/officeDocument/2006/relationships" r:id="R38205793c2604cd7"/>
    </p:embeddedFont>
    <p:embeddedFont>
      <p:font typeface="Roboto"/>
      <p:regular xmlns:r="http://schemas.openxmlformats.org/officeDocument/2006/relationships" r:id="R7a9fc5735560492b"/>
      <p:bold xmlns:r="http://schemas.openxmlformats.org/officeDocument/2006/relationships" r:id="R4395ad27bb1e460a"/>
      <p:italic xmlns:r="http://schemas.openxmlformats.org/officeDocument/2006/relationships" r:id="R5833e64737624a5b"/>
      <p:boldItalic xmlns:r="http://schemas.openxmlformats.org/officeDocument/2006/relationships" r:id="R4a99c3e013a148c8"/>
    </p:embeddedFont>
    <p:embeddedFont>
      <p:font typeface="Roboto Medium"/>
      <p:regular xmlns:r="http://schemas.openxmlformats.org/officeDocument/2006/relationships" r:id="R9c570d630c2a410d"/>
      <p:italic xmlns:r="http://schemas.openxmlformats.org/officeDocument/2006/relationships" r:id="R213ff157f1cd4396"/>
    </p:embeddedFont>
    <p:embeddedFont>
      <p:font typeface="Roboto SemiBold"/>
      <p:regular xmlns:r="http://schemas.openxmlformats.org/officeDocument/2006/relationships" r:id="Refe6732096594247"/>
      <p:bold xmlns:r="http://schemas.openxmlformats.org/officeDocument/2006/relationships" r:id="R5cf562d6b9e64840"/>
      <p:italic xmlns:r="http://schemas.openxmlformats.org/officeDocument/2006/relationships" r:id="R3137ef82550a4f07"/>
      <p:boldItalic xmlns:r="http://schemas.openxmlformats.org/officeDocument/2006/relationships" r:id="R93fa87cdd79f490a"/>
    </p:embeddedFont>
    <p:embeddedFont>
      <p:font typeface="Roboto Serif 14pt"/>
      <p:regular xmlns:r="http://schemas.openxmlformats.org/officeDocument/2006/relationships" r:id="R190578195d85498c"/>
      <p:bold xmlns:r="http://schemas.openxmlformats.org/officeDocument/2006/relationships" r:id="Rbc8f888b4cf84811"/>
      <p:italic xmlns:r="http://schemas.openxmlformats.org/officeDocument/2006/relationships" r:id="R4f0a61820b2847ad"/>
      <p:boldItalic xmlns:r="http://schemas.openxmlformats.org/officeDocument/2006/relationships" r:id="Rde4d71b0fc084cbf"/>
    </p:embeddedFont>
  </p:embeddedFontLst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ca2eedf2fac48c2" /><Relationship Type="http://schemas.openxmlformats.org/officeDocument/2006/relationships/slideMaster" Target="/ppt/slideMasters/slideMaster1.xml" Id="Rd59f9e5c0be24ab2" /><Relationship Type="http://schemas.openxmlformats.org/officeDocument/2006/relationships/notesMaster" Target="/ppt/notesMasters/notesMaster1.xml" Id="Rd7622c17da114df4" /><Relationship Type="http://schemas.openxmlformats.org/officeDocument/2006/relationships/presProps" Target="/ppt/presProps.xml" Id="R0004a973bbac4de6" /><Relationship Type="http://schemas.openxmlformats.org/officeDocument/2006/relationships/viewProps" Target="/ppt/viewProps.xml" Id="R8f366e967119468a" /><Relationship Type="http://schemas.openxmlformats.org/officeDocument/2006/relationships/tableStyles" Target="/ppt/tableStyles.xml" Id="Rb438d14c9bf54667" /><Relationship Type="http://schemas.openxmlformats.org/officeDocument/2006/relationships/font" Target="/ppt/fonts/font.dat" Id="R24d99890d74a47c5" /><Relationship Type="http://schemas.openxmlformats.org/officeDocument/2006/relationships/font" Target="/ppt/fonts/font2.dat" Id="R23a3f904208446a4" /><Relationship Type="http://schemas.openxmlformats.org/officeDocument/2006/relationships/font" Target="/ppt/fonts/font3.dat" Id="Rf2eb73233b9f414a" /><Relationship Type="http://schemas.openxmlformats.org/officeDocument/2006/relationships/font" Target="/ppt/fonts/font4.dat" Id="Rcef8b8ba8dc84e0d" /><Relationship Type="http://schemas.openxmlformats.org/officeDocument/2006/relationships/font" Target="/ppt/fonts/font5.dat" Id="R2f7b10a4eba44149" /><Relationship Type="http://schemas.openxmlformats.org/officeDocument/2006/relationships/font" Target="/ppt/fonts/font6.dat" Id="R67528427237d42d7" /><Relationship Type="http://schemas.openxmlformats.org/officeDocument/2006/relationships/font" Target="/ppt/fonts/font7.dat" Id="Rd23f93885893498e" /><Relationship Type="http://schemas.openxmlformats.org/officeDocument/2006/relationships/font" Target="/ppt/fonts/font8.dat" Id="Rd19a663b2af3475e" /><Relationship Type="http://schemas.openxmlformats.org/officeDocument/2006/relationships/font" Target="/ppt/fonts/font9.dat" Id="Rec1a6723657948a2" /><Relationship Type="http://schemas.openxmlformats.org/officeDocument/2006/relationships/font" Target="/ppt/fonts/font10.dat" Id="R38205793c2604cd7" /><Relationship Type="http://schemas.openxmlformats.org/officeDocument/2006/relationships/font" Target="/ppt/fonts/font11.dat" Id="R7a9fc5735560492b" /><Relationship Type="http://schemas.openxmlformats.org/officeDocument/2006/relationships/font" Target="/ppt/fonts/font12.dat" Id="R4395ad27bb1e460a" /><Relationship Type="http://schemas.openxmlformats.org/officeDocument/2006/relationships/font" Target="/ppt/fonts/font13.dat" Id="R5833e64737624a5b" /><Relationship Type="http://schemas.openxmlformats.org/officeDocument/2006/relationships/font" Target="/ppt/fonts/font14.dat" Id="R4a99c3e013a148c8" /><Relationship Type="http://schemas.openxmlformats.org/officeDocument/2006/relationships/font" Target="/ppt/fonts/font15.dat" Id="R9c570d630c2a410d" /><Relationship Type="http://schemas.openxmlformats.org/officeDocument/2006/relationships/font" Target="/ppt/fonts/font16.dat" Id="R213ff157f1cd4396" /><Relationship Type="http://schemas.openxmlformats.org/officeDocument/2006/relationships/font" Target="/ppt/fonts/font17.dat" Id="Refe6732096594247" /><Relationship Type="http://schemas.openxmlformats.org/officeDocument/2006/relationships/font" Target="/ppt/fonts/font18.dat" Id="R5cf562d6b9e64840" /><Relationship Type="http://schemas.openxmlformats.org/officeDocument/2006/relationships/font" Target="/ppt/fonts/font19.dat" Id="R3137ef82550a4f07" /><Relationship Type="http://schemas.openxmlformats.org/officeDocument/2006/relationships/font" Target="/ppt/fonts/font20.dat" Id="R93fa87cdd79f490a" /><Relationship Type="http://schemas.openxmlformats.org/officeDocument/2006/relationships/font" Target="/ppt/fonts/font21.dat" Id="R190578195d85498c" /><Relationship Type="http://schemas.openxmlformats.org/officeDocument/2006/relationships/font" Target="/ppt/fonts/font22.dat" Id="Rbc8f888b4cf84811" /><Relationship Type="http://schemas.openxmlformats.org/officeDocument/2006/relationships/font" Target="/ppt/fonts/font23.dat" Id="R4f0a61820b2847ad" /><Relationship Type="http://schemas.openxmlformats.org/officeDocument/2006/relationships/font" Target="/ppt/fonts/font24.dat" Id="Rde4d71b0fc084cbf" /><Relationship Type="http://schemas.openxmlformats.org/officeDocument/2006/relationships/slide" Target="/ppt/slides/slide1.xml" Id="R7db9faa701f146e6" /><Relationship Type="http://schemas.openxmlformats.org/officeDocument/2006/relationships/slide" Target="/ppt/slides/slide2.xml" Id="R670e26b012e04ff0" /><Relationship Type="http://schemas.openxmlformats.org/officeDocument/2006/relationships/slide" Target="/ppt/slides/slide3.xml" Id="R0d00c1e85a8e4cb7" /><Relationship Type="http://schemas.openxmlformats.org/officeDocument/2006/relationships/slide" Target="/ppt/slides/slide4.xml" Id="Re43a259f63994a19" /><Relationship Type="http://schemas.openxmlformats.org/officeDocument/2006/relationships/slide" Target="/ppt/slides/slide5.xml" Id="R80429d1566734e31" /><Relationship Type="http://schemas.openxmlformats.org/officeDocument/2006/relationships/slide" Target="/ppt/slides/slide6.xml" Id="R98f21bc10e5b405a" /><Relationship Type="http://schemas.openxmlformats.org/officeDocument/2006/relationships/slide" Target="/ppt/slides/slide7.xml" Id="R69605e2563f748a7" /><Relationship Type="http://schemas.openxmlformats.org/officeDocument/2006/relationships/slide" Target="/ppt/slides/slide8.xml" Id="Rd573ec3a799445b3" /><Relationship Type="http://schemas.openxmlformats.org/officeDocument/2006/relationships/slide" Target="/ppt/slides/slide9.xml" Id="R477e2599a74e4e61" /><Relationship Type="http://schemas.openxmlformats.org/officeDocument/2006/relationships/slide" Target="/ppt/slides/slide10.xml" Id="Re9b66fb5fa6e4976" /><Relationship Type="http://schemas.openxmlformats.org/officeDocument/2006/relationships/slide" Target="/ppt/slides/slide11.xml" Id="Re40b2b47983a4a1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959fba79f30417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Theme 2">
      <a:dk1>
        <a:srgbClr val="000000"/>
      </a:dk1>
      <a:lt1>
        <a:srgbClr val="FFFFFF"/>
      </a:lt1>
      <a:dk2>
        <a:srgbClr val="0E2841"/>
      </a:dk2>
      <a:lt2>
        <a:srgbClr val="FAFCFE"/>
      </a:lt2>
      <a:accent1>
        <a:srgbClr val="3357B8"/>
      </a:accent1>
      <a:accent2>
        <a:srgbClr val="CFD2D9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Lora Roboto">
      <a:majorFont>
        <a:latin typeface="Lora"/>
        <a:ea typeface=""/>
        <a:cs typeface=""/>
      </a:majorFont>
      <a:minorFont>
        <a:latin typeface="Roboto"/>
        <a:ea typeface=""/>
        <a:cs typeface=""/>
      </a:minorFont>
    </a:fontScheme>
    <a:fmtScheme name="Theme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6264d3cfb244495" /><Relationship Type="http://schemas.openxmlformats.org/officeDocument/2006/relationships/notesMaster" Target="/ppt/notesMasters/notesMaster1.xml" Id="R001ecd8de875428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a9891e7112044ad" /><Relationship Type="http://schemas.openxmlformats.org/officeDocument/2006/relationships/notesMaster" Target="/ppt/notesMasters/notesMaster1.xml" Id="R27a40352e68c464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fa89a67d3974ae8" /><Relationship Type="http://schemas.openxmlformats.org/officeDocument/2006/relationships/notesMaster" Target="/ppt/notesMasters/notesMaster1.xml" Id="Rbbfddaea7616452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4e67bf9f4954f5b" /><Relationship Type="http://schemas.openxmlformats.org/officeDocument/2006/relationships/notesMaster" Target="/ppt/notesMasters/notesMaster1.xml" Id="R5581cd86d222475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a7678a4fd844c77" /><Relationship Type="http://schemas.openxmlformats.org/officeDocument/2006/relationships/notesMaster" Target="/ppt/notesMasters/notesMaster1.xml" Id="R5c01c7e696984c2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559d4d5a9a44cd1" /><Relationship Type="http://schemas.openxmlformats.org/officeDocument/2006/relationships/notesMaster" Target="/ppt/notesMasters/notesMaster1.xml" Id="R69486795feab458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e0f795084154f0f" /><Relationship Type="http://schemas.openxmlformats.org/officeDocument/2006/relationships/notesMaster" Target="/ppt/notesMasters/notesMaster1.xml" Id="Red66a28faebb439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6edda8ae32145e3" /><Relationship Type="http://schemas.openxmlformats.org/officeDocument/2006/relationships/notesMaster" Target="/ppt/notesMasters/notesMaster1.xml" Id="R4b57a3d1542949b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3f4821cc84a4e09" /><Relationship Type="http://schemas.openxmlformats.org/officeDocument/2006/relationships/notesMaster" Target="/ppt/notesMasters/notesMaster1.xml" Id="R0966cfc926e64ad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1e51cd92b684128" /><Relationship Type="http://schemas.openxmlformats.org/officeDocument/2006/relationships/notesMaster" Target="/ppt/notesMasters/notesMaster1.xml" Id="Rfc27e2191024461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e8e80add7ed4ccc" /><Relationship Type="http://schemas.openxmlformats.org/officeDocument/2006/relationships/notesMaster" Target="/ppt/notesMasters/notesMaster1.xml" Id="Rc48a1410638147e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Начните с одной фразы: JohnnyStore — учебный одностраничный интернет-магазин техники, собранный как цельный продукт. Сегодня я покажу не только интерфейс, но и то, как устроен пользовательский сценарий и кодовая база.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Здесь коротко обозначьте логику рассказа: сначала проблема и ценность, затем путь пользователя, потом техническая реализация и честный разговор о том, что уже готово и что логично делать дальше.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Главная мысль слайда: проект уже демонстрирует связный пользовательский опыт. Важно подчеркнуть, что локальные данные — осознанное ограничение учебного MVP, а productService оставляет точку замены на API.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Объясните ценность через четыре слоя: пользователь может найти товар, сузить выбор, принять решение и завершить покупку. Последняя карточка показывает, что проект учитывает не только визуальный слой, но и базовую доступность.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На этом слайде перечислите то, что можно показать в демо без дополнительных пояснений: каталог, checkout и состояния интерфейса. Отдельно скажите, что оплата учебная и не подключена к реальному платёжному провайдеру.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Расскажите об архитектуре сверху вниз: App задаёт маршруты, Layout собирает общую оболочку, Context-модули владеют состоянием, а productService скрывает источник данных. Это показывает, что структура проекта поддерживает дальнейшее расширение.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Проведите аудиторию по flow слева направо. Затем покажите, что каждому шагу соответствует понятный технический слой: маршруты, контексты, сервис данных и persistence в localStorage.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Это смысловой акцент презентации. Скажите: ценность JohnnyStore не в количестве экранов, а в том, что эти экраны работают вместе и ведут пользователя к понятному результату.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Здесь опирайтесь на цифры из исходного каталога: 42 позиции, шесть категорий. Важно честно обозначить ограничение: данные локальные, а оплата учебная. Это не скрывает ценность прототипа, а задаёт понятный план развития.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График показывает распределение каталога. Аксессуары дают самый широкий слой данных, а основные устройства распределены равномерно. Это хороший фундамент для будущего API, фильтров и аналитики ассортимента.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Финал: сформулируйте три следующих действия. Первое — подключить API через уже выделенный productService. Второе — добавить тесты для основных reducer и checkout-сценариев. Третье — вынести заказ и оплату в backend.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7ccbf828fe4c9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3aea554c154a9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3c857c9d9d423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eea31edeb14cf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94b58c06664af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20f8a04fe040cf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33b5f053f24393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ffe380779e4050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 b="1" i="0">
                <a:latin typeface="Lora SemiBold"/>
                <a:ea typeface="Lora SemiBold"/>
                <a:cs typeface="Lora SemiBold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699" y="6279294"/>
            <a:ext cx="8129411" cy="2418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294"/>
            <a:ext cx="8705144" cy="2418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294"/>
            <a:ext cx="7493000" cy="2418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699" y="6279294"/>
            <a:ext cx="8466647" cy="2418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699" y="6279294"/>
            <a:ext cx="7361767" cy="2418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294"/>
            <a:ext cx="7587544" cy="2418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a3393f44b0d4b70" /><Relationship Type="http://schemas.openxmlformats.org/officeDocument/2006/relationships/slideLayout" Target="/ppt/slideLayouts/slideLayout1.xml" Id="R774cb0a994a5444c" /><Relationship Type="http://schemas.openxmlformats.org/officeDocument/2006/relationships/slideLayout" Target="/ppt/slideLayouts/slideLayout2.xml" Id="Rd593f2b52ed541b9" /><Relationship Type="http://schemas.openxmlformats.org/officeDocument/2006/relationships/slideLayout" Target="/ppt/slideLayouts/slideLayout3.xml" Id="Rd805727cbd2e45f2" /><Relationship Type="http://schemas.openxmlformats.org/officeDocument/2006/relationships/slideLayout" Target="/ppt/slideLayouts/slideLayout4.xml" Id="Ra565526c1a2946f0" /><Relationship Type="http://schemas.openxmlformats.org/officeDocument/2006/relationships/slideLayout" Target="/ppt/slideLayouts/slideLayout5.xml" Id="R91db9233dfe14743" /><Relationship Type="http://schemas.openxmlformats.org/officeDocument/2006/relationships/slideLayout" Target="/ppt/slideLayouts/slideLayout6.xml" Id="R77e3e119bc524403" /><Relationship Type="http://schemas.openxmlformats.org/officeDocument/2006/relationships/slideLayout" Target="/ppt/slideLayouts/slideLayout7.xml" Id="R06f1d04803b94cb1" /><Relationship Type="http://schemas.openxmlformats.org/officeDocument/2006/relationships/slideLayout" Target="/ppt/slideLayouts/slideLayout8.xml" Id="R00d28f5e64e64aff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294"/>
            <a:ext cx="7531100" cy="2418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74cb0a994a5444c"/>
    <p:sldLayoutId xmlns:r="http://schemas.openxmlformats.org/officeDocument/2006/relationships" id="2147483650" r:id="Rd593f2b52ed541b9"/>
    <p:sldLayoutId xmlns:r="http://schemas.openxmlformats.org/officeDocument/2006/relationships" id="2147483651" r:id="Rd805727cbd2e45f2"/>
    <p:sldLayoutId xmlns:r="http://schemas.openxmlformats.org/officeDocument/2006/relationships" id="2147483652" r:id="Ra565526c1a2946f0"/>
    <p:sldLayoutId xmlns:r="http://schemas.openxmlformats.org/officeDocument/2006/relationships" id="2147483653" r:id="R91db9233dfe14743"/>
    <p:sldLayoutId xmlns:r="http://schemas.openxmlformats.org/officeDocument/2006/relationships" id="2147483654" r:id="R77e3e119bc524403"/>
    <p:sldLayoutId xmlns:r="http://schemas.openxmlformats.org/officeDocument/2006/relationships" id="2147483655" r:id="R06f1d04803b94cb1"/>
    <p:sldLayoutId xmlns:r="http://schemas.openxmlformats.org/officeDocument/2006/relationships" id="2147483656" r:id="R00d28f5e64e64aff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900" b="1" i="0" kern="1200">
          <a:solidFill>
            <a:schemeClr val="tx1"/>
          </a:solidFill>
          <a:latin typeface="Lora SemiBold"/>
          <a:ea typeface="Lora SemiBold"/>
          <a:cs typeface="Lora SemiBold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520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Theme 2">
      <a:dk1>
        <a:srgbClr val="000000"/>
      </a:dk1>
      <a:lt1>
        <a:srgbClr val="FFFFFF"/>
      </a:lt1>
      <a:dk2>
        <a:srgbClr val="0E2841"/>
      </a:dk2>
      <a:lt2>
        <a:srgbClr val="FAFCFE"/>
      </a:lt2>
      <a:accent1>
        <a:srgbClr val="3357B8"/>
      </a:accent1>
      <a:accent2>
        <a:srgbClr val="CFD2D9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Lora Roboto">
      <a:majorFont>
        <a:latin typeface="Lora"/>
        <a:ea typeface=""/>
        <a:cs typeface=""/>
      </a:majorFont>
      <a:minorFont>
        <a:latin typeface="Roboto"/>
        <a:ea typeface=""/>
        <a:cs typeface=""/>
      </a:minorFont>
    </a:fontScheme>
    <a:fmtScheme name="Theme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0b448225744acc" /><Relationship Type="http://schemas.openxmlformats.org/officeDocument/2006/relationships/notesSlide" Target="/ppt/notesSlides/notesSlide1.xml" Id="R473253b8f35a469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ed90299354349a5" /><Relationship Type="http://schemas.openxmlformats.org/officeDocument/2006/relationships/notesSlide" Target="/ppt/notesSlides/notesSlide2.xml" Id="R452dc0824c38499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1d722ac05644357" /><Relationship Type="http://schemas.openxmlformats.org/officeDocument/2006/relationships/notesSlide" Target="/ppt/notesSlides/notesSlide3.xml" Id="R5a56d77d61134ee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177272f83f42f3" /><Relationship Type="http://schemas.openxmlformats.org/officeDocument/2006/relationships/notesSlide" Target="/ppt/notesSlides/notesSlide4.xml" Id="R57f78d887ed3449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f583328324427f" /><Relationship Type="http://schemas.openxmlformats.org/officeDocument/2006/relationships/notesSlide" Target="/ppt/notesSlides/notesSlide5.xml" Id="R10fdc97864d540e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ef613bd89e4115" /><Relationship Type="http://schemas.openxmlformats.org/officeDocument/2006/relationships/notesSlide" Target="/ppt/notesSlides/notesSlide6.xml" Id="Rba0be12ff3074b1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493a94ef54b4acd" /><Relationship Type="http://schemas.openxmlformats.org/officeDocument/2006/relationships/notesSlide" Target="/ppt/notesSlides/notesSlide7.xml" Id="R99c3841304884a8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a1de92d9c94c80" /><Relationship Type="http://schemas.openxmlformats.org/officeDocument/2006/relationships/notesSlide" Target="/ppt/notesSlides/notesSlide8.xml" Id="R1f961461cb81443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2e680192f44e73" /><Relationship Type="http://schemas.openxmlformats.org/officeDocument/2006/relationships/notesSlide" Target="/ppt/notesSlides/notesSlide9.xml" Id="R4f2a0baf6d3e4dc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070a021e014f6f" /><Relationship Type="http://schemas.openxmlformats.org/officeDocument/2006/relationships/notesSlide" Target="/ppt/notesSlides/notesSlide10.xml" Id="R6c03069e41ce460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7d24d428f1f4abf" /><Relationship Type="http://schemas.openxmlformats.org/officeDocument/2006/relationships/notesSlide" Target="/ppt/notesSlides/notesSlide11.xml" Id="Ra5e40758b2f0470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706809B0-D483-45C1-B580-B57BB5CC520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569969" y="1444887"/>
            <a:ext cx="9448800" cy="1726468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r>
              <a:rPr sz="5500">
                <a:solidFill>
                  <a:schemeClr val="accent1"/>
                </a:solidFill>
                <a:latin typeface="Lora Medium"/>
                <a:ea typeface="Lora Medium"/>
                <a:cs typeface="Lora Medium"/>
              </a:rPr>
              <a:t>JohnnyStore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7DD11E6E-01C0-D6E4-28D7-D7F6B94AF61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03019" y="5077241"/>
            <a:ext cx="6304556" cy="1076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400">
                <a:solidFill>
                  <a:schemeClr val="accent2">
                    <a:lumMod val="50000"/>
                  </a:schemeClr>
                </a:solidFill>
              </a:rPr>
              <a:t>Обзор продукта, пользовательского пути и архитектуры учебного e-commerce проекта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C66AB198-0518-67DE-AB81-D65264FDA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018" y="4606175"/>
            <a:ext cx="6304556" cy="32027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sz="1600" b="1">
                <a:solidFill>
                  <a:schemeClr val="accent1"/>
                </a:solidFill>
                <a:latin typeface="Roboto SemiBold"/>
                <a:ea typeface="Roboto SemiBold"/>
                <a:cs typeface="Roboto SemiBold"/>
              </a:rPr>
              <a:t>ОКТЯБРЬ 2026</a:t>
            </a:r>
          </a:p>
        </p:txBody>
      </p:sp>
      <p:sp>
        <p:nvSpPr>
          <p:cNvPr id="10" name="Subtitle 4">
            <a:extLst xmlns:a="http://schemas.openxmlformats.org/drawingml/2006/main">
              <a:ext uri="{FF2B5EF4-FFF2-40B4-BE49-F238E27FC236}">
                <a16:creationId xmlns:a16="http://schemas.microsoft.com/office/drawing/2014/main" id="{CC2E0538-5645-7BC8-CF3A-FDF31FD97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018" y="555606"/>
            <a:ext cx="3578411" cy="34517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sz="1800">
                <a:solidFill>
                  <a:schemeClr val="accent2">
                    <a:lumMod val="90000"/>
                  </a:schemeClr>
                </a:solidFill>
                <a:latin typeface="Roboto Medium"/>
                <a:ea typeface="Roboto Medium"/>
                <a:cs typeface="Roboto Medium"/>
              </a:rPr>
              <a:t>FRONTRAIN / JOHNNYSTORE</a:t>
            </a:r>
          </a:p>
        </p:txBody>
      </p:sp>
      <p:sp>
        <p:nvSpPr>
          <p:cNvPr id="7" name="Straight Connector 6">
            <a:extLst xmlns:a="http://schemas.openxmlformats.org/drawingml/2006/main">
              <a:ext uri="{FF2B5EF4-FFF2-40B4-BE49-F238E27FC236}">
                <a16:creationId xmlns:a16="http://schemas.microsoft.com/office/drawing/2014/main" id="{C14C408A-E55B-40C7-B5A8-22698623B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83260" y="3934067"/>
            <a:ext cx="12558520" cy="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</p:spTree>
    <p:extLst>
      <p:ext uri="{BB962C8B-B14F-4D97-AF65-F5344CB8AC3E}">
        <p14:creationId xmlns:p14="http://schemas.microsoft.com/office/powerpoint/2010/main" val="168508855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3108432E-6CC9-7470-65A5-7F6A330EFB4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0000000-1234-1234-1234-123412341234}" type="slidenum">
              <a:t>2</a:t>
            </a:fld>
            <a:endParaRPr/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40BD946D-556A-ECA8-679C-19ABE963A4E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99" y="1046195"/>
            <a:ext cx="9448800" cy="985805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JohnnyStore: обзор проекта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173F7058-30A0-0125-1A90-B808A012B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99" y="392242"/>
            <a:ext cx="3578411" cy="34517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sz="1800">
                <a:solidFill>
                  <a:schemeClr val="accent1"/>
                </a:solidFill>
                <a:latin typeface="Roboto Medium"/>
                <a:ea typeface="Roboto Medium"/>
                <a:cs typeface="Roboto Medium"/>
              </a:rPr>
              <a:t>Содержание</a:t>
            </a:r>
          </a:p>
        </p:txBody>
      </p:sp>
      <p:graphicFrame>
        <p:nvGraphicFramePr>
          <p:cNvPr id="7" name="Table 6">
            <a:extLst xmlns:a="http://schemas.openxmlformats.org/drawingml/2006/main">
              <a:ext uri="{FF2B5EF4-FFF2-40B4-BE49-F238E27FC236}">
                <a16:creationId xmlns:a16="http://schemas.microsoft.com/office/drawing/2014/main" id="{851D6839-327B-44FE-B4CB-D89C5822125E}"/>
              </a:ext>
            </a:extLst>
          </p:cNvPr>
          <p:cNvGraphicFramePr/>
          <p:nvPr/>
        </p:nvGraphicFramePr>
        <p:xfrm>
          <a:off xmlns:a="http://schemas.openxmlformats.org/drawingml/2006/main" x="393700" y="2573020"/>
          <a:ext xmlns:a="http://schemas.openxmlformats.org/drawingml/2006/main" cx="11404600" cy="356616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7578"/>
                <a:gridCol w="6875813"/>
                <a:gridCol w="3901209"/>
              </a:tblGrid>
              <a:tr h="594360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strike="noStrike" cap="none" spc="0" baseline="0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lt"/>
                          <a:cs typeface="+mn-lt"/>
                        </a:rPr>
                        <a:t>01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strike="noStrike" cap="none" spc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+mn-lt"/>
                          <a:ea typeface="+mn-lt"/>
                          <a:cs typeface="+mn-lt"/>
                        </a:rPr>
                        <a:t>Идея продукта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600" b="0" i="0" u="none" strike="noStrike" cap="none" spc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latin typeface="Roboto Medium"/>
                          <a:ea typeface="Roboto Medium"/>
                          <a:cs typeface="Roboto Medium"/>
                        </a:rPr>
                        <a:t>JohnnyStore как учебный e-commerce flow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strike="noStrike" cap="none" spc="0" baseline="0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lt"/>
                          <a:cs typeface="+mn-lt"/>
                        </a:rPr>
                        <a:t>02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strike="noStrike" cap="none" spc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+mn-lt"/>
                          <a:ea typeface="+mn-lt"/>
                          <a:cs typeface="+mn-lt"/>
                        </a:rPr>
                        <a:t>Пользовательский путь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600" b="0" i="0" u="none" strike="noStrike" cap="none" spc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latin typeface="Roboto Medium"/>
                          <a:ea typeface="Roboto Medium"/>
                          <a:cs typeface="Roboto Medium"/>
                        </a:rPr>
                        <a:t>От каталога до подтверждения заказа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strike="noStrike" cap="none" spc="0" baseline="0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lt"/>
                          <a:cs typeface="+mn-lt"/>
                        </a:rPr>
                        <a:t>03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strike="noStrike" cap="none" spc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+mn-lt"/>
                          <a:ea typeface="+mn-lt"/>
                          <a:cs typeface="+mn-lt"/>
                        </a:rPr>
                        <a:t>Архитектура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600" b="0" i="0" u="none" strike="noStrike" cap="none" spc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latin typeface="Roboto Medium"/>
                          <a:ea typeface="Roboto Medium"/>
                          <a:cs typeface="Roboto Medium"/>
                        </a:rPr>
                        <a:t>React, Router, Context API и слой данных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strike="noStrike" cap="none" spc="0" baseline="0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lt"/>
                          <a:cs typeface="+mn-lt"/>
                        </a:rPr>
                        <a:t>04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strike="noStrike" cap="none" spc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+mn-lt"/>
                          <a:ea typeface="+mn-lt"/>
                          <a:cs typeface="+mn-lt"/>
                        </a:rPr>
                        <a:t>Текущий статус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600" b="0" i="0" u="none" strike="noStrike" cap="none" spc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latin typeface="Roboto Medium"/>
                          <a:ea typeface="Roboto Medium"/>
                          <a:cs typeface="Roboto Medium"/>
                        </a:rPr>
                        <a:t>42 товара, 6 категорий, полный основной сценарий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strike="noStrike" cap="none" spc="0" baseline="0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lt"/>
                          <a:cs typeface="+mn-lt"/>
                        </a:rPr>
                        <a:t>05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strike="noStrike" cap="none" spc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+mn-lt"/>
                          <a:ea typeface="+mn-lt"/>
                          <a:cs typeface="+mn-lt"/>
                        </a:rPr>
                        <a:t>Следующие шаги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600" b="0" i="0" u="none" strike="noStrike" cap="none" spc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latin typeface="Roboto Medium"/>
                          <a:ea typeface="Roboto Medium"/>
                          <a:cs typeface="Roboto Medium"/>
                        </a:rPr>
                        <a:t>API, тесты и реальный backend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strike="noStrike" cap="none" spc="0" baseline="0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lt"/>
                          <a:cs typeface="+mn-lt"/>
                        </a:rPr>
                        <a:t>06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strike="noStrike" cap="none" spc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+mn-lt"/>
                          <a:ea typeface="+mn-lt"/>
                          <a:cs typeface="+mn-lt"/>
                        </a:rPr>
                        <a:t>Демо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600" b="0" i="0" u="none" strike="noStrike" cap="none" spc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latin typeface="Roboto Medium"/>
                          <a:ea typeface="Roboto Medium"/>
                          <a:cs typeface="Roboto Medium"/>
                        </a:rPr>
                        <a:t>Ключевые решения и ограничения проекта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F810BED8-CB43-D17C-4D24-32A4B0893D6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</p:spTree>
    <p:extLst>
      <p:ext uri="{BB962C8B-B14F-4D97-AF65-F5344CB8AC3E}">
        <p14:creationId xmlns:p14="http://schemas.microsoft.com/office/powerpoint/2010/main" val="336013370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2D88B328-71C0-4040-B5CE-083A1ECFC65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699" y="2812968"/>
            <a:ext cx="5537200" cy="186590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JohnnyStore уже выглядит как продукт, а не набор отдельных экранов.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1EF67E-1B59-4B29-A2C3-7C3DD78FE0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0EB0D0D6-9F19-4EDB-1B7A-65BF181B1A1D}" type="slidenum">
              <a:t>Зафиксировать следующий шаг: подключить API и backend, сохранив текущий интерфейс и сервисный слой.</a:t>
            </a:fld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5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A3548D03-1D0F-655D-DD48-D4BF5C80F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111025"/>
            <a:ext cx="1844403" cy="4024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2000">
                <a:latin typeface="+mj-lt"/>
                <a:ea typeface="+mj-lt"/>
                <a:cs typeface="+mj-lt"/>
              </a:rPr>
              <a:t>Текущий статус</a:t>
            </a:r>
            <a:endParaRPr sz="2000">
              <a:latin typeface="+mj-lt"/>
              <a:ea typeface="+mj-lt"/>
              <a:cs typeface="+mj-lt"/>
            </a:endParaRPr>
          </a:p>
        </p:txBody>
      </p:sp>
      <p:sp>
        <p:nvSpPr>
          <p:cNvPr id="6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4051D0BE-5D22-BCB4-EADF-44F16643D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109" y="2826992"/>
            <a:ext cx="5537200" cy="100108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Сильная сторона проекта — связность: единое состояние каталога, корзины, избранного, сравнения и темы.</a:t>
            </a:r>
          </a:p>
        </p:txBody>
      </p:sp>
      <p:sp>
        <p:nvSpPr>
          <p:cNvPr id="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EE26938C-7FB7-798D-7C48-988932737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109" y="2344035"/>
            <a:ext cx="5537200" cy="4024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2000">
                <a:latin typeface="+mj-lt"/>
                <a:ea typeface="+mj-lt"/>
                <a:cs typeface="+mj-lt"/>
              </a:rPr>
              <a:t>Главный вывод</a:t>
            </a:r>
            <a:endParaRPr sz="2000">
              <a:latin typeface="+mj-lt"/>
              <a:ea typeface="+mj-lt"/>
              <a:cs typeface="+mj-lt"/>
            </a:endParaRPr>
          </a:p>
        </p:txBody>
      </p:sp>
      <p:sp>
        <p:nvSpPr>
          <p:cNvPr id="10" name="Title 2">
            <a:extLst xmlns:a="http://schemas.openxmlformats.org/drawingml/2006/main">
              <a:ext uri="{FF2B5EF4-FFF2-40B4-BE49-F238E27FC236}">
                <a16:creationId xmlns:a16="http://schemas.microsoft.com/office/drawing/2014/main" id="{944AF173-BF22-B5ED-B88F-9080D8699E6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99" y="1046195"/>
            <a:ext cx="11403610" cy="623819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Проект собран как цельный shopping flow</a:t>
            </a:r>
          </a:p>
        </p:txBody>
      </p:sp>
      <p:sp>
        <p:nvSpPr>
          <p:cNvPr id="11" name="Subtitle 4">
            <a:extLst xmlns:a="http://schemas.openxmlformats.org/drawingml/2006/main">
              <a:ext uri="{FF2B5EF4-FFF2-40B4-BE49-F238E27FC236}">
                <a16:creationId xmlns:a16="http://schemas.microsoft.com/office/drawing/2014/main" id="{42E9C51D-AB09-8D83-4157-006D57137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99" y="392242"/>
            <a:ext cx="3578411" cy="34517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sz="1800">
                <a:solidFill>
                  <a:schemeClr val="accent1"/>
                </a:solidFill>
                <a:latin typeface="Roboto Medium"/>
                <a:ea typeface="Roboto Medium"/>
                <a:cs typeface="Roboto Medium"/>
              </a:rPr>
              <a:t>Резюме проекта</a:t>
            </a:r>
          </a:p>
        </p:txBody>
      </p:sp>
      <p:sp>
        <p:nvSpPr>
          <p:cNvPr id="15" name="Straight Connector 14">
            <a:extLst xmlns:a="http://schemas.openxmlformats.org/drawingml/2006/main">
              <a:ext uri="{FF2B5EF4-FFF2-40B4-BE49-F238E27FC236}">
                <a16:creationId xmlns:a16="http://schemas.microsoft.com/office/drawing/2014/main" id="{C8F1AFEC-5472-4EB3-98DD-4DE710566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100" y="4039769"/>
            <a:ext cx="553720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2">
                <a:lumMod val="9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6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108E1773-B682-C5EE-6944-58546A384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109" y="4867987"/>
            <a:ext cx="5537200" cy="12002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Lorem ipsum dolor sit </a:t>
            </a:r>
            <a:r>
              <a:rPr sz="1600">
                <a:latin typeface="Helvetica Neue"/>
                <a:ea typeface="Helvetica Neue"/>
                <a:cs typeface="Helvetica Neue"/>
              </a:rPr>
              <a:t>amet</a:t>
            </a:r>
            <a:r>
              <a:rPr sz="1600">
                <a:latin typeface="Helvetica Neue"/>
                <a:ea typeface="Helvetica Neue"/>
                <a:cs typeface="Helvetica Neue"/>
              </a:rPr>
              <a:t>, </a:t>
            </a:r>
            <a:r>
              <a:rPr sz="1600">
                <a:latin typeface="Helvetica Neue"/>
                <a:ea typeface="Helvetica Neue"/>
                <a:cs typeface="Helvetica Neue"/>
              </a:rPr>
              <a:t>consectetur</a:t>
            </a:r>
            <a:r>
              <a:rPr sz="1600"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latin typeface="Helvetica Neue"/>
                <a:ea typeface="Helvetica Neue"/>
                <a:cs typeface="Helvetica Neue"/>
              </a:rPr>
              <a:t>adipiscing</a:t>
            </a:r>
            <a:r>
              <a:rPr sz="1600"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latin typeface="Helvetica Neue"/>
                <a:ea typeface="Helvetica Neue"/>
                <a:cs typeface="Helvetica Neue"/>
              </a:rPr>
              <a:t>elit</a:t>
            </a:r>
            <a:r>
              <a:rPr sz="1600">
                <a:latin typeface="Helvetica Neue"/>
                <a:ea typeface="Helvetica Neue"/>
                <a:cs typeface="Helvetica Neue"/>
              </a:rPr>
              <a:t>. </a:t>
            </a:r>
            <a:r>
              <a:rPr sz="1600">
                <a:latin typeface="Helvetica Neue"/>
                <a:ea typeface="Helvetica Neue"/>
                <a:cs typeface="Helvetica Neue"/>
              </a:rPr>
              <a:t>Pellentesque</a:t>
            </a:r>
            <a:r>
              <a:rPr sz="1600"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latin typeface="Helvetica Neue"/>
                <a:ea typeface="Helvetica Neue"/>
                <a:cs typeface="Helvetica Neue"/>
              </a:rPr>
              <a:t>ultricies</a:t>
            </a:r>
            <a:r>
              <a:rPr sz="1600"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latin typeface="Helvetica Neue"/>
                <a:ea typeface="Helvetica Neue"/>
                <a:cs typeface="Helvetica Neue"/>
              </a:rPr>
              <a:t>quam</a:t>
            </a:r>
            <a:r>
              <a:rPr sz="1600"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latin typeface="Helvetica Neue"/>
                <a:ea typeface="Helvetica Neue"/>
                <a:cs typeface="Helvetica Neue"/>
              </a:rPr>
              <a:t>ut</a:t>
            </a:r>
            <a:r>
              <a:rPr sz="1600"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latin typeface="Helvetica Neue"/>
                <a:ea typeface="Helvetica Neue"/>
                <a:cs typeface="Helvetica Neue"/>
              </a:rPr>
              <a:t>massa</a:t>
            </a:r>
            <a:r>
              <a:rPr sz="1600"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latin typeface="Helvetica Neue"/>
                <a:ea typeface="Helvetica Neue"/>
                <a:cs typeface="Helvetica Neue"/>
              </a:rPr>
              <a:t>luctus</a:t>
            </a:r>
            <a:r>
              <a:rPr sz="1600">
                <a:latin typeface="Helvetica Neue"/>
                <a:ea typeface="Helvetica Neue"/>
                <a:cs typeface="Helvetica Neue"/>
              </a:rPr>
              <a:t> cursus. </a:t>
            </a:r>
            <a:r>
              <a:rPr sz="1600">
                <a:latin typeface="Helvetica Neue"/>
                <a:ea typeface="Helvetica Neue"/>
                <a:cs typeface="Helvetica Neue"/>
              </a:rPr>
              <a:t>Nullam</a:t>
            </a:r>
            <a:r>
              <a:rPr sz="1600">
                <a:latin typeface="Helvetica Neue"/>
                <a:ea typeface="Helvetica Neue"/>
                <a:cs typeface="Helvetica Neue"/>
              </a:rPr>
              <a:t> pharetra </a:t>
            </a:r>
            <a:r>
              <a:rPr sz="1600">
                <a:latin typeface="Helvetica Neue"/>
                <a:ea typeface="Helvetica Neue"/>
                <a:cs typeface="Helvetica Neue"/>
              </a:rPr>
              <a:t>mauris</a:t>
            </a:r>
            <a:r>
              <a:rPr sz="1600"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latin typeface="Helvetica Neue"/>
                <a:ea typeface="Helvetica Neue"/>
                <a:cs typeface="Helvetica Neue"/>
              </a:rPr>
              <a:t>tortor</a:t>
            </a:r>
            <a:r>
              <a:rPr sz="1600">
                <a:latin typeface="Helvetica Neue"/>
                <a:ea typeface="Helvetica Neue"/>
                <a:cs typeface="Helvetica Neue"/>
              </a:rPr>
              <a:t>. In hac </a:t>
            </a:r>
            <a:r>
              <a:rPr sz="1600">
                <a:latin typeface="Helvetica Neue"/>
                <a:ea typeface="Helvetica Neue"/>
                <a:cs typeface="Helvetica Neue"/>
              </a:rPr>
              <a:t>habitasse</a:t>
            </a:r>
            <a:r>
              <a:rPr sz="1600"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latin typeface="Helvetica Neue"/>
                <a:ea typeface="Helvetica Neue"/>
                <a:cs typeface="Helvetica Neue"/>
              </a:rPr>
              <a:t>platea</a:t>
            </a:r>
            <a:r>
              <a:rPr sz="1600"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latin typeface="Helvetica Neue"/>
                <a:ea typeface="Helvetica Neue"/>
                <a:cs typeface="Helvetica Neue"/>
              </a:rPr>
              <a:t>dictumst</a:t>
            </a:r>
            <a:r>
              <a:rPr sz="1600">
                <a:latin typeface="Helvetica Neue"/>
                <a:ea typeface="Helvetica Neue"/>
                <a:cs typeface="Helvetica Neue"/>
              </a:rPr>
              <a:t>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endParaRPr sz="16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1C1F2FD8-0D30-C7BF-5234-6F0EE46F0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109" y="4385030"/>
            <a:ext cx="5537200" cy="4024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2000">
                <a:latin typeface="+mj-lt"/>
                <a:ea typeface="+mj-lt"/>
                <a:cs typeface="+mj-lt"/>
              </a:rPr>
              <a:t>Решение на следующий этап</a:t>
            </a:r>
            <a:endParaRPr sz="2000">
              <a:latin typeface="+mj-lt"/>
              <a:ea typeface="+mj-lt"/>
              <a:cs typeface="+mj-lt"/>
            </a:endParaR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F16B487F-1A7A-C301-4AB8-8DC1C1983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9499" y="2093356"/>
            <a:ext cx="2271780" cy="402442"/>
          </a:xfrm>
          <a:prstGeom xmlns:a="http://schemas.openxmlformats.org/drawingml/2006/main" prst="roundRect">
            <a:avLst>
              <a:gd name="adj" fmla="val 15738"/>
            </a:avLst>
          </a:prstGeom>
          <a:solidFill xmlns:a="http://schemas.openxmlformats.org/drawingml/2006/main">
            <a:schemeClr val="accent1">
              <a:alpha val="24648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>
                <a:solidFill>
                  <a:schemeClr val="accent1"/>
                </a:solidFill>
              </a:rPr>
              <a:t>Учебный MVP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F3AF61EC-DBA0-BFB1-3293-0BF5DB670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99" y="4756098"/>
            <a:ext cx="5537199" cy="3127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800" b="0" i="0" u="none" strike="noStrike" cap="none" spc="0" baseline="0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Итог</a:t>
            </a:r>
          </a:p>
        </p:txBody>
      </p:sp>
      <p:sp>
        <p:nvSpPr>
          <p:cNvPr id="1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47E14DB1-10CD-1A00-06DC-F11F90562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251" y="5134071"/>
            <a:ext cx="5537200" cy="8603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Lorem ipsum dolor sit </a:t>
            </a:r>
            <a:r>
              <a:rPr sz="1600">
                <a:latin typeface="Helvetica Neue"/>
                <a:ea typeface="Helvetica Neue"/>
                <a:cs typeface="Helvetica Neue"/>
              </a:rPr>
              <a:t>amet</a:t>
            </a:r>
            <a:r>
              <a:rPr sz="1600">
                <a:latin typeface="Helvetica Neue"/>
                <a:ea typeface="Helvetica Neue"/>
                <a:cs typeface="Helvetica Neue"/>
              </a:rPr>
              <a:t>, </a:t>
            </a:r>
            <a:r>
              <a:rPr sz="1600">
                <a:latin typeface="Helvetica Neue"/>
                <a:ea typeface="Helvetica Neue"/>
                <a:cs typeface="Helvetica Neue"/>
              </a:rPr>
              <a:t>consectetur</a:t>
            </a:r>
            <a:r>
              <a:rPr sz="1600"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latin typeface="Helvetica Neue"/>
                <a:ea typeface="Helvetica Neue"/>
                <a:cs typeface="Helvetica Neue"/>
              </a:rPr>
              <a:t>adipiscing</a:t>
            </a:r>
            <a:r>
              <a:rPr sz="1600"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latin typeface="Helvetica Neue"/>
                <a:ea typeface="Helvetica Neue"/>
                <a:cs typeface="Helvetica Neue"/>
              </a:rPr>
              <a:t>elit</a:t>
            </a:r>
            <a:r>
              <a:rPr sz="1600">
                <a:latin typeface="Helvetica Neue"/>
                <a:ea typeface="Helvetica Neue"/>
                <a:cs typeface="Helvetica Neue"/>
              </a:rPr>
              <a:t>. </a:t>
            </a:r>
            <a:r>
              <a:rPr sz="1600">
                <a:latin typeface="Helvetica Neue"/>
                <a:ea typeface="Helvetica Neue"/>
                <a:cs typeface="Helvetica Neue"/>
              </a:rPr>
              <a:t>Pellentesque</a:t>
            </a:r>
            <a:r>
              <a:rPr sz="1600"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latin typeface="Helvetica Neue"/>
                <a:ea typeface="Helvetica Neue"/>
                <a:cs typeface="Helvetica Neue"/>
              </a:rPr>
              <a:t>ultricies</a:t>
            </a:r>
            <a:r>
              <a:rPr sz="1600"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latin typeface="Helvetica Neue"/>
                <a:ea typeface="Helvetica Neue"/>
                <a:cs typeface="Helvetica Neue"/>
              </a:rPr>
              <a:t>quam</a:t>
            </a:r>
            <a:r>
              <a:rPr sz="1600"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latin typeface="Helvetica Neue"/>
                <a:ea typeface="Helvetica Neue"/>
                <a:cs typeface="Helvetica Neue"/>
              </a:rPr>
              <a:t>ut</a:t>
            </a:r>
            <a:r>
              <a:rPr sz="1600"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latin typeface="Helvetica Neue"/>
                <a:ea typeface="Helvetica Neue"/>
                <a:cs typeface="Helvetica Neue"/>
              </a:rPr>
              <a:t>massa</a:t>
            </a:r>
            <a:r>
              <a:rPr sz="1600"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latin typeface="Helvetica Neue"/>
                <a:ea typeface="Helvetica Neue"/>
                <a:cs typeface="Helvetica Neue"/>
              </a:rPr>
              <a:t>luctus</a:t>
            </a:r>
            <a:r>
              <a:rPr sz="1600">
                <a:latin typeface="Helvetica Neue"/>
                <a:ea typeface="Helvetica Neue"/>
                <a:cs typeface="Helvetica Neue"/>
              </a:rPr>
              <a:t> cursus.</a:t>
            </a:r>
          </a:p>
        </p:txBody>
      </p:sp>
    </p:spTree>
    <p:extLst>
      <p:ext uri="{BB962C8B-B14F-4D97-AF65-F5344CB8AC3E}">
        <p14:creationId xmlns:p14="http://schemas.microsoft.com/office/powerpoint/2010/main" val="20446926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AD38C25-48AC-5A29-D53A-82080FAF926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t>4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3E8FE18-95DE-C7EA-9E95-10B8218936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99" y="344009"/>
            <a:ext cx="11404599" cy="5957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chemeClr val="accent1"/>
                </a:solidFill>
              </a:rPr>
              <a:t>Ключевая ценность для пользователя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9E3149F3-A7D7-BC8F-C84C-4A4E60EA2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253749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5CD1077A-BBDF-3B07-D940-FA5482CB0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43" y="253749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1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B54A841D-1EA0-6181-C778-7C851CA6E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8" y="3250891"/>
            <a:ext cx="498688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strike="noStrike" cap="none" spc="0" baseline="0">
                <a:ln>
                  <a:noFill/>
                </a:ln>
                <a:latin typeface="Helvetica Neue"/>
                <a:ea typeface="Helvetica Neue"/>
                <a:cs typeface="Helvetica Neue"/>
              </a:rPr>
              <a:t>6 категорий техники и поиск без перезагрузки.</a:t>
            </a: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B4E203EC-EB81-96EF-66AB-3B6012B4B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437010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2000F722-C0CE-FDAF-EAFE-20BC4A7F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43" y="437010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11" name="Footer Placeholder 10">
            <a:extLst xmlns:a="http://schemas.openxmlformats.org/drawingml/2006/main">
              <a:ext uri="{FF2B5EF4-FFF2-40B4-BE49-F238E27FC236}">
                <a16:creationId xmlns:a16="http://schemas.microsoft.com/office/drawing/2014/main" id="{A4694142-7504-448C-B110-ABCB1A6DD41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12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F393FB38-1005-6250-1642-93C1A76E0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649094"/>
            <a:ext cx="11404600" cy="6340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Один интерфейс закрывает выбор, сравнение, сохранение и покупку техники.</a:t>
            </a:r>
          </a:p>
        </p:txBody>
      </p:sp>
      <p:sp>
        <p:nvSpPr>
          <p:cNvPr id="13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A0F4C075-109A-7DDE-18C9-18F128552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99" y="1146566"/>
            <a:ext cx="11404599" cy="4024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2000">
                <a:latin typeface="+mj-lt"/>
                <a:ea typeface="+mj-lt"/>
                <a:cs typeface="+mj-lt"/>
              </a:rPr>
              <a:t>Lorem ipsum dolor sit </a:t>
            </a:r>
            <a:r>
              <a:rPr sz="2000">
                <a:latin typeface="+mj-lt"/>
                <a:ea typeface="+mj-lt"/>
                <a:cs typeface="+mj-lt"/>
              </a:rPr>
              <a:t>amet</a:t>
            </a:r>
            <a:r>
              <a:rPr sz="2000">
                <a:latin typeface="+mj-lt"/>
                <a:ea typeface="+mj-lt"/>
                <a:cs typeface="+mj-lt"/>
              </a:rPr>
              <a:t>, </a:t>
            </a:r>
            <a:r>
              <a:rPr sz="2000">
                <a:latin typeface="+mj-lt"/>
                <a:ea typeface="+mj-lt"/>
                <a:cs typeface="+mj-lt"/>
              </a:rPr>
              <a:t>consectetur</a:t>
            </a:r>
            <a:r>
              <a:rPr sz="2000">
                <a:latin typeface="+mj-lt"/>
                <a:ea typeface="+mj-lt"/>
                <a:cs typeface="+mj-lt"/>
              </a:rPr>
              <a:t> </a:t>
            </a:r>
            <a:r>
              <a:rPr sz="2000">
                <a:latin typeface="+mj-lt"/>
                <a:ea typeface="+mj-lt"/>
                <a:cs typeface="+mj-lt"/>
              </a:rPr>
              <a:t>adipiscing</a:t>
            </a:r>
            <a:r>
              <a:rPr sz="2000">
                <a:latin typeface="+mj-lt"/>
                <a:ea typeface="+mj-lt"/>
                <a:cs typeface="+mj-lt"/>
              </a:rPr>
              <a:t> </a:t>
            </a:r>
            <a:r>
              <a:rPr sz="2000">
                <a:latin typeface="+mj-lt"/>
                <a:ea typeface="+mj-lt"/>
                <a:cs typeface="+mj-lt"/>
              </a:rPr>
              <a:t>elit</a:t>
            </a:r>
            <a:r>
              <a:rPr sz="2000">
                <a:latin typeface="+mj-lt"/>
                <a:ea typeface="+mj-lt"/>
                <a:cs typeface="+mj-lt"/>
              </a:rPr>
              <a:t>. </a:t>
            </a:r>
            <a:endParaRPr sz="2000">
              <a:latin typeface="+mj-lt"/>
              <a:ea typeface="+mj-lt"/>
              <a:cs typeface="+mj-lt"/>
            </a:endParaR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49DCE927-F1A4-A9ED-C839-844BB6885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67" y="2793808"/>
            <a:ext cx="4986886" cy="3127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800" b="0" i="0" u="none" strike="noStrike" cap="none" spc="0" baseline="0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Каталог</a:t>
            </a:r>
          </a:p>
        </p:txBody>
      </p:sp>
      <p:sp>
        <p:nvSpPr>
          <p:cNvPr id="1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B71DDDF3-A6F6-A2D9-7F68-A246AE82F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438" y="3250891"/>
            <a:ext cx="498688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strike="noStrike" cap="none" spc="0" baseline="0">
                <a:ln>
                  <a:noFill/>
                </a:ln>
                <a:latin typeface="Helvetica Neue"/>
                <a:ea typeface="Helvetica Neue"/>
                <a:cs typeface="Helvetica Neue"/>
              </a:rPr>
              <a:t>Категория, цена, бренд, наличие и сортировка.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BAD06467-8163-39A0-0B9A-1A98533B6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5127" y="2793808"/>
            <a:ext cx="4986886" cy="3127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800" b="0" i="0" u="none" strike="noStrike" cap="none" spc="0" baseline="0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Фильтры</a:t>
            </a:r>
          </a:p>
        </p:txBody>
      </p:sp>
      <p:sp>
        <p:nvSpPr>
          <p:cNvPr id="1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61F5831-A6CA-0036-3E5C-283D4EBAF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8" y="5094931"/>
            <a:ext cx="498688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strike="noStrike" cap="none" spc="0" baseline="0">
                <a:ln>
                  <a:noFill/>
                </a:ln>
                <a:latin typeface="Helvetica Neue"/>
                <a:ea typeface="Helvetica Neue"/>
                <a:cs typeface="Helvetica Neue"/>
              </a:rPr>
              <a:t>Корзина, валидация checkout и подтверждение заказа.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1283300B-2E76-54E3-B3E8-C4CE0DA32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67" y="4637848"/>
            <a:ext cx="4986886" cy="3127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800" b="0" i="0" u="none" strike="noStrike" cap="none" spc="0" baseline="0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Покупка</a:t>
            </a:r>
          </a:p>
        </p:txBody>
      </p:sp>
      <p:sp>
        <p:nvSpPr>
          <p:cNvPr id="2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1E87E4E-34C4-73A3-D9B4-5528035E3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438" y="5094931"/>
            <a:ext cx="498688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strike="noStrike" cap="none" spc="0" baseline="0">
                <a:ln>
                  <a:noFill/>
                </a:ln>
                <a:latin typeface="Helvetica Neue"/>
                <a:ea typeface="Helvetica Neue"/>
                <a:cs typeface="Helvetica Neue"/>
              </a:rPr>
              <a:t>Адаптивность, keyboard focus и reduced motion.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4BBBD727-79F1-2502-A083-A18F5A754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5127" y="4637848"/>
            <a:ext cx="4986886" cy="3127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800" b="0" i="0" u="none" strike="noStrike" cap="none" spc="0" baseline="0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Доступность</a:t>
            </a:r>
          </a:p>
        </p:txBody>
      </p:sp>
    </p:spTree>
    <p:extLst>
      <p:ext uri="{BB962C8B-B14F-4D97-AF65-F5344CB8AC3E}">
        <p14:creationId xmlns:p14="http://schemas.microsoft.com/office/powerpoint/2010/main" val="217953532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6AD4425-62A5-20FE-DA81-DB0262F8E9D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t>5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CCB3C549-3412-D9EC-FC96-8C0EA25A431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99" y="344009"/>
            <a:ext cx="11404599" cy="5957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chemeClr val="accent1"/>
                </a:solidFill>
              </a:rPr>
              <a:t>Что уже реализовано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11" name="Footer Placeholder 10">
            <a:extLst xmlns:a="http://schemas.openxmlformats.org/drawingml/2006/main">
              <a:ext uri="{FF2B5EF4-FFF2-40B4-BE49-F238E27FC236}">
                <a16:creationId xmlns:a16="http://schemas.microsoft.com/office/drawing/2014/main" id="{BD5D3365-630B-7DA2-6578-D2DE7ACBBC07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3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076E58D8-94E3-59EF-6F5D-94479531D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374900"/>
            <a:ext cx="5537200" cy="36194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Lorem ipsum dolor sit </a:t>
            </a:r>
            <a:r>
              <a:rPr sz="1600">
                <a:latin typeface="Helvetica Neue"/>
                <a:ea typeface="Helvetica Neue"/>
                <a:cs typeface="Helvetica Neue"/>
              </a:rPr>
              <a:t>amet</a:t>
            </a:r>
            <a:r>
              <a:rPr sz="1600">
                <a:latin typeface="Helvetica Neue"/>
                <a:ea typeface="Helvetica Neue"/>
                <a:cs typeface="Helvetica Neue"/>
              </a:rPr>
              <a:t>, </a:t>
            </a:r>
            <a:r>
              <a:rPr sz="1600">
                <a:latin typeface="Helvetica Neue"/>
                <a:ea typeface="Helvetica Neue"/>
                <a:cs typeface="Helvetica Neue"/>
              </a:rPr>
              <a:t>consectetur</a:t>
            </a:r>
            <a:r>
              <a:rPr sz="1600"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latin typeface="Helvetica Neue"/>
                <a:ea typeface="Helvetica Neue"/>
                <a:cs typeface="Helvetica Neue"/>
              </a:rPr>
              <a:t>adipiscing</a:t>
            </a:r>
            <a:r>
              <a:rPr sz="1600"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latin typeface="Helvetica Neue"/>
                <a:ea typeface="Helvetica Neue"/>
                <a:cs typeface="Helvetica Neue"/>
              </a:rPr>
              <a:t>elit</a:t>
            </a:r>
            <a:r>
              <a:rPr sz="1600">
                <a:latin typeface="Helvetica Neue"/>
                <a:ea typeface="Helvetica Neue"/>
                <a:cs typeface="Helvetica Neue"/>
              </a:rPr>
              <a:t>. </a:t>
            </a:r>
            <a:r>
              <a:rPr sz="1600">
                <a:latin typeface="Helvetica Neue"/>
                <a:ea typeface="Helvetica Neue"/>
                <a:cs typeface="Helvetica Neue"/>
              </a:rPr>
              <a:t>Pellentesque</a:t>
            </a:r>
            <a:r>
              <a:rPr sz="1600"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latin typeface="Helvetica Neue"/>
                <a:ea typeface="Helvetica Neue"/>
                <a:cs typeface="Helvetica Neue"/>
              </a:rPr>
              <a:t>ultricies</a:t>
            </a:r>
            <a:r>
              <a:rPr sz="1600"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latin typeface="Helvetica Neue"/>
                <a:ea typeface="Helvetica Neue"/>
                <a:cs typeface="Helvetica Neue"/>
              </a:rPr>
              <a:t>quam</a:t>
            </a:r>
            <a:r>
              <a:rPr sz="1600"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latin typeface="Helvetica Neue"/>
                <a:ea typeface="Helvetica Neue"/>
                <a:cs typeface="Helvetica Neue"/>
              </a:rPr>
              <a:t>ut</a:t>
            </a:r>
            <a:r>
              <a:rPr sz="1600"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latin typeface="Helvetica Neue"/>
                <a:ea typeface="Helvetica Neue"/>
                <a:cs typeface="Helvetica Neue"/>
              </a:rPr>
              <a:t>massa</a:t>
            </a:r>
            <a:r>
              <a:rPr sz="1600"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latin typeface="Helvetica Neue"/>
                <a:ea typeface="Helvetica Neue"/>
                <a:cs typeface="Helvetica Neue"/>
              </a:rPr>
              <a:t>luctus</a:t>
            </a:r>
            <a:r>
              <a:rPr sz="1600">
                <a:latin typeface="Helvetica Neue"/>
                <a:ea typeface="Helvetica Neue"/>
                <a:cs typeface="Helvetica Neue"/>
              </a:rPr>
              <a:t> cursus. </a:t>
            </a:r>
            <a:r>
              <a:rPr sz="1600">
                <a:latin typeface="Helvetica Neue"/>
                <a:ea typeface="Helvetica Neue"/>
                <a:cs typeface="Helvetica Neue"/>
              </a:rPr>
              <a:t>Nullam</a:t>
            </a:r>
            <a:r>
              <a:rPr sz="1600">
                <a:latin typeface="Helvetica Neue"/>
                <a:ea typeface="Helvetica Neue"/>
                <a:cs typeface="Helvetica Neue"/>
              </a:rPr>
              <a:t> pharetra </a:t>
            </a:r>
            <a:r>
              <a:rPr sz="1600">
                <a:latin typeface="Helvetica Neue"/>
                <a:ea typeface="Helvetica Neue"/>
                <a:cs typeface="Helvetica Neue"/>
              </a:rPr>
              <a:t>mauris</a:t>
            </a:r>
            <a:r>
              <a:rPr sz="1600"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latin typeface="Helvetica Neue"/>
                <a:ea typeface="Helvetica Neue"/>
                <a:cs typeface="Helvetica Neue"/>
              </a:rPr>
              <a:t>tortor</a:t>
            </a:r>
            <a:r>
              <a:rPr sz="1600">
                <a:latin typeface="Helvetica Neue"/>
                <a:ea typeface="Helvetica Neue"/>
                <a:cs typeface="Helvetica Neue"/>
              </a:rPr>
              <a:t>. In hac </a:t>
            </a:r>
            <a:r>
              <a:rPr sz="1600">
                <a:latin typeface="Helvetica Neue"/>
                <a:ea typeface="Helvetica Neue"/>
                <a:cs typeface="Helvetica Neue"/>
              </a:rPr>
              <a:t>habitasse</a:t>
            </a:r>
            <a:r>
              <a:rPr sz="1600"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latin typeface="Helvetica Neue"/>
                <a:ea typeface="Helvetica Neue"/>
                <a:cs typeface="Helvetica Neue"/>
              </a:rPr>
              <a:t>platea</a:t>
            </a:r>
            <a:r>
              <a:rPr sz="1600"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latin typeface="Helvetica Neue"/>
                <a:ea typeface="Helvetica Neue"/>
                <a:cs typeface="Helvetica Neue"/>
              </a:rPr>
              <a:t>dictumst</a:t>
            </a:r>
            <a:r>
              <a:rPr sz="1600">
                <a:latin typeface="Helvetica Neue"/>
                <a:ea typeface="Helvetica Neue"/>
                <a:cs typeface="Helvetica Neue"/>
              </a:rPr>
              <a:t>. Proin </a:t>
            </a:r>
            <a:r>
              <a:rPr sz="1600">
                <a:latin typeface="Helvetica Neue"/>
                <a:ea typeface="Helvetica Neue"/>
                <a:cs typeface="Helvetica Neue"/>
              </a:rPr>
              <a:t>mattis</a:t>
            </a:r>
            <a:r>
              <a:rPr sz="1600"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latin typeface="Helvetica Neue"/>
                <a:ea typeface="Helvetica Neue"/>
                <a:cs typeface="Helvetica Neue"/>
              </a:rPr>
              <a:t>nibh</a:t>
            </a:r>
            <a:r>
              <a:rPr sz="1600"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latin typeface="Helvetica Neue"/>
                <a:ea typeface="Helvetica Neue"/>
                <a:cs typeface="Helvetica Neue"/>
              </a:rPr>
              <a:t>risus</a:t>
            </a:r>
            <a:r>
              <a:rPr sz="1600">
                <a:latin typeface="Helvetica Neue"/>
                <a:ea typeface="Helvetica Neue"/>
                <a:cs typeface="Helvetica Neue"/>
              </a:rPr>
              <a:t>. </a:t>
            </a:r>
            <a:r>
              <a:rPr sz="1600">
                <a:latin typeface="Helvetica Neue"/>
                <a:ea typeface="Helvetica Neue"/>
                <a:cs typeface="Helvetica Neue"/>
              </a:rPr>
              <a:t>Nulla</a:t>
            </a:r>
            <a:r>
              <a:rPr sz="1600"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latin typeface="Helvetica Neue"/>
                <a:ea typeface="Helvetica Neue"/>
                <a:cs typeface="Helvetica Neue"/>
              </a:rPr>
              <a:t>tempor</a:t>
            </a:r>
            <a:r>
              <a:rPr sz="1600"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latin typeface="Helvetica Neue"/>
                <a:ea typeface="Helvetica Neue"/>
                <a:cs typeface="Helvetica Neue"/>
              </a:rPr>
              <a:t>ut</a:t>
            </a:r>
            <a:r>
              <a:rPr sz="1600"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latin typeface="Helvetica Neue"/>
                <a:ea typeface="Helvetica Neue"/>
                <a:cs typeface="Helvetica Neue"/>
              </a:rPr>
              <a:t>massa</a:t>
            </a:r>
            <a:r>
              <a:rPr sz="1600"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latin typeface="Helvetica Neue"/>
                <a:ea typeface="Helvetica Neue"/>
                <a:cs typeface="Helvetica Neue"/>
              </a:rPr>
              <a:t>elementum</a:t>
            </a:r>
            <a:r>
              <a:rPr sz="1600"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latin typeface="Helvetica Neue"/>
                <a:ea typeface="Helvetica Neue"/>
                <a:cs typeface="Helvetica Neue"/>
              </a:rPr>
              <a:t>dapibus</a:t>
            </a:r>
            <a:r>
              <a:rPr sz="1600">
                <a:latin typeface="Helvetica Neue"/>
                <a:ea typeface="Helvetica Neue"/>
                <a:cs typeface="Helvetica Neue"/>
              </a:rPr>
              <a:t>. Nam non ante quis </a:t>
            </a:r>
            <a:r>
              <a:rPr sz="1600">
                <a:latin typeface="Helvetica Neue"/>
                <a:ea typeface="Helvetica Neue"/>
                <a:cs typeface="Helvetica Neue"/>
              </a:rPr>
              <a:t>enim</a:t>
            </a:r>
            <a:r>
              <a:rPr sz="1600"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latin typeface="Helvetica Neue"/>
                <a:ea typeface="Helvetica Neue"/>
                <a:cs typeface="Helvetica Neue"/>
              </a:rPr>
              <a:t>fringilla</a:t>
            </a:r>
            <a:r>
              <a:rPr sz="1600">
                <a:latin typeface="Helvetica Neue"/>
                <a:ea typeface="Helvetica Neue"/>
                <a:cs typeface="Helvetica Neue"/>
              </a:rPr>
              <a:t> tempus nec in </a:t>
            </a:r>
            <a:r>
              <a:rPr sz="1600">
                <a:latin typeface="Helvetica Neue"/>
                <a:ea typeface="Helvetica Neue"/>
                <a:cs typeface="Helvetica Neue"/>
              </a:rPr>
              <a:t>lectus</a:t>
            </a:r>
            <a:r>
              <a:rPr sz="1600">
                <a:latin typeface="Helvetica Neue"/>
                <a:ea typeface="Helvetica Neue"/>
                <a:cs typeface="Helvetica Neue"/>
              </a:rPr>
              <a:t>. In hac </a:t>
            </a:r>
            <a:r>
              <a:rPr sz="1600">
                <a:latin typeface="Helvetica Neue"/>
                <a:ea typeface="Helvetica Neue"/>
                <a:cs typeface="Helvetica Neue"/>
              </a:rPr>
              <a:t>habitasse</a:t>
            </a:r>
            <a:r>
              <a:rPr sz="1600"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latin typeface="Helvetica Neue"/>
                <a:ea typeface="Helvetica Neue"/>
                <a:cs typeface="Helvetica Neue"/>
              </a:rPr>
              <a:t>platea</a:t>
            </a:r>
            <a:r>
              <a:rPr sz="1600"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latin typeface="Helvetica Neue"/>
                <a:ea typeface="Helvetica Neue"/>
                <a:cs typeface="Helvetica Neue"/>
              </a:rPr>
              <a:t>dictumst</a:t>
            </a:r>
            <a:r>
              <a:rPr sz="1600">
                <a:latin typeface="Helvetica Neue"/>
                <a:ea typeface="Helvetica Neue"/>
                <a:cs typeface="Helvetica Neue"/>
              </a:rPr>
              <a:t>. 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Lorem ipsum dolor sit </a:t>
            </a:r>
            <a:r>
              <a:rPr sz="1600">
                <a:latin typeface="Helvetica Neue"/>
                <a:ea typeface="Helvetica Neue"/>
                <a:cs typeface="Helvetica Neue"/>
              </a:rPr>
              <a:t>amet</a:t>
            </a:r>
            <a:r>
              <a:rPr sz="1600">
                <a:latin typeface="Helvetica Neue"/>
                <a:ea typeface="Helvetica Neue"/>
                <a:cs typeface="Helvetica Neue"/>
              </a:rPr>
              <a:t>, </a:t>
            </a:r>
            <a:r>
              <a:rPr sz="1600">
                <a:latin typeface="Helvetica Neue"/>
                <a:ea typeface="Helvetica Neue"/>
                <a:cs typeface="Helvetica Neue"/>
              </a:rPr>
              <a:t>consectetur</a:t>
            </a:r>
            <a:r>
              <a:rPr sz="1600"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latin typeface="Helvetica Neue"/>
                <a:ea typeface="Helvetica Neue"/>
                <a:cs typeface="Helvetica Neue"/>
              </a:rPr>
              <a:t>adipiscing</a:t>
            </a:r>
            <a:r>
              <a:rPr sz="1600"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latin typeface="Helvetica Neue"/>
                <a:ea typeface="Helvetica Neue"/>
                <a:cs typeface="Helvetica Neue"/>
              </a:rPr>
              <a:t>elit</a:t>
            </a:r>
            <a:r>
              <a:rPr sz="1600">
                <a:latin typeface="Helvetica Neue"/>
                <a:ea typeface="Helvetica Neue"/>
                <a:cs typeface="Helvetica Neue"/>
              </a:rPr>
              <a:t>. </a:t>
            </a:r>
            <a:r>
              <a:rPr sz="1600">
                <a:latin typeface="Helvetica Neue"/>
                <a:ea typeface="Helvetica Neue"/>
                <a:cs typeface="Helvetica Neue"/>
              </a:rPr>
              <a:t>Pellentesque</a:t>
            </a:r>
            <a:r>
              <a:rPr sz="1600"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latin typeface="Helvetica Neue"/>
                <a:ea typeface="Helvetica Neue"/>
                <a:cs typeface="Helvetica Neue"/>
              </a:rPr>
              <a:t>ultricies</a:t>
            </a:r>
            <a:r>
              <a:rPr sz="1600"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latin typeface="Helvetica Neue"/>
                <a:ea typeface="Helvetica Neue"/>
                <a:cs typeface="Helvetica Neue"/>
              </a:rPr>
              <a:t>quam</a:t>
            </a:r>
            <a:r>
              <a:rPr sz="1600"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latin typeface="Helvetica Neue"/>
                <a:ea typeface="Helvetica Neue"/>
                <a:cs typeface="Helvetica Neue"/>
              </a:rPr>
              <a:t>ut</a:t>
            </a:r>
            <a:r>
              <a:rPr sz="1600"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latin typeface="Helvetica Neue"/>
                <a:ea typeface="Helvetica Neue"/>
                <a:cs typeface="Helvetica Neue"/>
              </a:rPr>
              <a:t>massa</a:t>
            </a:r>
            <a:r>
              <a:rPr sz="1600"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latin typeface="Helvetica Neue"/>
                <a:ea typeface="Helvetica Neue"/>
                <a:cs typeface="Helvetica Neue"/>
              </a:rPr>
              <a:t>luctus</a:t>
            </a:r>
            <a:r>
              <a:rPr sz="1600">
                <a:latin typeface="Helvetica Neue"/>
                <a:ea typeface="Helvetica Neue"/>
                <a:cs typeface="Helvetica Neue"/>
              </a:rPr>
              <a:t> cursus. </a:t>
            </a:r>
            <a:r>
              <a:rPr sz="1600">
                <a:latin typeface="Helvetica Neue"/>
                <a:ea typeface="Helvetica Neue"/>
                <a:cs typeface="Helvetica Neue"/>
              </a:rPr>
              <a:t>Nullam</a:t>
            </a:r>
            <a:r>
              <a:rPr sz="1600">
                <a:latin typeface="Helvetica Neue"/>
                <a:ea typeface="Helvetica Neue"/>
                <a:cs typeface="Helvetica Neue"/>
              </a:rPr>
              <a:t> pharetra </a:t>
            </a:r>
            <a:r>
              <a:rPr sz="1600">
                <a:latin typeface="Helvetica Neue"/>
                <a:ea typeface="Helvetica Neue"/>
                <a:cs typeface="Helvetica Neue"/>
              </a:rPr>
              <a:t>mauris</a:t>
            </a:r>
            <a:r>
              <a:rPr sz="1600"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latin typeface="Helvetica Neue"/>
                <a:ea typeface="Helvetica Neue"/>
                <a:cs typeface="Helvetica Neue"/>
              </a:rPr>
              <a:t>tortor</a:t>
            </a:r>
            <a:r>
              <a:rPr sz="1600">
                <a:latin typeface="Helvetica Neue"/>
                <a:ea typeface="Helvetica Neue"/>
                <a:cs typeface="Helvetica Neue"/>
              </a:rPr>
              <a:t>. In hac </a:t>
            </a:r>
            <a:r>
              <a:rPr sz="1600">
                <a:latin typeface="Helvetica Neue"/>
                <a:ea typeface="Helvetica Neue"/>
                <a:cs typeface="Helvetica Neue"/>
              </a:rPr>
              <a:t>habitasse</a:t>
            </a:r>
            <a:r>
              <a:rPr sz="1600"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latin typeface="Helvetica Neue"/>
                <a:ea typeface="Helvetica Neue"/>
                <a:cs typeface="Helvetica Neue"/>
              </a:rPr>
              <a:t>platea</a:t>
            </a:r>
            <a:r>
              <a:rPr sz="1600"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latin typeface="Helvetica Neue"/>
                <a:ea typeface="Helvetica Neue"/>
                <a:cs typeface="Helvetica Neue"/>
              </a:rPr>
              <a:t>dictumst</a:t>
            </a:r>
            <a:r>
              <a:rPr sz="1600">
                <a:latin typeface="Helvetica Neue"/>
                <a:ea typeface="Helvetica Neue"/>
                <a:cs typeface="Helvetica Neue"/>
              </a:rPr>
              <a:t>. Proin </a:t>
            </a:r>
            <a:r>
              <a:rPr sz="1600">
                <a:latin typeface="Helvetica Neue"/>
                <a:ea typeface="Helvetica Neue"/>
                <a:cs typeface="Helvetica Neue"/>
              </a:rPr>
              <a:t>mattis</a:t>
            </a:r>
            <a:r>
              <a:rPr sz="1600"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latin typeface="Helvetica Neue"/>
                <a:ea typeface="Helvetica Neue"/>
                <a:cs typeface="Helvetica Neue"/>
              </a:rPr>
              <a:t>nibh</a:t>
            </a:r>
            <a:r>
              <a:rPr sz="1600"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latin typeface="Helvetica Neue"/>
                <a:ea typeface="Helvetica Neue"/>
                <a:cs typeface="Helvetica Neue"/>
              </a:rPr>
              <a:t>risus</a:t>
            </a:r>
            <a:r>
              <a:rPr sz="1600">
                <a:latin typeface="Helvetica Neue"/>
                <a:ea typeface="Helvetica Neue"/>
                <a:cs typeface="Helvetica Neue"/>
              </a:rPr>
              <a:t>. </a:t>
            </a:r>
            <a:r>
              <a:rPr sz="1600">
                <a:latin typeface="Helvetica Neue"/>
                <a:ea typeface="Helvetica Neue"/>
                <a:cs typeface="Helvetica Neue"/>
              </a:rPr>
              <a:t>Nulla</a:t>
            </a:r>
            <a:r>
              <a:rPr sz="1600"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latin typeface="Helvetica Neue"/>
                <a:ea typeface="Helvetica Neue"/>
                <a:cs typeface="Helvetica Neue"/>
              </a:rPr>
              <a:t>tempor</a:t>
            </a:r>
            <a:r>
              <a:rPr sz="1600"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latin typeface="Helvetica Neue"/>
                <a:ea typeface="Helvetica Neue"/>
                <a:cs typeface="Helvetica Neue"/>
              </a:rPr>
              <a:t>ut</a:t>
            </a:r>
            <a:r>
              <a:rPr sz="1600"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latin typeface="Helvetica Neue"/>
                <a:ea typeface="Helvetica Neue"/>
                <a:cs typeface="Helvetica Neue"/>
              </a:rPr>
              <a:t>massa</a:t>
            </a:r>
            <a:r>
              <a:rPr sz="1600"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latin typeface="Helvetica Neue"/>
                <a:ea typeface="Helvetica Neue"/>
                <a:cs typeface="Helvetica Neue"/>
              </a:rPr>
              <a:t>elementum</a:t>
            </a:r>
            <a:r>
              <a:rPr sz="1600"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latin typeface="Helvetica Neue"/>
                <a:ea typeface="Helvetica Neue"/>
                <a:cs typeface="Helvetica Neue"/>
              </a:rPr>
              <a:t>dapibus</a:t>
            </a:r>
            <a:r>
              <a:rPr sz="1600">
                <a:latin typeface="Helvetica Neue"/>
                <a:ea typeface="Helvetica Neue"/>
                <a:cs typeface="Helvetica Neue"/>
              </a:rPr>
              <a:t>. Nam non ante quis </a:t>
            </a:r>
            <a:r>
              <a:rPr sz="1600">
                <a:latin typeface="Helvetica Neue"/>
                <a:ea typeface="Helvetica Neue"/>
                <a:cs typeface="Helvetica Neue"/>
              </a:rPr>
              <a:t>enim</a:t>
            </a:r>
            <a:r>
              <a:rPr sz="1600"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latin typeface="Helvetica Neue"/>
                <a:ea typeface="Helvetica Neue"/>
                <a:cs typeface="Helvetica Neue"/>
              </a:rPr>
              <a:t>fringilla</a:t>
            </a:r>
            <a:r>
              <a:rPr sz="1600">
                <a:latin typeface="Helvetica Neue"/>
                <a:ea typeface="Helvetica Neue"/>
                <a:cs typeface="Helvetica Neue"/>
              </a:rPr>
              <a:t> tempus nec in </a:t>
            </a:r>
            <a:r>
              <a:rPr sz="1600">
                <a:latin typeface="Helvetica Neue"/>
                <a:ea typeface="Helvetica Neue"/>
                <a:cs typeface="Helvetica Neue"/>
              </a:rPr>
              <a:t>lectus</a:t>
            </a:r>
            <a:r>
              <a:rPr sz="1600">
                <a:latin typeface="Helvetica Neue"/>
                <a:ea typeface="Helvetica Neue"/>
                <a:cs typeface="Helvetica Neue"/>
              </a:rPr>
              <a:t>. In hac </a:t>
            </a:r>
            <a:r>
              <a:rPr sz="1600">
                <a:latin typeface="Helvetica Neue"/>
                <a:ea typeface="Helvetica Neue"/>
                <a:cs typeface="Helvetica Neue"/>
              </a:rPr>
              <a:t>habitasse</a:t>
            </a:r>
            <a:r>
              <a:rPr sz="1600"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latin typeface="Helvetica Neue"/>
                <a:ea typeface="Helvetica Neue"/>
                <a:cs typeface="Helvetica Neue"/>
              </a:rPr>
              <a:t>platea</a:t>
            </a:r>
            <a:r>
              <a:rPr sz="1600"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latin typeface="Helvetica Neue"/>
                <a:ea typeface="Helvetica Neue"/>
                <a:cs typeface="Helvetica Neue"/>
              </a:rPr>
              <a:t>dictumst</a:t>
            </a:r>
            <a:endParaRPr sz="16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5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EC39CC4A-7702-F34C-BFC1-C34643FFF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436666"/>
            <a:ext cx="5537200" cy="71931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latin typeface="+mj-lt"/>
                <a:ea typeface="+mj-lt"/>
                <a:cs typeface="+mj-lt"/>
              </a:rPr>
              <a:t>Функциональность собрана вокруг реального пути покупателя, а не вокруг отдельных компонентов.</a:t>
            </a:r>
          </a:p>
        </p:txBody>
      </p:sp>
      <p:sp>
        <p:nvSpPr>
          <p:cNvPr id="27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B4FA777D-1E43-2118-018B-D684DB7EF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104" y="2184252"/>
            <a:ext cx="501476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400" b="0" i="0" u="none" strike="noStrike" cap="none" spc="0" baseline="0">
                <a:ln>
                  <a:noFill/>
                </a:ln>
                <a:latin typeface="Helvetica Neue"/>
                <a:ea typeface="Helvetica Neue"/>
                <a:cs typeface="Helvetica Neue"/>
              </a:rPr>
              <a:t>Поиск, фильтры, сортировка, категории и карточки товаров.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F2F01BD9-1359-C69B-3F1A-A36534227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4793" y="1813255"/>
            <a:ext cx="5014766" cy="2432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400" b="0" i="0" u="none" strike="noStrike" cap="none" spc="0" baseline="0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Каталог</a:t>
            </a: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3C99D68F-34ED-A722-D7DB-03942B0B7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5842" y="1521935"/>
            <a:ext cx="5394187" cy="1393857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4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32674159-B6E6-B9EF-D753-5EF1E6871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104" y="3693012"/>
            <a:ext cx="501476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400" b="0" i="0" u="none" strike="noStrike" cap="none" spc="0" baseline="0">
                <a:ln>
                  <a:noFill/>
                </a:ln>
                <a:latin typeface="Helvetica Neue"/>
                <a:ea typeface="Helvetica Neue"/>
                <a:cs typeface="Helvetica Neue"/>
              </a:rPr>
              <a:t>Валидация формы, доставка, оплата и учебный номер заказа.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7D84212-7716-6AFC-2CCA-1118E4183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4793" y="3322015"/>
            <a:ext cx="5014766" cy="2432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400" b="0" i="0" u="none" strike="noStrike" cap="none" spc="0" baseline="0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Checkout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520BED9B-3AD0-B986-23FF-346EFF8EE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5842" y="3030695"/>
            <a:ext cx="5394187" cy="1393857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58865802-6967-7210-3371-DEA6828B5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105" y="5201772"/>
            <a:ext cx="501476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400" b="0" i="0" u="none" strike="noStrike" cap="none" spc="0" baseline="0">
                <a:ln>
                  <a:noFill/>
                </a:ln>
                <a:latin typeface="Helvetica Neue"/>
                <a:ea typeface="Helvetica Neue"/>
                <a:cs typeface="Helvetica Neue"/>
              </a:rPr>
              <a:t>Skeleton Loader, Error, Empty, 404, темы и mobile navigation.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DD2FEB2E-B2D7-376B-AFC1-B25E2E37C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4794" y="4830775"/>
            <a:ext cx="5014766" cy="2432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400" b="0" i="0" u="none" strike="noStrike" cap="none" spc="0" baseline="0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Состояния интерфейса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F95C5540-5014-B354-3651-51BA12757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5843" y="4539455"/>
            <a:ext cx="5394187" cy="1393857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614037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CCB27A2-1D9F-6514-0821-C7CC3F67552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t>6</a:t>
            </a:fld>
            <a:endParaRPr/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8B4C5563-C118-E2D4-2A1A-F84171FF9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953" y="3365501"/>
            <a:ext cx="3568700" cy="26289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87EC77EB-07E7-2818-9132-6416EC5EF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501"/>
            <a:ext cx="3568700" cy="26289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12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14F9DBD7-0427-326B-17D5-5DD215C44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821" y="4146160"/>
            <a:ext cx="2949339" cy="1432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schemeClr val="accent1"/>
                </a:solidFill>
                <a:latin typeface="Roboto Medium"/>
                <a:ea typeface="Roboto Medium"/>
                <a:cs typeface="Roboto Medium"/>
              </a:rPr>
              <a:t>Context API + useReducer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schemeClr val="accent1"/>
                </a:solidFill>
                <a:latin typeface="Roboto Medium"/>
                <a:ea typeface="Roboto Medium"/>
                <a:cs typeface="Roboto Medium"/>
              </a:rPr>
              <a:t>Корзина, каталог, избранное, сравнение и тема живут отдельно.</a:t>
            </a:r>
          </a:p>
        </p:txBody>
      </p:sp>
      <p:sp>
        <p:nvSpPr>
          <p:cNvPr id="1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81FFF27-06E1-B925-B772-E8C07A029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6094" y="4146160"/>
            <a:ext cx="2949339" cy="1432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schemeClr val="accent1"/>
                </a:solidFill>
                <a:latin typeface="Roboto Medium"/>
                <a:ea typeface="Roboto Medium"/>
                <a:cs typeface="Roboto Medium"/>
              </a:rPr>
              <a:t>productService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solidFill>
                  <a:prstClr val="black"/>
                </a:solidFill>
              </a:rPr>
              <a:t>Локальный JSON изолирован от компонентов и готов к замене на API.</a:t>
            </a:r>
            <a:endParaRPr sz="1600"/>
          </a:p>
        </p:txBody>
      </p:sp>
      <p:sp>
        <p:nvSpPr>
          <p:cNvPr id="14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D182FC54-B4D0-2FD9-7909-F4321F701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645" y="3694101"/>
            <a:ext cx="233806" cy="233717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5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12304657-C94E-6AEC-95B3-FF04FD52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3270" y="3694102"/>
            <a:ext cx="233806" cy="233717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7FAC9A03-119F-393D-2295-2587BE7C4F7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2F7C895E-DE9C-ED5D-5936-715D047B60E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75566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chemeClr val="accent1"/>
                </a:solidFill>
              </a:rPr>
              <a:t>Архитектура продукта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E49F3E50-E7DD-037F-1687-7A3A08473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753" y="3365501"/>
            <a:ext cx="3568700" cy="26289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6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895137EF-1168-9543-8134-200AA74D8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621" y="4146160"/>
            <a:ext cx="2949339" cy="1432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solidFill>
                  <a:schemeClr val="accent1"/>
                </a:solidFill>
                <a:latin typeface="Roboto Medium"/>
                <a:ea typeface="Roboto Medium"/>
                <a:cs typeface="Roboto Medium"/>
              </a:rPr>
              <a:t>React + Router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solidFill>
                  <a:prstClr val="black"/>
                </a:solidFill>
              </a:rPr>
              <a:t>Страницы и маршрутизация собраны вокруг единого Layout.</a:t>
            </a:r>
            <a:endParaRPr sz="1600"/>
          </a:p>
        </p:txBody>
      </p:sp>
      <p:sp>
        <p:nvSpPr>
          <p:cNvPr id="7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A926CAA1-5F44-3769-A410-E058BAEE3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445" y="3694101"/>
            <a:ext cx="233806" cy="233717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208EF3D1-5C57-8D4F-49C8-21BD74420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820543"/>
            <a:ext cx="11404600" cy="13266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Такой разрез упрощает развитие проекта и подключение backend без переписывания страниц.</a:t>
            </a:r>
          </a:p>
        </p:txBody>
      </p:sp>
      <p:sp>
        <p:nvSpPr>
          <p:cNvPr id="1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3CCF932-231F-7EA0-6520-FFB192B4E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99" y="1318016"/>
            <a:ext cx="11404599" cy="4024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2000">
                <a:latin typeface="+mj-lt"/>
                <a:ea typeface="+mj-lt"/>
                <a:cs typeface="+mj-lt"/>
              </a:rPr>
              <a:t>Lorem ipsum dolor sit </a:t>
            </a:r>
            <a:r>
              <a:rPr sz="2000">
                <a:latin typeface="+mj-lt"/>
                <a:ea typeface="+mj-lt"/>
                <a:cs typeface="+mj-lt"/>
              </a:rPr>
              <a:t>amet</a:t>
            </a:r>
            <a:r>
              <a:rPr sz="2000">
                <a:latin typeface="+mj-lt"/>
                <a:ea typeface="+mj-lt"/>
                <a:cs typeface="+mj-lt"/>
              </a:rPr>
              <a:t>, </a:t>
            </a:r>
            <a:r>
              <a:rPr sz="2000">
                <a:latin typeface="+mj-lt"/>
                <a:ea typeface="+mj-lt"/>
                <a:cs typeface="+mj-lt"/>
              </a:rPr>
              <a:t>consectetur</a:t>
            </a:r>
            <a:r>
              <a:rPr sz="2000">
                <a:latin typeface="+mj-lt"/>
                <a:ea typeface="+mj-lt"/>
                <a:cs typeface="+mj-lt"/>
              </a:rPr>
              <a:t> </a:t>
            </a:r>
            <a:r>
              <a:rPr sz="2000">
                <a:latin typeface="+mj-lt"/>
                <a:ea typeface="+mj-lt"/>
                <a:cs typeface="+mj-lt"/>
              </a:rPr>
              <a:t>adipiscing</a:t>
            </a:r>
            <a:r>
              <a:rPr sz="2000">
                <a:latin typeface="+mj-lt"/>
                <a:ea typeface="+mj-lt"/>
                <a:cs typeface="+mj-lt"/>
              </a:rPr>
              <a:t> </a:t>
            </a:r>
            <a:r>
              <a:rPr sz="2000">
                <a:latin typeface="+mj-lt"/>
                <a:ea typeface="+mj-lt"/>
                <a:cs typeface="+mj-lt"/>
              </a:rPr>
              <a:t>elit</a:t>
            </a:r>
            <a:r>
              <a:rPr sz="2000">
                <a:latin typeface="+mj-lt"/>
                <a:ea typeface="+mj-lt"/>
                <a:cs typeface="+mj-lt"/>
              </a:rPr>
              <a:t>. </a:t>
            </a:r>
            <a:endParaRPr sz="2000">
              <a:latin typeface="+mj-lt"/>
              <a:ea typeface="+mj-lt"/>
              <a:cs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56618307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C936F667-D10C-5292-AA3B-96BE2CAC84D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192694"/>
            <a:ext cx="5537200" cy="38017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/>
              <a:t>1. Найти товар через категории, поиск и фильтры.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/>
              <a:t>2. Открыть карточку и добавить в корзину или сравнение.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/>
              <a:t>3. Проверить заказ и пройти валидацию checkout.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/>
              <a:t>4. Получить учебный номер заказа и очистить корзину.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42D94613-2318-AF8E-5E44-A9368AF45A21}" type="slidenum">
              <a:t>• React + Vite + React Router</a:t>
            </a:fld>
            <a:endParaRPr/>
          </a:p>
          <a:p xmlns:a="http://schemas.openxmlformats.org/drawingml/2006/main">
            <a:fld id="{DB66ABA5-BEC9-1EDD-5E03-0EF99B631C08}" type="slidenum">
              <a:t>• Context API и useReducer</a:t>
            </a:fld>
            <a:endParaRPr/>
          </a:p>
          <a:p xmlns:a="http://schemas.openxmlformats.org/drawingml/2006/main">
            <a:fld id="{44618FFC-A248-6F9D-0559-42BF5226347E}" type="slidenum">
              <a:t>• Fetch API через productService</a:t>
            </a:fld>
            <a:endParaRPr/>
          </a:p>
          <a:p xmlns:a="http://schemas.openxmlformats.org/drawingml/2006/main">
            <a:fld id="{2A482979-3790-306B-CD2F-108ABEF4CA98}" type="slidenum">
              <a:t>• localStorage для cart, favorites и theme</a:t>
            </a:fld>
            <a:endParaRPr/>
          </a:p>
          <a:p xmlns:a="http://schemas.openxmlformats.org/drawingml/2006/main">
            <a:fld id="{5023409B-3904-89AB-E7BD-D1939C33297F}" type="slidenum">
              <a:t>• CSS media queries для desktop, tablet и mobile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55026"/>
            <a:ext cx="7835900" cy="102927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chemeClr val="accent1"/>
                </a:solidFill>
              </a:rPr>
              <a:t>Пользовательский путь и техническая реализация</a:t>
            </a:r>
          </a:p>
        </p:txBody>
      </p:sp>
      <p:sp>
        <p:nvSpPr>
          <p:cNvPr id="2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A4A94F3C-B1B2-7289-7098-7C66C8A29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5111" y="2192694"/>
            <a:ext cx="5537200" cy="38017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/>
              <a:t>Lorem ipsum dolor sit </a:t>
            </a:r>
            <a:r>
              <a:rPr sz="1400"/>
              <a:t>amet</a:t>
            </a:r>
            <a:r>
              <a:rPr sz="1400"/>
              <a:t>, </a:t>
            </a:r>
            <a:r>
              <a:rPr sz="1400"/>
              <a:t>consectetur</a:t>
            </a:r>
            <a:r>
              <a:rPr sz="1400"/>
              <a:t> </a:t>
            </a:r>
            <a:r>
              <a:rPr sz="1400"/>
              <a:t>adipiscing</a:t>
            </a:r>
            <a:r>
              <a:rPr sz="1400"/>
              <a:t> </a:t>
            </a:r>
            <a:r>
              <a:rPr sz="1400"/>
              <a:t>elit</a:t>
            </a:r>
            <a:r>
              <a:rPr sz="1400"/>
              <a:t>. </a:t>
            </a:r>
            <a:r>
              <a:rPr sz="1400"/>
              <a:t>Pellentesque</a:t>
            </a:r>
            <a:r>
              <a:rPr sz="1400"/>
              <a:t> </a:t>
            </a:r>
            <a:r>
              <a:rPr sz="1400"/>
              <a:t>ultricies</a:t>
            </a:r>
            <a:r>
              <a:rPr sz="1400"/>
              <a:t> </a:t>
            </a:r>
            <a:r>
              <a:rPr sz="1400"/>
              <a:t>quam</a:t>
            </a:r>
            <a:r>
              <a:rPr sz="1400"/>
              <a:t> </a:t>
            </a:r>
            <a:r>
              <a:rPr sz="1400"/>
              <a:t>ut</a:t>
            </a:r>
            <a:r>
              <a:rPr sz="1400"/>
              <a:t> </a:t>
            </a:r>
            <a:r>
              <a:rPr sz="1400"/>
              <a:t>massa</a:t>
            </a:r>
            <a:r>
              <a:rPr sz="1400"/>
              <a:t> </a:t>
            </a:r>
            <a:r>
              <a:rPr sz="1400"/>
              <a:t>luctus</a:t>
            </a:r>
            <a:r>
              <a:rPr sz="1400"/>
              <a:t> cursus. </a:t>
            </a:r>
            <a:r>
              <a:rPr sz="1400"/>
              <a:t>Nullam</a:t>
            </a:r>
            <a:r>
              <a:rPr sz="1400"/>
              <a:t> pharetra </a:t>
            </a:r>
            <a:r>
              <a:rPr sz="1400"/>
              <a:t>mauris</a:t>
            </a:r>
            <a:r>
              <a:rPr sz="1400"/>
              <a:t> </a:t>
            </a:r>
            <a:r>
              <a:rPr sz="1400"/>
              <a:t>tortor</a:t>
            </a:r>
            <a:r>
              <a:rPr sz="1400"/>
              <a:t>. In hac </a:t>
            </a:r>
            <a:r>
              <a:rPr sz="1400"/>
              <a:t>habitasse</a:t>
            </a:r>
            <a:r>
              <a:rPr sz="1400"/>
              <a:t> </a:t>
            </a:r>
            <a:r>
              <a:rPr sz="1400"/>
              <a:t>platea</a:t>
            </a:r>
            <a:r>
              <a:rPr sz="1400"/>
              <a:t> </a:t>
            </a:r>
            <a:r>
              <a:rPr sz="1400"/>
              <a:t>dictumst</a:t>
            </a:r>
            <a:r>
              <a:rPr sz="1400"/>
              <a:t>. Proin </a:t>
            </a:r>
            <a:r>
              <a:rPr sz="1400"/>
              <a:t>mattis</a:t>
            </a:r>
            <a:r>
              <a:rPr sz="1400"/>
              <a:t> </a:t>
            </a:r>
            <a:r>
              <a:rPr sz="1400"/>
              <a:t>nibh</a:t>
            </a:r>
            <a:r>
              <a:rPr sz="1400"/>
              <a:t> </a:t>
            </a:r>
            <a:r>
              <a:rPr sz="1400"/>
              <a:t>risus</a:t>
            </a:r>
            <a:r>
              <a:rPr sz="1400"/>
              <a:t>. </a:t>
            </a:r>
            <a:r>
              <a:rPr sz="1400"/>
              <a:t>Nulla</a:t>
            </a:r>
            <a:r>
              <a:rPr sz="1400"/>
              <a:t> </a:t>
            </a:r>
            <a:r>
              <a:rPr sz="1400"/>
              <a:t>tempor</a:t>
            </a:r>
            <a:r>
              <a:rPr sz="1400"/>
              <a:t> </a:t>
            </a:r>
            <a:r>
              <a:rPr sz="1400"/>
              <a:t>ut</a:t>
            </a:r>
            <a:r>
              <a:rPr sz="1400"/>
              <a:t> </a:t>
            </a:r>
            <a:r>
              <a:rPr sz="1400"/>
              <a:t>massa</a:t>
            </a:r>
            <a:r>
              <a:rPr sz="1400"/>
              <a:t> </a:t>
            </a:r>
            <a:r>
              <a:rPr sz="1400"/>
              <a:t>elementum</a:t>
            </a:r>
            <a:r>
              <a:rPr sz="1400"/>
              <a:t> </a:t>
            </a:r>
            <a:r>
              <a:rPr sz="1400"/>
              <a:t>dapibus</a:t>
            </a:r>
            <a:r>
              <a:rPr sz="1400"/>
              <a:t>. Nam non ante quis </a:t>
            </a:r>
            <a:r>
              <a:rPr sz="1400"/>
              <a:t>enim</a:t>
            </a:r>
            <a:r>
              <a:rPr sz="1400"/>
              <a:t> </a:t>
            </a:r>
            <a:r>
              <a:rPr sz="1400"/>
              <a:t>fringilla</a:t>
            </a:r>
            <a:r>
              <a:rPr sz="1400"/>
              <a:t> tempus nec in </a:t>
            </a:r>
            <a:r>
              <a:rPr sz="1400"/>
              <a:t>lectus</a:t>
            </a:r>
            <a:r>
              <a:rPr sz="1400"/>
              <a:t>. In hac </a:t>
            </a:r>
            <a:r>
              <a:rPr sz="1400"/>
              <a:t>habitasse</a:t>
            </a:r>
            <a:r>
              <a:rPr sz="1400"/>
              <a:t> </a:t>
            </a:r>
            <a:r>
              <a:rPr sz="1400"/>
              <a:t>platea</a:t>
            </a:r>
            <a:r>
              <a:rPr sz="1400"/>
              <a:t> </a:t>
            </a:r>
            <a:r>
              <a:rPr sz="1400"/>
              <a:t>dictumst</a:t>
            </a:r>
            <a:r>
              <a:rPr sz="1400"/>
              <a:t>. 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/>
              <a:t>Lorem ipsum dolor sit </a:t>
            </a:r>
            <a:r>
              <a:rPr sz="1400"/>
              <a:t>amet</a:t>
            </a:r>
            <a:r>
              <a:rPr sz="1400"/>
              <a:t>, </a:t>
            </a:r>
            <a:r>
              <a:rPr sz="1400"/>
              <a:t>consectetur</a:t>
            </a:r>
            <a:r>
              <a:rPr sz="1400"/>
              <a:t> </a:t>
            </a:r>
            <a:r>
              <a:rPr sz="1400"/>
              <a:t>adipiscing</a:t>
            </a:r>
            <a:r>
              <a:rPr sz="1400"/>
              <a:t> </a:t>
            </a:r>
            <a:r>
              <a:rPr sz="1400"/>
              <a:t>elit</a:t>
            </a:r>
            <a:r>
              <a:rPr sz="1400"/>
              <a:t>. </a:t>
            </a:r>
            <a:r>
              <a:rPr sz="1400"/>
              <a:t>Pellentesque</a:t>
            </a:r>
            <a:r>
              <a:rPr sz="1400"/>
              <a:t> </a:t>
            </a:r>
            <a:r>
              <a:rPr sz="1400"/>
              <a:t>ultricies</a:t>
            </a:r>
            <a:r>
              <a:rPr sz="1400"/>
              <a:t> </a:t>
            </a:r>
            <a:r>
              <a:rPr sz="1400"/>
              <a:t>quam</a:t>
            </a:r>
            <a:r>
              <a:rPr sz="1400"/>
              <a:t> </a:t>
            </a:r>
            <a:r>
              <a:rPr sz="1400"/>
              <a:t>ut</a:t>
            </a:r>
            <a:r>
              <a:rPr sz="1400"/>
              <a:t> </a:t>
            </a:r>
            <a:r>
              <a:rPr sz="1400"/>
              <a:t>massa</a:t>
            </a:r>
            <a:r>
              <a:rPr sz="1400"/>
              <a:t> </a:t>
            </a:r>
            <a:r>
              <a:rPr sz="1400"/>
              <a:t>luctus</a:t>
            </a:r>
            <a:r>
              <a:rPr sz="1400"/>
              <a:t> cursus. </a:t>
            </a:r>
            <a:r>
              <a:rPr sz="1400"/>
              <a:t>Nullam</a:t>
            </a:r>
            <a:r>
              <a:rPr sz="1400"/>
              <a:t> pharetra </a:t>
            </a:r>
            <a:r>
              <a:rPr sz="1400"/>
              <a:t>mauris</a:t>
            </a:r>
            <a:r>
              <a:rPr sz="1400"/>
              <a:t> </a:t>
            </a:r>
            <a:r>
              <a:rPr sz="1400"/>
              <a:t>tortor</a:t>
            </a:r>
            <a:r>
              <a:rPr sz="1400"/>
              <a:t>. In hac </a:t>
            </a:r>
            <a:r>
              <a:rPr sz="1400"/>
              <a:t>habitasse</a:t>
            </a:r>
            <a:r>
              <a:rPr sz="1400"/>
              <a:t> </a:t>
            </a:r>
            <a:r>
              <a:rPr sz="1400"/>
              <a:t>platea</a:t>
            </a:r>
            <a:r>
              <a:rPr sz="1400"/>
              <a:t> </a:t>
            </a:r>
            <a:r>
              <a:rPr sz="1400"/>
              <a:t>dictumst</a:t>
            </a:r>
            <a:r>
              <a:rPr sz="1400"/>
              <a:t>. Proin </a:t>
            </a:r>
            <a:r>
              <a:rPr sz="1400"/>
              <a:t>mattis</a:t>
            </a:r>
            <a:r>
              <a:rPr sz="1400"/>
              <a:t> </a:t>
            </a:r>
            <a:r>
              <a:rPr sz="1400"/>
              <a:t>nibh</a:t>
            </a:r>
            <a:r>
              <a:rPr sz="1400"/>
              <a:t> </a:t>
            </a:r>
            <a:r>
              <a:rPr sz="1400"/>
              <a:t>risus</a:t>
            </a:r>
            <a:r>
              <a:rPr sz="1400"/>
              <a:t>. </a:t>
            </a:r>
            <a:r>
              <a:rPr sz="1400"/>
              <a:t>Nulla</a:t>
            </a:r>
            <a:r>
              <a:rPr sz="1400"/>
              <a:t> </a:t>
            </a:r>
            <a:r>
              <a:rPr sz="1400"/>
              <a:t>tempor</a:t>
            </a:r>
            <a:r>
              <a:rPr sz="1400"/>
              <a:t> </a:t>
            </a:r>
            <a:r>
              <a:rPr sz="1400"/>
              <a:t>ut</a:t>
            </a:r>
            <a:r>
              <a:rPr sz="1400"/>
              <a:t> </a:t>
            </a:r>
            <a:r>
              <a:rPr sz="1400"/>
              <a:t>massa</a:t>
            </a:r>
            <a:r>
              <a:rPr sz="1400"/>
              <a:t> </a:t>
            </a:r>
            <a:r>
              <a:rPr sz="1400"/>
              <a:t>elementum</a:t>
            </a:r>
            <a:r>
              <a:rPr sz="1400"/>
              <a:t> </a:t>
            </a:r>
            <a:r>
              <a:rPr sz="1400"/>
              <a:t>dapibus</a:t>
            </a:r>
            <a:r>
              <a:rPr sz="1400"/>
              <a:t>. Nam non ante quis </a:t>
            </a:r>
            <a:r>
              <a:rPr sz="1400"/>
              <a:t>enim</a:t>
            </a:r>
            <a:r>
              <a:rPr sz="1400"/>
              <a:t> </a:t>
            </a:r>
            <a:r>
              <a:rPr sz="1400"/>
              <a:t>fringilla</a:t>
            </a:r>
            <a:r>
              <a:rPr sz="1400"/>
              <a:t> tempus nec in </a:t>
            </a:r>
            <a:r>
              <a:rPr sz="1400"/>
              <a:t>lectus</a:t>
            </a:r>
            <a:r>
              <a:rPr sz="1400"/>
              <a:t>. In hac </a:t>
            </a:r>
            <a:r>
              <a:rPr sz="1400"/>
              <a:t>habitasse</a:t>
            </a:r>
            <a:r>
              <a:rPr sz="1400"/>
              <a:t> </a:t>
            </a:r>
            <a:r>
              <a:rPr sz="1400"/>
              <a:t>platea</a:t>
            </a:r>
            <a:r>
              <a:rPr sz="1400"/>
              <a:t> </a:t>
            </a:r>
            <a:r>
              <a:rPr sz="1400"/>
              <a:t>dictumst</a:t>
            </a:r>
            <a:r>
              <a:rPr sz="1400"/>
              <a:t>. 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/>
              <a:t>Lorem ipsum dolor sit </a:t>
            </a:r>
            <a:r>
              <a:rPr sz="1400"/>
              <a:t>amet</a:t>
            </a:r>
            <a:r>
              <a:rPr sz="1400"/>
              <a:t>, </a:t>
            </a:r>
            <a:r>
              <a:rPr sz="1400"/>
              <a:t>consectetur</a:t>
            </a:r>
            <a:r>
              <a:rPr sz="1400"/>
              <a:t> </a:t>
            </a:r>
            <a:r>
              <a:rPr sz="1400"/>
              <a:t>adipiscing</a:t>
            </a:r>
            <a:r>
              <a:rPr sz="1400"/>
              <a:t> </a:t>
            </a:r>
            <a:r>
              <a:rPr sz="1400"/>
              <a:t>elit</a:t>
            </a:r>
            <a:r>
              <a:rPr sz="1400"/>
              <a:t>. </a:t>
            </a:r>
            <a:r>
              <a:rPr sz="1400"/>
              <a:t>Pellentesque</a:t>
            </a:r>
            <a:r>
              <a:rPr sz="1400"/>
              <a:t> </a:t>
            </a:r>
            <a:r>
              <a:rPr sz="1400"/>
              <a:t>ultricies</a:t>
            </a:r>
            <a:r>
              <a:rPr sz="1400"/>
              <a:t> </a:t>
            </a:r>
            <a:r>
              <a:rPr sz="1400"/>
              <a:t>quam</a:t>
            </a:r>
            <a:r>
              <a:rPr sz="1400"/>
              <a:t> </a:t>
            </a:r>
            <a:r>
              <a:rPr sz="1400"/>
              <a:t>ut</a:t>
            </a:r>
            <a:r>
              <a:rPr sz="1400"/>
              <a:t> </a:t>
            </a:r>
            <a:r>
              <a:rPr sz="1400"/>
              <a:t>massa</a:t>
            </a:r>
            <a:r>
              <a:rPr sz="1400"/>
              <a:t> </a:t>
            </a:r>
            <a:r>
              <a:rPr sz="1400"/>
              <a:t>luctus</a:t>
            </a:r>
            <a:r>
              <a:rPr sz="1400"/>
              <a:t> cursus. </a:t>
            </a:r>
            <a:r>
              <a:rPr sz="1400"/>
              <a:t>Nullam</a:t>
            </a:r>
            <a:r>
              <a:rPr sz="1400"/>
              <a:t> pharetra </a:t>
            </a:r>
            <a:r>
              <a:rPr sz="1400"/>
              <a:t>mauris</a:t>
            </a:r>
            <a:r>
              <a:rPr sz="1400"/>
              <a:t> </a:t>
            </a:r>
            <a:r>
              <a:rPr sz="1400"/>
              <a:t>tortor</a:t>
            </a:r>
            <a:r>
              <a:rPr sz="1400"/>
              <a:t>. In hac </a:t>
            </a:r>
            <a:r>
              <a:rPr sz="1400"/>
              <a:t>habitasse</a:t>
            </a:r>
            <a:r>
              <a:rPr sz="1400"/>
              <a:t> </a:t>
            </a:r>
            <a:r>
              <a:rPr sz="1400"/>
              <a:t>platea</a:t>
            </a:r>
            <a:r>
              <a:rPr sz="1400"/>
              <a:t> </a:t>
            </a:r>
            <a:r>
              <a:rPr sz="1400"/>
              <a:t>dictumst</a:t>
            </a:r>
            <a:r>
              <a:rPr sz="1400"/>
              <a:t>. Proin </a:t>
            </a:r>
            <a:r>
              <a:rPr sz="1400"/>
              <a:t>mattis</a:t>
            </a:r>
            <a:r>
              <a:rPr sz="1400"/>
              <a:t> </a:t>
            </a:r>
            <a:r>
              <a:rPr sz="1400"/>
              <a:t>nibh</a:t>
            </a:r>
            <a:r>
              <a:rPr sz="1400"/>
              <a:t> </a:t>
            </a:r>
            <a:r>
              <a:rPr sz="1400"/>
              <a:t>risus</a:t>
            </a:r>
            <a:r>
              <a:rPr sz="1400"/>
              <a:t>. </a:t>
            </a:r>
            <a:r>
              <a:rPr sz="1400"/>
              <a:t>Nulla</a:t>
            </a:r>
            <a:r>
              <a:rPr sz="1400"/>
              <a:t> </a:t>
            </a:r>
            <a:r>
              <a:rPr sz="1400"/>
              <a:t>tempor</a:t>
            </a:r>
            <a:r>
              <a:rPr sz="1400"/>
              <a:t> </a:t>
            </a:r>
            <a:r>
              <a:rPr sz="1400"/>
              <a:t>ut</a:t>
            </a:r>
            <a:r>
              <a:rPr sz="1400"/>
              <a:t> </a:t>
            </a:r>
            <a:r>
              <a:rPr sz="1400"/>
              <a:t>massa</a:t>
            </a:r>
            <a:r>
              <a:rPr sz="1400"/>
              <a:t> </a:t>
            </a:r>
            <a:r>
              <a:rPr sz="1400"/>
              <a:t>elementum</a:t>
            </a:r>
            <a:r>
              <a:rPr sz="1400"/>
              <a:t> </a:t>
            </a:r>
            <a:r>
              <a:rPr sz="1400"/>
              <a:t>dapibus</a:t>
            </a:r>
            <a:r>
              <a:rPr sz="1400"/>
              <a:t>. Nam non ante quis </a:t>
            </a:r>
            <a:r>
              <a:rPr sz="1400"/>
              <a:t>enim</a:t>
            </a:r>
            <a:r>
              <a:rPr sz="1400"/>
              <a:t> </a:t>
            </a:r>
            <a:r>
              <a:rPr sz="1400"/>
              <a:t>fringilla</a:t>
            </a:r>
            <a:r>
              <a:rPr sz="1400"/>
              <a:t> tempus nec in </a:t>
            </a:r>
            <a:r>
              <a:rPr sz="1400"/>
              <a:t>lectus</a:t>
            </a:r>
            <a:r>
              <a:rPr sz="1400"/>
              <a:t>. In hac </a:t>
            </a:r>
            <a:r>
              <a:rPr sz="1400"/>
              <a:t>habitasse</a:t>
            </a:r>
            <a:r>
              <a:rPr sz="1400"/>
              <a:t> </a:t>
            </a:r>
            <a:r>
              <a:rPr sz="1400"/>
              <a:t>platea</a:t>
            </a:r>
            <a:r>
              <a:rPr sz="1400"/>
              <a:t> </a:t>
            </a:r>
            <a:r>
              <a:rPr sz="1400"/>
              <a:t>dictumst</a:t>
            </a:r>
            <a:r>
              <a:rPr sz="1400"/>
              <a:t>. </a:t>
            </a:r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3787D66-ADFA-FEAC-9070-B9C216CEFEA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3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FD46BF2A-8122-2E0A-E8CC-886653CF6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310936"/>
            <a:ext cx="5537200" cy="71931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latin typeface="+mj-lt"/>
                <a:ea typeface="+mj-lt"/>
                <a:cs typeface="+mj-lt"/>
              </a:rPr>
              <a:t>Главный flow: главная → каталог → товар → корзина → checkout → подтверждение.</a:t>
            </a:r>
          </a:p>
        </p:txBody>
      </p:sp>
    </p:spTree>
    <p:extLst>
      <p:ext uri="{BB962C8B-B14F-4D97-AF65-F5344CB8AC3E}">
        <p14:creationId xmlns:p14="http://schemas.microsoft.com/office/powerpoint/2010/main" val="54622172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F5D028D-B73B-5BFF-0AA5-65F94FB570F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t>8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D035ED81-B82C-6CFE-FAA7-0911E05CDE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1170935"/>
            <a:ext cx="11404600" cy="17979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4200">
                <a:solidFill>
                  <a:schemeClr val="accent1"/>
                </a:solidFill>
              </a:rPr>
              <a:t>Учебный проект собран как настоящий e-commerce experience</a:t>
            </a:r>
            <a:endParaRPr sz="4200">
              <a:solidFill>
                <a:schemeClr val="accent1"/>
              </a:solidFill>
            </a:endParaRPr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AEFF86C5-A7D2-315F-C644-70488B8E4BC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3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6730FFED-E57C-67CB-4BAA-568126831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9677" y="3297710"/>
            <a:ext cx="7092645" cy="186590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ctr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В нём есть не только витрина, но и полный пользовательский сценарий: поиск, выбор, сравнение, покупка и подтверждение.</a:t>
            </a:r>
          </a:p>
        </p:txBody>
      </p:sp>
    </p:spTree>
    <p:extLst>
      <p:ext uri="{BB962C8B-B14F-4D97-AF65-F5344CB8AC3E}">
        <p14:creationId xmlns:p14="http://schemas.microsoft.com/office/powerpoint/2010/main" val="34661421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4429360-E0B5-E472-3BCB-2FC70A04DA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t>9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CD65521-5912-FE80-B7B5-EE9E16A135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7835900" cy="10402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chemeClr val="accent1"/>
                </a:solidFill>
              </a:rPr>
              <a:t>Каталог и покрытие сценариев</a:t>
            </a:r>
            <a:endParaRPr>
              <a:solidFill>
                <a:schemeClr val="accent1"/>
              </a:solidFill>
            </a:endParaRPr>
          </a:p>
        </p:txBody>
      </p:sp>
      <p:graphicFrame>
        <p:nvGraphicFramePr>
          <p:cNvPr id="2" name="Google Shape;644;p93">
            <a:extLst xmlns:a="http://schemas.openxmlformats.org/drawingml/2006/main">
              <a:ext uri="{FF2B5EF4-FFF2-40B4-BE49-F238E27FC236}">
                <a16:creationId xmlns:a16="http://schemas.microsoft.com/office/drawing/2014/main" id="{D39CF237-7E99-4877-9B73-B186402FF8ED}"/>
              </a:ext>
            </a:extLst>
          </p:cNvPr>
          <p:cNvGraphicFramePr/>
          <p:nvPr/>
        </p:nvGraphicFramePr>
        <p:xfrm>
          <a:off xmlns:a="http://schemas.openxmlformats.org/drawingml/2006/main" x="4752785" y="1549337"/>
          <a:ext xmlns:a="http://schemas.openxmlformats.org/drawingml/2006/main" cx="6777990" cy="409575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1694500"/>
                <a:gridCol w="1694500"/>
                <a:gridCol w="1694500"/>
                <a:gridCol w="1694500"/>
              </a:tblGrid>
              <a:tr h="558432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Категория</a:t>
                      </a:r>
                      <a:endParaRPr sz="1400" b="1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Товаров</a:t>
                      </a:r>
                      <a:endParaRPr sz="1400" b="1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Пример</a:t>
                      </a:r>
                      <a:endParaRPr sz="1400" b="1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Сценарии</a:t>
                      </a:r>
                      <a:endParaRPr sz="1400" b="1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Смартфоны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6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iPhone 17 Pro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поиск, фильтр, корзина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Ноутбуки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5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MacBook Air 13” M3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карточка, сравнение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Планшеты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5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iPad Air 11” M2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избранное, отзывы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Наушники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5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AirPods 5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фильтр, checkout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Мониторы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6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Studio Display 27”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категория, сравнение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Аксессуары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15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Apple Pencil Pro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категория, поиск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Итого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42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Apple catalog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основной flow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Источник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JSON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src/data/products.json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productService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Ограничение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—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нет реальной оплаты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учебный MVP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175B304C-27F3-8A33-E6D7-E2EFCA2F82B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71547039-AB2A-5CA1-49F7-26E9E7160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774196"/>
            <a:ext cx="3606800" cy="322020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/>
              <a:t>Каталог содержит 42 позиции в 6 категориях. Все товары приходят из локального JSON через productService.</a:t>
            </a:r>
          </a:p>
        </p:txBody>
      </p:sp>
      <p:sp>
        <p:nvSpPr>
          <p:cNvPr id="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D136FB89-7449-CC90-F061-B6BF578EA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564835"/>
            <a:ext cx="3606800" cy="11783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latin typeface="+mj-lt"/>
                <a:ea typeface="+mj-lt"/>
                <a:cs typeface="+mj-lt"/>
              </a:rPr>
              <a:t>Фактический scope проекта</a:t>
            </a:r>
          </a:p>
        </p:txBody>
      </p:sp>
    </p:spTree>
    <p:extLst>
      <p:ext uri="{BB962C8B-B14F-4D97-AF65-F5344CB8AC3E}">
        <p14:creationId xmlns:p14="http://schemas.microsoft.com/office/powerpoint/2010/main" val="255389493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F29587C6-818E-614C-4E8F-CD264BB5DD4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t>10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E3FE1DBC-074A-B31C-7363-7F3B844437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5549230" cy="6973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chemeClr val="accent1"/>
                </a:solidFill>
              </a:rPr>
              <a:t>Каталог как база для развития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1655C29-3D04-D88C-395C-E6000B5894F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DEFFCFBF-F669-9423-2DB8-D166659E1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2374900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2B25D3D5-48E8-D985-A4A9-9DA67A423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437010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12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93A9C42-081B-E830-D8CB-13511AF87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438" y="3088295"/>
            <a:ext cx="498688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strike="noStrike" cap="none" spc="0" baseline="0">
                <a:ln>
                  <a:noFill/>
                </a:ln>
                <a:latin typeface="Helvetica Neue"/>
                <a:ea typeface="Helvetica Neue"/>
                <a:cs typeface="Helvetica Neue"/>
              </a:rPr>
              <a:t>productService отделяет UI от источника данных.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F3899B51-315F-2B69-8DFE-6F0EE585D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5127" y="2631212"/>
            <a:ext cx="4986886" cy="3127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800" b="0" i="0" u="none" strike="noStrike" cap="none" spc="0" baseline="0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Локальный scope</a:t>
            </a:r>
          </a:p>
        </p:txBody>
      </p:sp>
      <p:sp>
        <p:nvSpPr>
          <p:cNvPr id="14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DBE99E9C-A611-68DB-873D-1306B6DA4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438" y="5094931"/>
            <a:ext cx="498688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strike="noStrike" cap="none" spc="0" baseline="0">
                <a:ln>
                  <a:noFill/>
                </a:ln>
                <a:latin typeface="Helvetica Neue"/>
                <a:ea typeface="Helvetica Neue"/>
                <a:cs typeface="Helvetica Neue"/>
              </a:rPr>
              <a:t>Lorem ipsum dolor sit </a:t>
            </a:r>
            <a:r>
              <a:rPr sz="1600" b="0" i="0" u="none" strike="noStrike" cap="none" spc="0" baseline="0">
                <a:ln>
                  <a:noFill/>
                </a:ln>
                <a:latin typeface="Helvetica Neue"/>
                <a:ea typeface="Helvetica Neue"/>
                <a:cs typeface="Helvetica Neue"/>
              </a:rPr>
              <a:t>amet</a:t>
            </a:r>
            <a:r>
              <a:rPr sz="1600" b="0" i="0" u="none" strike="noStrike" cap="none" spc="0" baseline="0">
                <a:ln>
                  <a:noFill/>
                </a:ln>
                <a:latin typeface="Helvetica Neue"/>
                <a:ea typeface="Helvetica Neue"/>
                <a:cs typeface="Helvetica Neue"/>
              </a:rPr>
              <a:t>, </a:t>
            </a:r>
            <a:r>
              <a:rPr sz="1600" b="0" i="0" u="none" strike="noStrike" cap="none" spc="0" baseline="0">
                <a:ln>
                  <a:noFill/>
                </a:ln>
                <a:latin typeface="Helvetica Neue"/>
                <a:ea typeface="Helvetica Neue"/>
                <a:cs typeface="Helvetica Neue"/>
              </a:rPr>
              <a:t>consectetur</a:t>
            </a:r>
            <a:r>
              <a:rPr sz="1600" b="0" i="0" u="none" strike="noStrike" cap="none" spc="0" baseline="0">
                <a:ln>
                  <a:noFill/>
                </a:ln>
                <a:latin typeface="Helvetica Neue"/>
                <a:ea typeface="Helvetica Neue"/>
                <a:cs typeface="Helvetica Neue"/>
              </a:rPr>
              <a:t> </a:t>
            </a:r>
            <a:r>
              <a:rPr sz="1600" b="0" i="0" u="none" strike="noStrike" cap="none" spc="0" baseline="0">
                <a:ln>
                  <a:noFill/>
                </a:ln>
                <a:latin typeface="Helvetica Neue"/>
                <a:ea typeface="Helvetica Neue"/>
                <a:cs typeface="Helvetica Neue"/>
              </a:rPr>
              <a:t>adipiscing</a:t>
            </a:r>
            <a:r>
              <a:rPr sz="1600" b="0" i="0" u="none" strike="noStrike" cap="none" spc="0" baseline="0">
                <a:ln>
                  <a:noFill/>
                </a:ln>
                <a:latin typeface="Helvetica Neue"/>
                <a:ea typeface="Helvetica Neue"/>
                <a:cs typeface="Helvetica Neue"/>
              </a:rPr>
              <a:t> </a:t>
            </a:r>
            <a:r>
              <a:rPr sz="1600" b="0" i="0" u="none" strike="noStrike" cap="none" spc="0" baseline="0">
                <a:ln>
                  <a:noFill/>
                </a:ln>
                <a:latin typeface="Helvetica Neue"/>
                <a:ea typeface="Helvetica Neue"/>
                <a:cs typeface="Helvetica Neue"/>
              </a:rPr>
              <a:t>elit</a:t>
            </a:r>
            <a:r>
              <a:rPr sz="1600" b="0" i="0" u="none" strike="noStrike" cap="none" spc="0" baseline="0">
                <a:ln>
                  <a:noFill/>
                </a:ln>
                <a:latin typeface="Helvetica Neue"/>
                <a:ea typeface="Helvetica Neue"/>
                <a:cs typeface="Helvetica Neue"/>
              </a:rPr>
              <a:t>. </a:t>
            </a:r>
            <a:r>
              <a:rPr sz="1600" b="0" i="0" u="none" strike="noStrike" cap="none" spc="0" baseline="0">
                <a:ln>
                  <a:noFill/>
                </a:ln>
                <a:latin typeface="Helvetica Neue"/>
                <a:ea typeface="Helvetica Neue"/>
                <a:cs typeface="Helvetica Neue"/>
              </a:rPr>
              <a:t>Pellentesque</a:t>
            </a:r>
            <a:r>
              <a:rPr sz="1600" b="0" i="0" u="none" strike="noStrike" cap="none" spc="0" baseline="0">
                <a:ln>
                  <a:noFill/>
                </a:ln>
                <a:latin typeface="Helvetica Neue"/>
                <a:ea typeface="Helvetica Neue"/>
                <a:cs typeface="Helvetica Neue"/>
              </a:rPr>
              <a:t> </a:t>
            </a:r>
            <a:r>
              <a:rPr sz="1600" b="0" i="0" u="none" strike="noStrike" cap="none" spc="0" baseline="0">
                <a:ln>
                  <a:noFill/>
                </a:ln>
                <a:latin typeface="Helvetica Neue"/>
                <a:ea typeface="Helvetica Neue"/>
                <a:cs typeface="Helvetica Neue"/>
              </a:rPr>
              <a:t>ultricies</a:t>
            </a:r>
            <a:r>
              <a:rPr sz="1600" b="0" i="0" u="none" strike="noStrike" cap="none" spc="0" baseline="0">
                <a:ln>
                  <a:noFill/>
                </a:ln>
                <a:latin typeface="Helvetica Neue"/>
                <a:ea typeface="Helvetica Neue"/>
                <a:cs typeface="Helvetica Neue"/>
              </a:rPr>
              <a:t> </a:t>
            </a:r>
            <a:r>
              <a:rPr sz="1600" b="0" i="0" u="none" strike="noStrike" cap="none" spc="0" baseline="0">
                <a:ln>
                  <a:noFill/>
                </a:ln>
                <a:latin typeface="Helvetica Neue"/>
                <a:ea typeface="Helvetica Neue"/>
                <a:cs typeface="Helvetica Neue"/>
              </a:rPr>
              <a:t>quam</a:t>
            </a:r>
            <a:r>
              <a:rPr sz="1600" b="0" i="0" u="none" strike="noStrike" cap="none" spc="0" baseline="0">
                <a:ln>
                  <a:noFill/>
                </a:ln>
                <a:latin typeface="Helvetica Neue"/>
                <a:ea typeface="Helvetica Neue"/>
                <a:cs typeface="Helvetica Neue"/>
              </a:rPr>
              <a:t> </a:t>
            </a:r>
            <a:r>
              <a:rPr sz="1600" b="0" i="0" u="none" strike="noStrike" cap="none" spc="0" baseline="0">
                <a:ln>
                  <a:noFill/>
                </a:ln>
                <a:latin typeface="Helvetica Neue"/>
                <a:ea typeface="Helvetica Neue"/>
                <a:cs typeface="Helvetica Neue"/>
              </a:rPr>
              <a:t>ut</a:t>
            </a:r>
            <a:r>
              <a:rPr sz="1600" b="0" i="0" u="none" strike="noStrike" cap="none" spc="0" baseline="0">
                <a:ln>
                  <a:noFill/>
                </a:ln>
                <a:latin typeface="Helvetica Neue"/>
                <a:ea typeface="Helvetica Neue"/>
                <a:cs typeface="Helvetica Neue"/>
              </a:rPr>
              <a:t> </a:t>
            </a:r>
            <a:r>
              <a:rPr sz="1600" b="0" i="0" u="none" strike="noStrike" cap="none" spc="0" baseline="0">
                <a:ln>
                  <a:noFill/>
                </a:ln>
                <a:latin typeface="Helvetica Neue"/>
                <a:ea typeface="Helvetica Neue"/>
                <a:cs typeface="Helvetica Neue"/>
              </a:rPr>
              <a:t>massa</a:t>
            </a:r>
            <a:r>
              <a:rPr sz="1600" b="0" i="0" u="none" strike="noStrike" cap="none" spc="0" baseline="0">
                <a:ln>
                  <a:noFill/>
                </a:ln>
                <a:latin typeface="Helvetica Neue"/>
                <a:ea typeface="Helvetica Neue"/>
                <a:cs typeface="Helvetica Neue"/>
              </a:rPr>
              <a:t> </a:t>
            </a:r>
            <a:r>
              <a:rPr sz="1600" b="0" i="0" u="none" strike="noStrike" cap="none" spc="0" baseline="0">
                <a:ln>
                  <a:noFill/>
                </a:ln>
                <a:latin typeface="Helvetica Neue"/>
                <a:ea typeface="Helvetica Neue"/>
                <a:cs typeface="Helvetica Neue"/>
              </a:rPr>
              <a:t>luctus</a:t>
            </a:r>
            <a:r>
              <a:rPr sz="1600" b="0" i="0" u="none" strike="noStrike" cap="none" spc="0" baseline="0">
                <a:ln>
                  <a:noFill/>
                </a:ln>
                <a:latin typeface="Helvetica Neue"/>
                <a:ea typeface="Helvetica Neue"/>
                <a:cs typeface="Helvetica Neue"/>
              </a:rPr>
              <a:t>. 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5A7172E7-1168-69D9-D755-CC735D3A9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5127" y="4637848"/>
            <a:ext cx="4986886" cy="28725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800" b="0" i="0" u="none" strike="noStrike" cap="none" spc="0" baseline="0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Topic title goes here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B252D751-7B28-98E9-CF7E-0EB98657E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391117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17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07D94FB0-B75A-4229-2FD1-CA1FAAC57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438" y="1104512"/>
            <a:ext cx="498688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strike="noStrike" cap="none" spc="0" baseline="0">
                <a:ln>
                  <a:noFill/>
                </a:ln>
                <a:latin typeface="Helvetica Neue"/>
                <a:ea typeface="Helvetica Neue"/>
                <a:cs typeface="Helvetica Neue"/>
              </a:rPr>
              <a:t>42 товара в 6 категориях.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20D1D081-A168-A031-F892-8E2476A4A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5127" y="647429"/>
            <a:ext cx="4986886" cy="3127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800" b="0" i="0" u="none" strike="noStrike" cap="none" spc="0" baseline="0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API-ready слой</a:t>
            </a:r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626709AF-9488-4CF9-B573-7BA56D85D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718" y="1714500"/>
            <a:ext cx="5124164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3150" b="1">
                <a:solidFill>
                  <a:srgbClr val="3357B8"/>
                </a:solidFill>
              </a:defRPr>
            </a:defPPr>
            <a:lvl1pPr algn="ctr">
              <a:defRPr sz="3150" b="1">
                <a:solidFill>
                  <a:srgbClr val="3357B8"/>
                </a:solidFill>
              </a:defRPr>
            </a:lvl1pPr>
            <a:lvl2pPr algn="ctr">
              <a:defRPr sz="3150" b="1">
                <a:solidFill>
                  <a:srgbClr val="3357B8"/>
                </a:solidFill>
              </a:defRPr>
            </a:lvl2pPr>
            <a:lvl3pPr algn="ctr">
              <a:defRPr sz="3150" b="1">
                <a:solidFill>
                  <a:srgbClr val="3357B8"/>
                </a:solidFill>
              </a:defRPr>
            </a:lvl3pPr>
            <a:lvl4pPr algn="ctr">
              <a:defRPr sz="3150" b="1">
                <a:solidFill>
                  <a:srgbClr val="3357B8"/>
                </a:solidFill>
              </a:defRPr>
            </a:lvl4pPr>
            <a:lvl5pPr algn="ctr">
              <a:defRPr sz="3150" b="1">
                <a:solidFill>
                  <a:srgbClr val="3357B8"/>
                </a:solidFill>
              </a:defRPr>
            </a:lvl5pPr>
            <a:lvl6pPr algn="ctr">
              <a:defRPr sz="3150" b="1">
                <a:solidFill>
                  <a:srgbClr val="3357B8"/>
                </a:solidFill>
              </a:defRPr>
            </a:lvl6pPr>
            <a:lvl7pPr algn="ctr">
              <a:defRPr sz="3150" b="1">
                <a:solidFill>
                  <a:srgbClr val="3357B8"/>
                </a:solidFill>
              </a:defRPr>
            </a:lvl7pPr>
            <a:lvl8pPr algn="ctr">
              <a:defRPr sz="3150" b="1">
                <a:solidFill>
                  <a:srgbClr val="3357B8"/>
                </a:solidFill>
              </a:defRPr>
            </a:lvl8pPr>
            <a:lvl9pPr algn="ctr">
              <a:defRPr sz="3150" b="1">
                <a:solidFill>
                  <a:srgbClr val="3357B8"/>
                </a:solidFill>
              </a:defRPr>
            </a:lvl9pPr>
          </a:lstStyle>
          <a:p xmlns:a="http://schemas.openxmlformats.org/drawingml/2006/main">
            <a:pPr algn="ctr">
              <a:defRPr sz="3150" b="1">
                <a:solidFill>
                  <a:srgbClr val="3357B8"/>
                </a:solidFill>
              </a:defRPr>
            </a:pPr>
            <a:r>
              <a:rPr sz="3150" b="1">
                <a:solidFill>
                  <a:srgbClr val="3357B8"/>
                </a:solidFill>
              </a:rPr>
              <a:t>42</a:t>
            </a:r>
          </a:p>
          <a:p xmlns:a="http://schemas.openxmlformats.org/drawingml/2006/main">
            <a:pPr algn="ctr">
              <a:defRPr sz="3150" b="1">
                <a:solidFill>
                  <a:srgbClr val="3357B8"/>
                </a:solidFill>
              </a:defRPr>
            </a:pPr>
            <a:r>
              <a:rPr sz="3150" b="1">
                <a:solidFill>
                  <a:srgbClr val="3357B8"/>
                </a:solidFill>
              </a:rPr>
              <a:t>товара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3150" b="1">
                <a:solidFill>
                  <a:srgbClr val="3357B8"/>
                </a:solidFill>
              </a:defRPr>
            </a:pPr>
            <a:r>
              <a:rPr sz="3150" b="1">
                <a:solidFill>
                  <a:srgbClr val="3357B8"/>
                </a:solidFill>
              </a:rPr>
              <a:t>6</a:t>
            </a:r>
          </a:p>
          <a:p xmlns:a="http://schemas.openxmlformats.org/drawingml/2006/main">
            <a:pPr algn="ctr">
              <a:defRPr sz="3150" b="1">
                <a:solidFill>
                  <a:srgbClr val="3357B8"/>
                </a:solidFill>
              </a:defRPr>
            </a:pPr>
            <a:r>
              <a:rPr sz="3150" b="1">
                <a:solidFill>
                  <a:srgbClr val="3357B8"/>
                </a:solidFill>
              </a:rPr>
              <a:t>категорий</a:t>
            </a:r>
          </a:p>
        </p:txBody>
      </p:sp>
    </p:spTree>
    <p:extLst>
      <p:ext uri="{BB962C8B-B14F-4D97-AF65-F5344CB8AC3E}">
        <p14:creationId xmlns:p14="http://schemas.microsoft.com/office/powerpoint/2010/main" val="314597529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95E36811-4D7D-1AF4-2047-7797FCF5546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t>11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0619161C-354F-15D6-9579-085F52D7C5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5549230" cy="6973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chemeClr val="accent1"/>
                </a:solidFill>
              </a:rPr>
              <a:t>Готовность к следующему этапу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8BED08C-D3A0-E23F-F823-E34BEC6E526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C1DC18F5-97D1-0F9E-AF97-E39D1D597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1986" y="2032000"/>
            <a:ext cx="2581975" cy="2656541"/>
          </a:xfrm>
          <a:prstGeom xmlns:a="http://schemas.openxmlformats.org/drawingml/2006/main" prst="roundRect">
            <a:avLst>
              <a:gd name="adj" fmla="val 3602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3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90C522A2-2174-5AFA-9A00-7E4BBCEB2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4348" y="2356820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6200" u="none" strike="noStrike" cap="none" spc="0" baseline="0">
                <a:ln>
                  <a:noFill/>
                </a:ln>
                <a:solidFill>
                  <a:schemeClr val="accent1"/>
                </a:solidFill>
                <a:latin typeface="Roboto Medium"/>
                <a:ea typeface="Roboto Medium"/>
                <a:cs typeface="Roboto Medium"/>
              </a:rPr>
              <a:t>42</a:t>
            </a:r>
            <a:endParaRPr sz="6200">
              <a:solidFill>
                <a:schemeClr val="accent1"/>
              </a:solidFill>
              <a:latin typeface="Roboto Medium"/>
              <a:ea typeface="Roboto Medium"/>
              <a:cs typeface="Roboto Medium"/>
            </a:endParaRPr>
          </a:p>
        </p:txBody>
      </p:sp>
      <p:sp>
        <p:nvSpPr>
          <p:cNvPr id="7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3859261F-DEEB-D3E4-08EA-A3B8D1EB0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0966" y="3529296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/>
              <a:t>6 категорий техники</a:t>
            </a:r>
            <a:endParaRPr sz="1600"/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46A67EF5-6C28-37C0-A44F-C89DA6A63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4191" y="2032000"/>
            <a:ext cx="2581975" cy="2656541"/>
          </a:xfrm>
          <a:prstGeom xmlns:a="http://schemas.openxmlformats.org/drawingml/2006/main" prst="roundRect">
            <a:avLst>
              <a:gd name="adj" fmla="val 3602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9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C1178A3C-CA3E-3A18-E320-61DF2ABD5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6553" y="2356820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6200" u="none" strike="noStrike" cap="none" spc="0" baseline="0">
                <a:ln>
                  <a:noFill/>
                </a:ln>
                <a:solidFill>
                  <a:schemeClr val="accent1"/>
                </a:solidFill>
                <a:latin typeface="Roboto Medium"/>
                <a:ea typeface="Roboto Medium"/>
                <a:cs typeface="Roboto Medium"/>
              </a:rPr>
              <a:t>12%</a:t>
            </a:r>
            <a:endParaRPr sz="6200">
              <a:solidFill>
                <a:schemeClr val="accent1"/>
              </a:solidFill>
              <a:latin typeface="Roboto Medium"/>
              <a:ea typeface="Roboto Medium"/>
              <a:cs typeface="Roboto Medium"/>
            </a:endParaRPr>
          </a:p>
        </p:txBody>
      </p:sp>
      <p:sp>
        <p:nvSpPr>
          <p:cNvPr id="10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9A0C1C6C-0D79-048C-2E65-5A332ED31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3171" y="3529296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/>
              <a:t>Lorem ipsum dolor </a:t>
            </a:r>
            <a:br>
              <a:rPr sz="1600"/>
            </a:br>
            <a:r>
              <a:rPr sz="1600"/>
              <a:t>sit </a:t>
            </a:r>
            <a:r>
              <a:rPr sz="1600"/>
              <a:t>amet</a:t>
            </a:r>
            <a:r>
              <a:rPr sz="1600"/>
              <a:t>, </a:t>
            </a:r>
            <a:r>
              <a:rPr sz="1600"/>
              <a:t>consectetur</a:t>
            </a:r>
            <a:endParaRPr sz="1600"/>
          </a:p>
        </p:txBody>
      </p:sp>
      <p:sp>
        <p:nvSpPr>
          <p:cNvPr id="19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1ADE962-9ED7-3644-FA2A-7A64E19E9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8427" y="4971337"/>
            <a:ext cx="5539873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/>
              <a:t>42 товара в локальном каталоге</a:t>
            </a:r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FCF7F61B-24A7-4C72-8163-DF13451DE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718" y="1714500"/>
            <a:ext cx="5124164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2250" b="1">
                <a:solidFill>
                  <a:srgbClr val="3357B8"/>
                </a:solidFill>
              </a:defRPr>
            </a:defPPr>
            <a:lvl1pPr algn="ctr">
              <a:defRPr sz="2250" b="1">
                <a:solidFill>
                  <a:srgbClr val="3357B8"/>
                </a:solidFill>
              </a:defRPr>
            </a:lvl1pPr>
            <a:lvl2pPr algn="ctr">
              <a:defRPr sz="2250" b="1">
                <a:solidFill>
                  <a:srgbClr val="3357B8"/>
                </a:solidFill>
              </a:defRPr>
            </a:lvl2pPr>
            <a:lvl3pPr algn="ctr">
              <a:defRPr sz="2250" b="1">
                <a:solidFill>
                  <a:srgbClr val="3357B8"/>
                </a:solidFill>
              </a:defRPr>
            </a:lvl3pPr>
            <a:lvl4pPr algn="ctr">
              <a:defRPr sz="2250" b="1">
                <a:solidFill>
                  <a:srgbClr val="3357B8"/>
                </a:solidFill>
              </a:defRPr>
            </a:lvl4pPr>
            <a:lvl5pPr algn="ctr">
              <a:defRPr sz="2250" b="1">
                <a:solidFill>
                  <a:srgbClr val="3357B8"/>
                </a:solidFill>
              </a:defRPr>
            </a:lvl5pPr>
            <a:lvl6pPr algn="ctr">
              <a:defRPr sz="2250" b="1">
                <a:solidFill>
                  <a:srgbClr val="3357B8"/>
                </a:solidFill>
              </a:defRPr>
            </a:lvl6pPr>
            <a:lvl7pPr algn="ctr">
              <a:defRPr sz="2250" b="1">
                <a:solidFill>
                  <a:srgbClr val="3357B8"/>
                </a:solidFill>
              </a:defRPr>
            </a:lvl7pPr>
            <a:lvl8pPr algn="ctr">
              <a:defRPr sz="2250" b="1">
                <a:solidFill>
                  <a:srgbClr val="3357B8"/>
                </a:solidFill>
              </a:defRPr>
            </a:lvl8pPr>
            <a:lvl9pPr algn="ctr">
              <a:defRPr sz="2250" b="1">
                <a:solidFill>
                  <a:srgbClr val="3357B8"/>
                </a:solidFill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3357B8"/>
                </a:solidFill>
              </a:defRPr>
            </a:pPr>
            <a:r>
              <a:rPr sz="2250" b="1">
                <a:solidFill>
                  <a:srgbClr val="3357B8"/>
                </a:solidFill>
              </a:rPr>
              <a:t>Следующий этап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2250" b="1">
                <a:solidFill>
                  <a:srgbClr val="3357B8"/>
                </a:solidFill>
              </a:defRPr>
            </a:pPr>
            <a:r>
              <a:rPr sz="2250" b="1">
                <a:solidFill>
                  <a:srgbClr val="3357B8"/>
                </a:solidFill>
              </a:rPr>
              <a:t>API + backend</a:t>
            </a:r>
          </a:p>
          <a:p xmlns:a="http://schemas.openxmlformats.org/drawingml/2006/main">
            <a:pPr algn="ctr">
              <a:defRPr sz="2250" b="1">
                <a:solidFill>
                  <a:srgbClr val="3357B8"/>
                </a:solidFill>
              </a:defRPr>
            </a:pPr>
            <a:r>
              <a:rPr sz="2250" b="1">
                <a:solidFill>
                  <a:srgbClr val="3357B8"/>
                </a:solidFill>
              </a:rPr>
              <a:t>Тесты</a:t>
            </a:r>
          </a:p>
          <a:p xmlns:a="http://schemas.openxmlformats.org/drawingml/2006/main">
            <a:pPr algn="ctr">
              <a:defRPr sz="2250" b="1">
                <a:solidFill>
                  <a:srgbClr val="3357B8"/>
                </a:solidFill>
              </a:defRPr>
            </a:pPr>
            <a:r>
              <a:rPr sz="2250" b="1">
                <a:solidFill>
                  <a:srgbClr val="3357B8"/>
                </a:solidFill>
              </a:rPr>
              <a:t>Реальная оплата</a:t>
            </a:r>
          </a:p>
        </p:txBody>
      </p:sp>
    </p:spTree>
    <p:extLst>
      <p:ext uri="{BB962C8B-B14F-4D97-AF65-F5344CB8AC3E}">
        <p14:creationId xmlns:p14="http://schemas.microsoft.com/office/powerpoint/2010/main" val="399383134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Theme 2">
      <a:dk1>
        <a:srgbClr val="000000"/>
      </a:dk1>
      <a:lt1>
        <a:srgbClr val="FFFFFF"/>
      </a:lt1>
      <a:dk2>
        <a:srgbClr val="0E2841"/>
      </a:dk2>
      <a:lt2>
        <a:srgbClr val="FAFCFE"/>
      </a:lt2>
      <a:accent1>
        <a:srgbClr val="3357B8"/>
      </a:accent1>
      <a:accent2>
        <a:srgbClr val="CFD2D9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Lora Roboto">
      <a:majorFont>
        <a:latin typeface="Lora"/>
        <a:ea typeface=""/>
        <a:cs typeface=""/>
      </a:majorFont>
      <a:minorFont>
        <a:latin typeface="Roboto"/>
        <a:ea typeface=""/>
        <a:cs typeface=""/>
      </a:minorFont>
    </a:fontScheme>
    <a:fmtScheme name="Theme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2026-10-24T14:42:00.0610000Z</dcterms:created>
  <dcterms:modified xsi:type="dcterms:W3CDTF">2026-10-24T14:42:00.0610000Z</dcterms:modified>
</coreProperties>
</file>