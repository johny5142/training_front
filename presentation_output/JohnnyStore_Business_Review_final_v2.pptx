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c9f7328143417a" /><Relationship Type="http://schemas.openxmlformats.org/officeDocument/2006/relationships/extended-properties" Target="/docProps/app.xml" Id="Rc836e61af46e41dd" /><Relationship Type="http://schemas.openxmlformats.org/officeDocument/2006/relationships/officeDocument" Target="/ppt/presentation.xml" Id="R053c10519930496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2d877b1242848f1"/>
  </p:sldMasterIdLst>
  <p:notesMasterIdLst>
    <p:notesMasterId xmlns:r="http://schemas.openxmlformats.org/officeDocument/2006/relationships" r:id="Rd8567fb6bbe747a6"/>
  </p:notesMasterIdLst>
  <p:sldIdLst>
    <p:sldId xmlns:r="http://schemas.openxmlformats.org/officeDocument/2006/relationships" id="256" r:id="Re3a0e8b98d954f10"/>
    <p:sldId xmlns:r="http://schemas.openxmlformats.org/officeDocument/2006/relationships" id="257" r:id="Rd02c50e8871d4e66"/>
    <p:sldId xmlns:r="http://schemas.openxmlformats.org/officeDocument/2006/relationships" id="258" r:id="Re7d163093ae44cbc"/>
    <p:sldId xmlns:r="http://schemas.openxmlformats.org/officeDocument/2006/relationships" id="259" r:id="R80ec2c93619c42ca"/>
    <p:sldId xmlns:r="http://schemas.openxmlformats.org/officeDocument/2006/relationships" id="260" r:id="Rc2dbdb65c315476e"/>
    <p:sldId xmlns:r="http://schemas.openxmlformats.org/officeDocument/2006/relationships" id="261" r:id="Rb11cda3735774f2e"/>
    <p:sldId xmlns:r="http://schemas.openxmlformats.org/officeDocument/2006/relationships" id="262" r:id="R1c1574185c5b420d"/>
    <p:sldId xmlns:r="http://schemas.openxmlformats.org/officeDocument/2006/relationships" id="263" r:id="Ra526612b7a3e4606"/>
    <p:sldId xmlns:r="http://schemas.openxmlformats.org/officeDocument/2006/relationships" id="264" r:id="R9b8c322490c84a02"/>
    <p:sldId xmlns:r="http://schemas.openxmlformats.org/officeDocument/2006/relationships" id="265" r:id="R4afcf251a6144e80"/>
    <p:sldId xmlns:r="http://schemas.openxmlformats.org/officeDocument/2006/relationships" id="266" r:id="Rb141c4702dc34697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93e738f8a46d4dec"/>
      <p:italic xmlns:r="http://schemas.openxmlformats.org/officeDocument/2006/relationships" r:id="R2dc235d626cf46e1"/>
    </p:embeddedFont>
    <p:embeddedFont>
      <p:font typeface="Lora SemiBold"/>
      <p:regular xmlns:r="http://schemas.openxmlformats.org/officeDocument/2006/relationships" r:id="R9b1c20017fc74808"/>
      <p:bold xmlns:r="http://schemas.openxmlformats.org/officeDocument/2006/relationships" r:id="R70d0e03b6145410c"/>
      <p:italic xmlns:r="http://schemas.openxmlformats.org/officeDocument/2006/relationships" r:id="R0f9a8340f6cd4660"/>
      <p:boldItalic xmlns:r="http://schemas.openxmlformats.org/officeDocument/2006/relationships" r:id="R58ee0e5d723e48cc"/>
    </p:embeddedFont>
    <p:embeddedFont>
      <p:font typeface="OpenAI Sans"/>
      <p:regular xmlns:r="http://schemas.openxmlformats.org/officeDocument/2006/relationships" r:id="R0932b2bf56b943d0"/>
      <p:bold xmlns:r="http://schemas.openxmlformats.org/officeDocument/2006/relationships" r:id="R9b12980e4e9d4678"/>
      <p:italic xmlns:r="http://schemas.openxmlformats.org/officeDocument/2006/relationships" r:id="Rfa10072cfd8d4b73"/>
      <p:boldItalic xmlns:r="http://schemas.openxmlformats.org/officeDocument/2006/relationships" r:id="Rf48f801b4ab14afd"/>
    </p:embeddedFont>
    <p:embeddedFont>
      <p:font typeface="Roboto"/>
      <p:regular xmlns:r="http://schemas.openxmlformats.org/officeDocument/2006/relationships" r:id="R3e06f7b84fc34eac"/>
      <p:bold xmlns:r="http://schemas.openxmlformats.org/officeDocument/2006/relationships" r:id="Rabd37bfd348841b5"/>
      <p:italic xmlns:r="http://schemas.openxmlformats.org/officeDocument/2006/relationships" r:id="Rcf993f7dcace4c8b"/>
      <p:boldItalic xmlns:r="http://schemas.openxmlformats.org/officeDocument/2006/relationships" r:id="R1b1d48895acc4ab7"/>
    </p:embeddedFont>
    <p:embeddedFont>
      <p:font typeface="Roboto Medium"/>
      <p:regular xmlns:r="http://schemas.openxmlformats.org/officeDocument/2006/relationships" r:id="Rc9c1bcaab45249b9"/>
      <p:italic xmlns:r="http://schemas.openxmlformats.org/officeDocument/2006/relationships" r:id="Ra332754abb0947d7"/>
    </p:embeddedFont>
    <p:embeddedFont>
      <p:font typeface="Roboto SemiBold"/>
      <p:regular xmlns:r="http://schemas.openxmlformats.org/officeDocument/2006/relationships" r:id="R741053e5773f471c"/>
      <p:bold xmlns:r="http://schemas.openxmlformats.org/officeDocument/2006/relationships" r:id="R6306f7edc8764dae"/>
      <p:italic xmlns:r="http://schemas.openxmlformats.org/officeDocument/2006/relationships" r:id="Raaecc97953e5462a"/>
      <p:boldItalic xmlns:r="http://schemas.openxmlformats.org/officeDocument/2006/relationships" r:id="R035f2f7c8cbd41b1"/>
    </p:embeddedFont>
    <p:embeddedFont>
      <p:font typeface="Roboto Serif 14pt"/>
      <p:regular xmlns:r="http://schemas.openxmlformats.org/officeDocument/2006/relationships" r:id="Ra220d27975894f7d"/>
      <p:bold xmlns:r="http://schemas.openxmlformats.org/officeDocument/2006/relationships" r:id="R2e46bd1cec834560"/>
      <p:italic xmlns:r="http://schemas.openxmlformats.org/officeDocument/2006/relationships" r:id="R0e019be1342444f2"/>
      <p:boldItalic xmlns:r="http://schemas.openxmlformats.org/officeDocument/2006/relationships" r:id="R1c3489e80bc843ed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a296b23dd3426d" /><Relationship Type="http://schemas.openxmlformats.org/officeDocument/2006/relationships/slideMaster" Target="/ppt/slideMasters/slideMaster1.xml" Id="R72d877b1242848f1" /><Relationship Type="http://schemas.openxmlformats.org/officeDocument/2006/relationships/notesMaster" Target="/ppt/notesMasters/notesMaster1.xml" Id="Rd8567fb6bbe747a6" /><Relationship Type="http://schemas.openxmlformats.org/officeDocument/2006/relationships/presProps" Target="/ppt/presProps.xml" Id="R433b8b0a9e5141e5" /><Relationship Type="http://schemas.openxmlformats.org/officeDocument/2006/relationships/viewProps" Target="/ppt/viewProps.xml" Id="Rf12a132581cf4d18" /><Relationship Type="http://schemas.openxmlformats.org/officeDocument/2006/relationships/tableStyles" Target="/ppt/tableStyles.xml" Id="R4a8fe828777146ab" /><Relationship Type="http://schemas.openxmlformats.org/officeDocument/2006/relationships/font" Target="/ppt/fonts/font.dat" Id="R93e738f8a46d4dec" /><Relationship Type="http://schemas.openxmlformats.org/officeDocument/2006/relationships/font" Target="/ppt/fonts/font2.dat" Id="R2dc235d626cf46e1" /><Relationship Type="http://schemas.openxmlformats.org/officeDocument/2006/relationships/font" Target="/ppt/fonts/font3.dat" Id="R9b1c20017fc74808" /><Relationship Type="http://schemas.openxmlformats.org/officeDocument/2006/relationships/font" Target="/ppt/fonts/font4.dat" Id="R70d0e03b6145410c" /><Relationship Type="http://schemas.openxmlformats.org/officeDocument/2006/relationships/font" Target="/ppt/fonts/font5.dat" Id="R0f9a8340f6cd4660" /><Relationship Type="http://schemas.openxmlformats.org/officeDocument/2006/relationships/font" Target="/ppt/fonts/font6.dat" Id="R58ee0e5d723e48cc" /><Relationship Type="http://schemas.openxmlformats.org/officeDocument/2006/relationships/font" Target="/ppt/fonts/font7.dat" Id="R0932b2bf56b943d0" /><Relationship Type="http://schemas.openxmlformats.org/officeDocument/2006/relationships/font" Target="/ppt/fonts/font8.dat" Id="R9b12980e4e9d4678" /><Relationship Type="http://schemas.openxmlformats.org/officeDocument/2006/relationships/font" Target="/ppt/fonts/font9.dat" Id="Rfa10072cfd8d4b73" /><Relationship Type="http://schemas.openxmlformats.org/officeDocument/2006/relationships/font" Target="/ppt/fonts/font10.dat" Id="Rf48f801b4ab14afd" /><Relationship Type="http://schemas.openxmlformats.org/officeDocument/2006/relationships/font" Target="/ppt/fonts/font11.dat" Id="R3e06f7b84fc34eac" /><Relationship Type="http://schemas.openxmlformats.org/officeDocument/2006/relationships/font" Target="/ppt/fonts/font12.dat" Id="Rabd37bfd348841b5" /><Relationship Type="http://schemas.openxmlformats.org/officeDocument/2006/relationships/font" Target="/ppt/fonts/font13.dat" Id="Rcf993f7dcace4c8b" /><Relationship Type="http://schemas.openxmlformats.org/officeDocument/2006/relationships/font" Target="/ppt/fonts/font14.dat" Id="R1b1d48895acc4ab7" /><Relationship Type="http://schemas.openxmlformats.org/officeDocument/2006/relationships/font" Target="/ppt/fonts/font15.dat" Id="Rc9c1bcaab45249b9" /><Relationship Type="http://schemas.openxmlformats.org/officeDocument/2006/relationships/font" Target="/ppt/fonts/font16.dat" Id="Ra332754abb0947d7" /><Relationship Type="http://schemas.openxmlformats.org/officeDocument/2006/relationships/font" Target="/ppt/fonts/font17.dat" Id="R741053e5773f471c" /><Relationship Type="http://schemas.openxmlformats.org/officeDocument/2006/relationships/font" Target="/ppt/fonts/font18.dat" Id="R6306f7edc8764dae" /><Relationship Type="http://schemas.openxmlformats.org/officeDocument/2006/relationships/font" Target="/ppt/fonts/font19.dat" Id="Raaecc97953e5462a" /><Relationship Type="http://schemas.openxmlformats.org/officeDocument/2006/relationships/font" Target="/ppt/fonts/font20.dat" Id="R035f2f7c8cbd41b1" /><Relationship Type="http://schemas.openxmlformats.org/officeDocument/2006/relationships/font" Target="/ppt/fonts/font21.dat" Id="Ra220d27975894f7d" /><Relationship Type="http://schemas.openxmlformats.org/officeDocument/2006/relationships/font" Target="/ppt/fonts/font22.dat" Id="R2e46bd1cec834560" /><Relationship Type="http://schemas.openxmlformats.org/officeDocument/2006/relationships/font" Target="/ppt/fonts/font23.dat" Id="R0e019be1342444f2" /><Relationship Type="http://schemas.openxmlformats.org/officeDocument/2006/relationships/font" Target="/ppt/fonts/font24.dat" Id="R1c3489e80bc843ed" /><Relationship Type="http://schemas.openxmlformats.org/officeDocument/2006/relationships/slide" Target="/ppt/slides/slide1.xml" Id="Re3a0e8b98d954f10" /><Relationship Type="http://schemas.openxmlformats.org/officeDocument/2006/relationships/slide" Target="/ppt/slides/slide2.xml" Id="Rd02c50e8871d4e66" /><Relationship Type="http://schemas.openxmlformats.org/officeDocument/2006/relationships/slide" Target="/ppt/slides/slide3.xml" Id="Re7d163093ae44cbc" /><Relationship Type="http://schemas.openxmlformats.org/officeDocument/2006/relationships/slide" Target="/ppt/slides/slide4.xml" Id="R80ec2c93619c42ca" /><Relationship Type="http://schemas.openxmlformats.org/officeDocument/2006/relationships/slide" Target="/ppt/slides/slide5.xml" Id="Rc2dbdb65c315476e" /><Relationship Type="http://schemas.openxmlformats.org/officeDocument/2006/relationships/slide" Target="/ppt/slides/slide6.xml" Id="Rb11cda3735774f2e" /><Relationship Type="http://schemas.openxmlformats.org/officeDocument/2006/relationships/slide" Target="/ppt/slides/slide7.xml" Id="R1c1574185c5b420d" /><Relationship Type="http://schemas.openxmlformats.org/officeDocument/2006/relationships/slide" Target="/ppt/slides/slide8.xml" Id="Ra526612b7a3e4606" /><Relationship Type="http://schemas.openxmlformats.org/officeDocument/2006/relationships/slide" Target="/ppt/slides/slide9.xml" Id="R9b8c322490c84a02" /><Relationship Type="http://schemas.openxmlformats.org/officeDocument/2006/relationships/slide" Target="/ppt/slides/slide10.xml" Id="R4afcf251a6144e80" /><Relationship Type="http://schemas.openxmlformats.org/officeDocument/2006/relationships/slide" Target="/ppt/slides/slide11.xml" Id="Rb141c4702dc346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2c523451714a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f640f7bc304f9d" /><Relationship Type="http://schemas.openxmlformats.org/officeDocument/2006/relationships/notesMaster" Target="/ppt/notesMasters/notesMaster1.xml" Id="Rbbf84dcbdbcf48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aa820b1e7e4298" /><Relationship Type="http://schemas.openxmlformats.org/officeDocument/2006/relationships/notesMaster" Target="/ppt/notesMasters/notesMaster1.xml" Id="Rf80d61f531fb49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f47018cdb54670" /><Relationship Type="http://schemas.openxmlformats.org/officeDocument/2006/relationships/notesMaster" Target="/ppt/notesMasters/notesMaster1.xml" Id="Rbfa56084ae5e45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1136202f4a4852" /><Relationship Type="http://schemas.openxmlformats.org/officeDocument/2006/relationships/notesMaster" Target="/ppt/notesMasters/notesMaster1.xml" Id="Rddcf2fefa2284d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0eab42101244ec" /><Relationship Type="http://schemas.openxmlformats.org/officeDocument/2006/relationships/notesMaster" Target="/ppt/notesMasters/notesMaster1.xml" Id="Rfca5ad24a6664f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fe97f62b054f6e" /><Relationship Type="http://schemas.openxmlformats.org/officeDocument/2006/relationships/notesMaster" Target="/ppt/notesMasters/notesMaster1.xml" Id="Rc00ef82c06ee4d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efa08561914d17" /><Relationship Type="http://schemas.openxmlformats.org/officeDocument/2006/relationships/notesMaster" Target="/ppt/notesMasters/notesMaster1.xml" Id="Rcc2b2129196b49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37ae0823d942f4" /><Relationship Type="http://schemas.openxmlformats.org/officeDocument/2006/relationships/notesMaster" Target="/ppt/notesMasters/notesMaster1.xml" Id="R27675abb8e214d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240573d7f4479e" /><Relationship Type="http://schemas.openxmlformats.org/officeDocument/2006/relationships/notesMaster" Target="/ppt/notesMasters/notesMaster1.xml" Id="R00031365d7fc4a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904315d19741fb" /><Relationship Type="http://schemas.openxmlformats.org/officeDocument/2006/relationships/notesMaster" Target="/ppt/notesMasters/notesMaster1.xml" Id="Rcb045cfa0c8444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420c3197bf4644" /><Relationship Type="http://schemas.openxmlformats.org/officeDocument/2006/relationships/notesMaster" Target="/ppt/notesMasters/notesMaster1.xml" Id="Rde08974e35e045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Начните с одной фразы: JohnnyStore — учебный одностраничный интернет-магазин техники, собранный как цельный продукт. Сегодня я покажу не только интерфейс, но и то, как устроен пользовательский сценарий и кодовая база.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коротко обозначьте логику рассказа: сначала проблема и ценность, затем путь пользователя, потом техническая реализация и честный разговор о том, что уже готово и что логично делать дальше.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Главная мысль слайда: проект уже демонстрирует связный пользовательский опыт. Важно подчеркнуть, что локальные данные — осознанное ограничение учебного MVP, а productService оставляет точку замены на API.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Объясните ценность через четыре слоя: пользователь может найти товар, сузить выбор, принять решение и завершить покупку. Последняя карточка показывает, что проект учитывает не только визуальный слой, но и базовую доступность.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На этом слайде перечислите то, что можно показать в демо без дополнительных пояснений: каталог, checkout и состояния интерфейса. Отдельно скажите, что оплата учебная и не подключена к реальному платёжному провайдеру.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Расскажите об архитектуре сверху вниз: App задаёт маршруты, Layout собирает общую оболочку, Context-модули владеют состоянием, а productService скрывает источник данных. Это показывает, что структура проекта поддерживает дальнейшее расширение.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Проведите аудиторию по flow слева направо. Затем покажите, что каждому шагу соответствует понятный технический слой: маршруты, контексты, сервис данных и persistence в localStorage.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Это смысловой акцент презентации. Скажите: ценность JohnnyStore не в количестве экранов, а в том, что эти экраны работают вместе и ведут пользователя к понятному результату.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Здесь опирайтесь на цифры из исходного каталога: 42 позиции, шесть категорий. Важно честно обозначить ограничение: данные локальные, а оплата учебная. Это не скрывает ценность прототипа, а задаёт понятный план развития.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График показывает распределение каталога. Аксессуары дают самый широкий слой данных, а основные устройства распределены равномерно. Это хороший фундамент для будущего API, фильтров и аналитики ассортимента.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Финал: сформулируйте три следующих действия. Первое — подключить API через уже выделенный productService. Второе — добавить тесты для основных reducer и checkout-сценариев. Третье — вынести заказ и оплату в backend.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ce5ec682e643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cfdd8322042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db3cb0649443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35467c22b34d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32866ff8f4e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688965250401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50695948a432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5d2dbc619945b5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6c20bb6e694fd9" /><Relationship Type="http://schemas.openxmlformats.org/officeDocument/2006/relationships/slideLayout" Target="/ppt/slideLayouts/slideLayout1.xml" Id="Reaf3a010ce634519" /><Relationship Type="http://schemas.openxmlformats.org/officeDocument/2006/relationships/slideLayout" Target="/ppt/slideLayouts/slideLayout2.xml" Id="R74d3ef5ce7614807" /><Relationship Type="http://schemas.openxmlformats.org/officeDocument/2006/relationships/slideLayout" Target="/ppt/slideLayouts/slideLayout3.xml" Id="R3ebd2a16534c4824" /><Relationship Type="http://schemas.openxmlformats.org/officeDocument/2006/relationships/slideLayout" Target="/ppt/slideLayouts/slideLayout4.xml" Id="R95471eddd6c34ef2" /><Relationship Type="http://schemas.openxmlformats.org/officeDocument/2006/relationships/slideLayout" Target="/ppt/slideLayouts/slideLayout5.xml" Id="Rb8d457ac69d54bb0" /><Relationship Type="http://schemas.openxmlformats.org/officeDocument/2006/relationships/slideLayout" Target="/ppt/slideLayouts/slideLayout6.xml" Id="Ra8ea2948b80d48fb" /><Relationship Type="http://schemas.openxmlformats.org/officeDocument/2006/relationships/slideLayout" Target="/ppt/slideLayouts/slideLayout7.xml" Id="R479f2b56e463446d" /><Relationship Type="http://schemas.openxmlformats.org/officeDocument/2006/relationships/slideLayout" Target="/ppt/slideLayouts/slideLayout8.xml" Id="R4619988f24974bb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f3a010ce634519"/>
    <p:sldLayoutId xmlns:r="http://schemas.openxmlformats.org/officeDocument/2006/relationships" id="2147483650" r:id="R74d3ef5ce7614807"/>
    <p:sldLayoutId xmlns:r="http://schemas.openxmlformats.org/officeDocument/2006/relationships" id="2147483651" r:id="R3ebd2a16534c4824"/>
    <p:sldLayoutId xmlns:r="http://schemas.openxmlformats.org/officeDocument/2006/relationships" id="2147483652" r:id="R95471eddd6c34ef2"/>
    <p:sldLayoutId xmlns:r="http://schemas.openxmlformats.org/officeDocument/2006/relationships" id="2147483653" r:id="Rb8d457ac69d54bb0"/>
    <p:sldLayoutId xmlns:r="http://schemas.openxmlformats.org/officeDocument/2006/relationships" id="2147483654" r:id="Ra8ea2948b80d48fb"/>
    <p:sldLayoutId xmlns:r="http://schemas.openxmlformats.org/officeDocument/2006/relationships" id="2147483655" r:id="R479f2b56e463446d"/>
    <p:sldLayoutId xmlns:r="http://schemas.openxmlformats.org/officeDocument/2006/relationships" id="2147483656" r:id="R4619988f24974bb5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893dffe024bd0" /><Relationship Type="http://schemas.openxmlformats.org/officeDocument/2006/relationships/notesSlide" Target="/ppt/notesSlides/notesSlide1.xml" Id="R28f7619ab83547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6800306d4f463d" /><Relationship Type="http://schemas.openxmlformats.org/officeDocument/2006/relationships/notesSlide" Target="/ppt/notesSlides/notesSlide2.xml" Id="Rb041fc7effbd42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85344fc9404e5b" /><Relationship Type="http://schemas.openxmlformats.org/officeDocument/2006/relationships/notesSlide" Target="/ppt/notesSlides/notesSlide3.xml" Id="R9f0c58c744f241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88ea2793494041" /><Relationship Type="http://schemas.openxmlformats.org/officeDocument/2006/relationships/notesSlide" Target="/ppt/notesSlides/notesSlide4.xml" Id="R077a2e35513048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3e5936b59c4771" /><Relationship Type="http://schemas.openxmlformats.org/officeDocument/2006/relationships/notesSlide" Target="/ppt/notesSlides/notesSlide5.xml" Id="R49b3eaf2376343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6e88143f9742ed" /><Relationship Type="http://schemas.openxmlformats.org/officeDocument/2006/relationships/notesSlide" Target="/ppt/notesSlides/notesSlide6.xml" Id="Ra38b62fae86e42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e01b551a414166" /><Relationship Type="http://schemas.openxmlformats.org/officeDocument/2006/relationships/notesSlide" Target="/ppt/notesSlides/notesSlide7.xml" Id="Ra7a868a094ba4a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8ea041e3bc491f" /><Relationship Type="http://schemas.openxmlformats.org/officeDocument/2006/relationships/notesSlide" Target="/ppt/notesSlides/notesSlide8.xml" Id="R43030ee41ff740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3b0ba5e21147d1" /><Relationship Type="http://schemas.openxmlformats.org/officeDocument/2006/relationships/notesSlide" Target="/ppt/notesSlides/notesSlide9.xml" Id="R7420a168e6434e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2f828b1ad34df1" /><Relationship Type="http://schemas.openxmlformats.org/officeDocument/2006/relationships/notesSlide" Target="/ppt/notesSlides/notesSlide10.xml" Id="R1a471ddae99846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d1664b160243b1" /><Relationship Type="http://schemas.openxmlformats.org/officeDocument/2006/relationships/notesSlide" Target="/ppt/notesSlides/notesSlide11.xml" Id="R911b0699405a4196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DCEBFF"/>
            </a:gs>
            <a:gs pos="52000">
              <a:srgbClr val="EEF0FF"/>
            </a:gs>
            <a:gs pos="100000">
              <a:srgbClr val="F5E9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r>
              <a:rPr sz="5500">
                <a:solidFill>
                  <a:schemeClr val="accent1"/>
                </a:solidFill>
                <a:latin typeface="Inter"/>
                <a:ea typeface="Inter"/>
                <a:cs typeface="Inter"/>
              </a:rPr>
              <a:t>JohnnyStore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>
                <a:latin typeface="Inter"/>
                <a:ea typeface="Inter"/>
                <a:cs typeface="Inter"/>
              </a:defRPr>
            </a:pPr>
            <a:r>
              <a:rPr sz="1400">
                <a:solidFill>
                  <a:schemeClr val="accent2">
                    <a:lumMod val="50000"/>
                  </a:schemeClr>
                </a:solidFill>
                <a:latin typeface="Inter"/>
                <a:ea typeface="Inter"/>
                <a:cs typeface="Inter"/>
              </a:rPr>
              <a:t>Обзор продукта, пользовательского пути и архитектуры учебного e-commerce проекта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r>
              <a:rPr sz="1600" b="1">
                <a:solidFill>
                  <a:schemeClr val="accent1"/>
                </a:solidFill>
                <a:latin typeface="Inter"/>
                <a:ea typeface="Inter"/>
                <a:cs typeface="Inter"/>
              </a:rPr>
              <a:t>ОКТЯБРЬ 2026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r>
              <a:rPr sz="1800">
                <a:solidFill>
                  <a:schemeClr val="accent2">
                    <a:lumMod val="90000"/>
                  </a:schemeClr>
                </a:solidFill>
                <a:latin typeface="Inter"/>
                <a:ea typeface="Inter"/>
                <a:cs typeface="Inter"/>
              </a:rPr>
              <a:t>FRONTRAIN / JOHNNYSTORE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FF9A3A48-C53E-41BD-B917-57B26372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DCEBFF"/>
            </a:gs>
            <a:gs pos="52000">
              <a:srgbClr val="EEF0FF"/>
            </a:gs>
            <a:gs pos="100000">
              <a:srgbClr val="F5E9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fld id="{00000000-1234-1234-1234-123412341234}" type="slidenum">
              <a:rPr>
                <a:latin typeface="Inter"/>
                <a:ea typeface="Inter"/>
                <a:cs typeface="Inter"/>
              </a:rPr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9448800" cy="98580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r>
              <a:rPr>
                <a:latin typeface="Inter"/>
                <a:ea typeface="Inter"/>
                <a:cs typeface="Inter"/>
              </a:rPr>
              <a:t>JohnnyStore: обзор проекта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r>
              <a:rPr sz="1800">
                <a:solidFill>
                  <a:schemeClr val="accent1"/>
                </a:solidFill>
                <a:latin typeface="Inter"/>
                <a:ea typeface="Inter"/>
                <a:cs typeface="Inter"/>
              </a:rPr>
              <a:t>Содержание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12BDD3FA-8C6A-4298-81D6-63B9D2649940}"/>
              </a:ext>
            </a:extLst>
          </p:cNvPr>
          <p:cNvGraphicFramePr/>
          <p:nvPr/>
        </p:nvGraphicFramePr>
        <p:xfrm>
          <a:off xmlns:a="http://schemas.openxmlformats.org/drawingml/2006/main" x="393700" y="2573020"/>
          <a:ext xmlns:a="http://schemas.openxmlformats.org/drawingml/2006/main" cx="11404600" cy="35661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/>
                <a:gridCol w="6875813"/>
                <a:gridCol w="3901209"/>
              </a:tblGrid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Идея продукта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JohnnyStore как учебный e-commerce flow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Пользовательский путь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От каталога до подтверждения заказа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Архитектура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React, Router, Context API и слой данных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Текущий статус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42 товара, 6 категорий, полный основной сценарий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Следующие шаги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API, тесты и реальный backend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Демо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Ключевые решения и ограничения проекта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810BED8-CB43-D17C-4D24-32A4B0893D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60133703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DCEBFF"/>
            </a:gs>
            <a:gs pos="52000">
              <a:srgbClr val="EEF0FF"/>
            </a:gs>
            <a:gs pos="100000">
              <a:srgbClr val="F5E9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4A3BAC-0B15-4A0A-B780-C015C5E85EA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699" y="2812968"/>
            <a:ext cx="5537200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JohnnyStore уже выглядит как продукт, а не набор отдельных экранов.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D94420B-35FE-403C-94D6-9A35872B80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fld id="{0EB0D0D6-9F19-4EDB-1B7A-65BF181B1A1D}" type="slidenum">
              <a:rPr>
                <a:latin typeface="Inter"/>
                <a:ea typeface="Inter"/>
                <a:cs typeface="Inter"/>
              </a:rPr>
              <a:t>Зафиксировать следующий шаг: подключить API и backend, сохранив текущий интерфейс и сервисный слой.</a:t>
            </a:fld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111025"/>
            <a:ext cx="1844403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2000">
                <a:latin typeface="Inter"/>
                <a:ea typeface="Inter"/>
                <a:cs typeface="Inter"/>
              </a:rPr>
              <a:t>Текущий статус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826992"/>
            <a:ext cx="5537200" cy="10010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Сильная сторона проекта — связность: единое состояние каталога, корзины, избранного, сравнения и темы.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344035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2000">
                <a:latin typeface="Inter"/>
                <a:ea typeface="Inter"/>
                <a:cs typeface="Inter"/>
              </a:rPr>
              <a:t>Главный вывод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0" name="Title 2">
            <a:extLst xmlns:a="http://schemas.openxmlformats.org/drawingml/2006/main"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11403610" cy="6238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r>
              <a:rPr>
                <a:latin typeface="Inter"/>
                <a:ea typeface="Inter"/>
                <a:cs typeface="Inter"/>
              </a:rPr>
              <a:t>Проект собран как цельный shopping flow</a:t>
            </a:r>
          </a:p>
        </p:txBody>
      </p:sp>
      <p:sp>
        <p:nvSpPr>
          <p:cNvPr id="11" name="Subtitle 4">
            <a:extLst xmlns:a="http://schemas.openxmlformats.org/drawingml/2006/main"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r>
              <a:rPr sz="1800">
                <a:solidFill>
                  <a:schemeClr val="accent1"/>
                </a:solidFill>
                <a:latin typeface="Inter"/>
                <a:ea typeface="Inter"/>
                <a:cs typeface="Inter"/>
              </a:rPr>
              <a:t>Резюме проекта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1E93BF4A-0405-4855-A606-2F15D21A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39769"/>
            <a:ext cx="5537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867987"/>
            <a:ext cx="5537200" cy="1200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Lorem ipsum dolor sit </a:t>
            </a:r>
            <a:r>
              <a:rPr sz="1600">
                <a:latin typeface="Inter"/>
                <a:ea typeface="Inter"/>
                <a:cs typeface="Inter"/>
              </a:rPr>
              <a:t>amet</a:t>
            </a:r>
            <a:r>
              <a:rPr sz="1600">
                <a:latin typeface="Inter"/>
                <a:ea typeface="Inter"/>
                <a:cs typeface="Inter"/>
              </a:rPr>
              <a:t>, </a:t>
            </a:r>
            <a:r>
              <a:rPr sz="1600">
                <a:latin typeface="Inter"/>
                <a:ea typeface="Inter"/>
                <a:cs typeface="Inter"/>
              </a:rPr>
              <a:t>consectetur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adipiscing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elit</a:t>
            </a:r>
            <a:r>
              <a:rPr sz="1600">
                <a:latin typeface="Inter"/>
                <a:ea typeface="Inter"/>
                <a:cs typeface="Inter"/>
              </a:rPr>
              <a:t>. </a:t>
            </a:r>
            <a:r>
              <a:rPr sz="1600">
                <a:latin typeface="Inter"/>
                <a:ea typeface="Inter"/>
                <a:cs typeface="Inter"/>
              </a:rPr>
              <a:t>Pellentesque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ultricies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quam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ut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massa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luctus</a:t>
            </a:r>
            <a:r>
              <a:rPr sz="1600">
                <a:latin typeface="Inter"/>
                <a:ea typeface="Inter"/>
                <a:cs typeface="Inter"/>
              </a:rPr>
              <a:t> cursus. </a:t>
            </a:r>
            <a:r>
              <a:rPr sz="1600">
                <a:latin typeface="Inter"/>
                <a:ea typeface="Inter"/>
                <a:cs typeface="Inter"/>
              </a:rPr>
              <a:t>Nullam</a:t>
            </a:r>
            <a:r>
              <a:rPr sz="1600">
                <a:latin typeface="Inter"/>
                <a:ea typeface="Inter"/>
                <a:cs typeface="Inter"/>
              </a:rPr>
              <a:t> pharetra </a:t>
            </a:r>
            <a:r>
              <a:rPr sz="1600">
                <a:latin typeface="Inter"/>
                <a:ea typeface="Inter"/>
                <a:cs typeface="Inter"/>
              </a:rPr>
              <a:t>mauris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tortor</a:t>
            </a:r>
            <a:r>
              <a:rPr sz="1600">
                <a:latin typeface="Inter"/>
                <a:ea typeface="Inter"/>
                <a:cs typeface="Inter"/>
              </a:rPr>
              <a:t>. In hac </a:t>
            </a:r>
            <a:r>
              <a:rPr sz="1600">
                <a:latin typeface="Inter"/>
                <a:ea typeface="Inter"/>
                <a:cs typeface="Inter"/>
              </a:rPr>
              <a:t>habitasse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platea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dictumst</a:t>
            </a:r>
            <a:r>
              <a:rPr sz="1600">
                <a:latin typeface="Inter"/>
                <a:ea typeface="Inter"/>
                <a:cs typeface="Inter"/>
              </a:rPr>
              <a:t>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385030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2000">
                <a:latin typeface="Inter"/>
                <a:ea typeface="Inter"/>
                <a:cs typeface="Inter"/>
              </a:rPr>
              <a:t>Решение на следующий этап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499" y="2093356"/>
            <a:ext cx="2271780" cy="402442"/>
          </a:xfrm>
          <a:prstGeom xmlns:a="http://schemas.openxmlformats.org/drawingml/2006/main" prst="roundRect">
            <a:avLst>
              <a:gd name="adj" fmla="val 15738"/>
            </a:avLst>
          </a:prstGeom>
          <a:solidFill xmlns:a="http://schemas.openxmlformats.org/drawingml/2006/main">
            <a:schemeClr val="accent1">
              <a:alpha val="2464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ctr">
              <a:buNone/>
              <a:defRPr>
                <a:latin typeface="Inter"/>
                <a:ea typeface="Inter"/>
                <a:cs typeface="Inter"/>
              </a:defRPr>
            </a:pPr>
            <a:r>
              <a:rPr>
                <a:solidFill>
                  <a:schemeClr val="accent1"/>
                </a:solidFill>
                <a:latin typeface="Inter"/>
                <a:ea typeface="Inter"/>
                <a:cs typeface="Inter"/>
              </a:rPr>
              <a:t>Учебный MVP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4756098"/>
            <a:ext cx="5537199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Итог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51" y="5134071"/>
            <a:ext cx="5537200" cy="86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Lorem ipsum dolor sit </a:t>
            </a:r>
            <a:r>
              <a:rPr sz="1600">
                <a:latin typeface="Inter"/>
                <a:ea typeface="Inter"/>
                <a:cs typeface="Inter"/>
              </a:rPr>
              <a:t>amet</a:t>
            </a:r>
            <a:r>
              <a:rPr sz="1600">
                <a:latin typeface="Inter"/>
                <a:ea typeface="Inter"/>
                <a:cs typeface="Inter"/>
              </a:rPr>
              <a:t>, </a:t>
            </a:r>
            <a:r>
              <a:rPr sz="1600">
                <a:latin typeface="Inter"/>
                <a:ea typeface="Inter"/>
                <a:cs typeface="Inter"/>
              </a:rPr>
              <a:t>consectetur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adipiscing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elit</a:t>
            </a:r>
            <a:r>
              <a:rPr sz="1600">
                <a:latin typeface="Inter"/>
                <a:ea typeface="Inter"/>
                <a:cs typeface="Inter"/>
              </a:rPr>
              <a:t>. </a:t>
            </a:r>
            <a:r>
              <a:rPr sz="1600">
                <a:latin typeface="Inter"/>
                <a:ea typeface="Inter"/>
                <a:cs typeface="Inter"/>
              </a:rPr>
              <a:t>Pellentesque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ultricies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quam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ut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massa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luctus</a:t>
            </a:r>
            <a:r>
              <a:rPr sz="1600">
                <a:latin typeface="Inter"/>
                <a:ea typeface="Inter"/>
                <a:cs typeface="Inter"/>
              </a:rPr>
              <a:t> cursus.</a:t>
            </a:r>
          </a:p>
        </p:txBody>
      </p:sp>
    </p:spTree>
    <p:extLst>
      <p:ext uri="{BB962C8B-B14F-4D97-AF65-F5344CB8AC3E}">
        <p14:creationId xmlns:p14="http://schemas.microsoft.com/office/powerpoint/2010/main" val="221908589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DCEBFF"/>
            </a:gs>
            <a:gs pos="52000">
              <a:srgbClr val="EEF0FF"/>
            </a:gs>
            <a:gs pos="100000">
              <a:srgbClr val="F5E9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fld id="{00000000-1234-1234-1234-123412341234}" type="slidenum">
              <a:rPr>
                <a:latin typeface="Inter"/>
                <a:ea typeface="Inter"/>
                <a:cs typeface="Inter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r>
              <a:rPr>
                <a:solidFill>
                  <a:schemeClr val="accent1"/>
                </a:solidFill>
                <a:latin typeface="Inter"/>
                <a:ea typeface="Inter"/>
                <a:cs typeface="Inter"/>
              </a:rPr>
              <a:t>Ключевая ценность для пользователя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6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6 категорий техники и поиск без перезагрузки.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Один интерфейс закрывает выбор, сравнение, сохранение и покупку техники.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2000">
                <a:latin typeface="Inter"/>
                <a:ea typeface="Inter"/>
                <a:cs typeface="Inter"/>
              </a:rPr>
              <a:t>Lorem ipsum dolor sit </a:t>
            </a:r>
            <a:r>
              <a:rPr sz="2000">
                <a:latin typeface="Inter"/>
                <a:ea typeface="Inter"/>
                <a:cs typeface="Inter"/>
              </a:rPr>
              <a:t>amet</a:t>
            </a:r>
            <a:r>
              <a:rPr sz="2000">
                <a:latin typeface="Inter"/>
                <a:ea typeface="Inter"/>
                <a:cs typeface="Inter"/>
              </a:rPr>
              <a:t>, </a:t>
            </a:r>
            <a:r>
              <a:rPr sz="2000">
                <a:latin typeface="Inter"/>
                <a:ea typeface="Inter"/>
                <a:cs typeface="Inter"/>
              </a:rPr>
              <a:t>consectetur</a:t>
            </a:r>
            <a:r>
              <a:rPr sz="2000">
                <a:latin typeface="Inter"/>
                <a:ea typeface="Inter"/>
                <a:cs typeface="Inter"/>
              </a:rPr>
              <a:t> </a:t>
            </a:r>
            <a:r>
              <a:rPr sz="2000">
                <a:latin typeface="Inter"/>
                <a:ea typeface="Inter"/>
                <a:cs typeface="Inter"/>
              </a:rPr>
              <a:t>adipiscing</a:t>
            </a:r>
            <a:r>
              <a:rPr sz="2000">
                <a:latin typeface="Inter"/>
                <a:ea typeface="Inter"/>
                <a:cs typeface="Inter"/>
              </a:rPr>
              <a:t> </a:t>
            </a:r>
            <a:r>
              <a:rPr sz="2000">
                <a:latin typeface="Inter"/>
                <a:ea typeface="Inter"/>
                <a:cs typeface="Inter"/>
              </a:rPr>
              <a:t>elit</a:t>
            </a:r>
            <a:r>
              <a:rPr sz="2000">
                <a:latin typeface="Inter"/>
                <a:ea typeface="Inter"/>
                <a:cs typeface="Inter"/>
              </a:rPr>
              <a:t>. 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Каталог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6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Категория, цена, бренд, наличие и сортировка.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Фильтры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6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Корзина, валидация checkout и подтверждение заказа.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Покупка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6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Адаптивность, keyboard focus и reduced motion.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Доступность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DCEBFF"/>
            </a:gs>
            <a:gs pos="52000">
              <a:srgbClr val="EEF0FF"/>
            </a:gs>
            <a:gs pos="100000">
              <a:srgbClr val="F5E9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fld id="{00000000-1234-1234-1234-123412341234}" type="slidenum">
              <a:rPr>
                <a:latin typeface="Inter"/>
                <a:ea typeface="Inter"/>
                <a:cs typeface="Inter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r>
              <a:rPr>
                <a:solidFill>
                  <a:schemeClr val="accent1"/>
                </a:solidFill>
                <a:latin typeface="Inter"/>
                <a:ea typeface="Inter"/>
                <a:cs typeface="Inter"/>
              </a:rPr>
              <a:t>Что уже реализовано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55372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Функциональность собрана вокруг реального пути покупателя, а не вокруг отдельных компонентов.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3666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2000">
                <a:latin typeface="Inter"/>
                <a:ea typeface="Inter"/>
                <a:cs typeface="Inter"/>
              </a:rPr>
              <a:t>Функциональность собрана вокруг реального пути покупателя, а не вокруг отдельных компонентов.</a:t>
            </a:r>
          </a:p>
        </p:txBody>
      </p:sp>
      <p:sp>
        <p:nvSpPr>
          <p:cNvPr id="2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218425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4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Поиск, фильтры, сортировка, категории и карточки товаров.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181325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Каталог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152193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369301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4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Валидация формы, доставка, оплата и учебный номер заказа.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332201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Checkout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303069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5" y="520177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4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Skeleton Loader, Error, Empty, 404, темы и mobile navigation.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4" y="483077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Состояния интерфейса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3" y="453945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DCEBFF"/>
            </a:gs>
            <a:gs pos="52000">
              <a:srgbClr val="EEF0FF"/>
            </a:gs>
            <a:gs pos="100000">
              <a:srgbClr val="F5E9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fld id="{00000000-1234-1234-1234-123412341234}" type="slidenum">
              <a:rPr>
                <a:latin typeface="Inter"/>
                <a:ea typeface="Inter"/>
                <a:cs typeface="Inter"/>
              </a:rPr>
              <a:t>6</a:t>
            </a:fld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solidFill>
                  <a:schemeClr val="accent1"/>
                </a:solidFill>
                <a:latin typeface="Inter"/>
                <a:ea typeface="Inter"/>
                <a:cs typeface="Inter"/>
              </a:rPr>
              <a:t>Context API + useReducer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solidFill>
                  <a:schemeClr val="accent1"/>
                </a:solidFill>
                <a:latin typeface="Inter"/>
                <a:ea typeface="Inter"/>
                <a:cs typeface="Inter"/>
              </a:rPr>
              <a:t>Корзина, каталог, избранное, сравнение и тема живут отдельно.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solidFill>
                  <a:schemeClr val="accent1"/>
                </a:solidFill>
                <a:latin typeface="Inter"/>
                <a:ea typeface="Inter"/>
                <a:cs typeface="Inter"/>
              </a:rPr>
              <a:t>productService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Локальный JSON изолирован от компонентов и готов к замене на API.</a:t>
            </a:r>
            <a:endParaRPr sz="1600"/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55665"/>
          </a:xfrm>
        </p:spPr>
        <p:txBody>
          <a:bodyPr xmlns:a="http://schemas.openxmlformats.org/drawingml/2006/main"/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r>
              <a:rPr>
                <a:solidFill>
                  <a:schemeClr val="accent1"/>
                </a:solidFill>
                <a:latin typeface="Inter"/>
                <a:ea typeface="Inter"/>
                <a:cs typeface="Inter"/>
              </a:rPr>
              <a:t>Архитектура продукта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solidFill>
                  <a:schemeClr val="accent1"/>
                </a:solidFill>
                <a:latin typeface="Inter"/>
                <a:ea typeface="Inter"/>
                <a:cs typeface="Inter"/>
              </a:rPr>
              <a:t>React + Router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Страницы и маршрутизация собраны вокруг единого Layout.</a:t>
            </a:r>
            <a:endParaRPr sz="1600"/>
          </a:p>
        </p:txBody>
      </p:sp>
      <p:sp>
        <p:nvSpPr>
          <p:cNvPr id="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820543"/>
            <a:ext cx="11404600" cy="1326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Такой разрез упрощает развитие проекта и подключение backend без переписывания страниц.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31801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2000">
                <a:latin typeface="Inter"/>
                <a:ea typeface="Inter"/>
                <a:cs typeface="Inter"/>
              </a:rPr>
              <a:t>Lorem ipsum dolor sit </a:t>
            </a:r>
            <a:r>
              <a:rPr sz="2000">
                <a:latin typeface="Inter"/>
                <a:ea typeface="Inter"/>
                <a:cs typeface="Inter"/>
              </a:rPr>
              <a:t>amet</a:t>
            </a:r>
            <a:r>
              <a:rPr sz="2000">
                <a:latin typeface="Inter"/>
                <a:ea typeface="Inter"/>
                <a:cs typeface="Inter"/>
              </a:rPr>
              <a:t>, </a:t>
            </a:r>
            <a:r>
              <a:rPr sz="2000">
                <a:latin typeface="Inter"/>
                <a:ea typeface="Inter"/>
                <a:cs typeface="Inter"/>
              </a:rPr>
              <a:t>consectetur</a:t>
            </a:r>
            <a:r>
              <a:rPr sz="2000">
                <a:latin typeface="Inter"/>
                <a:ea typeface="Inter"/>
                <a:cs typeface="Inter"/>
              </a:rPr>
              <a:t> </a:t>
            </a:r>
            <a:r>
              <a:rPr sz="2000">
                <a:latin typeface="Inter"/>
                <a:ea typeface="Inter"/>
                <a:cs typeface="Inter"/>
              </a:rPr>
              <a:t>adipiscing</a:t>
            </a:r>
            <a:r>
              <a:rPr sz="2000">
                <a:latin typeface="Inter"/>
                <a:ea typeface="Inter"/>
                <a:cs typeface="Inter"/>
              </a:rPr>
              <a:t> </a:t>
            </a:r>
            <a:r>
              <a:rPr sz="2000">
                <a:latin typeface="Inter"/>
                <a:ea typeface="Inter"/>
                <a:cs typeface="Inter"/>
              </a:rPr>
              <a:t>elit</a:t>
            </a:r>
            <a:r>
              <a:rPr sz="2000">
                <a:latin typeface="Inter"/>
                <a:ea typeface="Inter"/>
                <a:cs typeface="Inter"/>
              </a:rPr>
              <a:t>. </a:t>
            </a:r>
            <a:endParaRPr sz="2000"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DCEBFF"/>
            </a:gs>
            <a:gs pos="52000">
              <a:srgbClr val="EEF0FF"/>
            </a:gs>
            <a:gs pos="100000">
              <a:srgbClr val="F5E9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400">
                <a:latin typeface="Inter"/>
                <a:ea typeface="Inter"/>
                <a:cs typeface="Inter"/>
              </a:rPr>
              <a:t>1. Найти товар через категории, поиск и фильтры.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400">
                <a:latin typeface="Inter"/>
                <a:ea typeface="Inter"/>
                <a:cs typeface="Inter"/>
              </a:rPr>
              <a:t>2. Открыть карточку и добавить в корзину или сравнение.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400">
                <a:latin typeface="Inter"/>
                <a:ea typeface="Inter"/>
                <a:cs typeface="Inter"/>
              </a:rPr>
              <a:t>3. Проверить заказ и пройти валидацию checkout.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1400">
                <a:latin typeface="Inter"/>
                <a:ea typeface="Inter"/>
                <a:cs typeface="Inter"/>
              </a:rPr>
              <a:t>4. Получить учебный номер заказа и очистить корзину.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fld id="{42D94613-2318-AF8E-5E44-A9368AF45A21}" type="slidenum">
              <a:rPr>
                <a:latin typeface="Inter"/>
                <a:ea typeface="Inter"/>
                <a:cs typeface="Inter"/>
              </a:rPr>
              <a:t>• React + Vite + React Router</a:t>
            </a:fld>
            <a:endParaRPr/>
          </a:p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fld id="{DB66ABA5-BEC9-1EDD-5E03-0EF99B631C08}" type="slidenum">
              <a:rPr>
                <a:latin typeface="Inter"/>
                <a:ea typeface="Inter"/>
                <a:cs typeface="Inter"/>
              </a:rPr>
              <a:t>• Context API и useReducer</a:t>
            </a:fld>
            <a:endParaRPr/>
          </a:p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fld id="{44618FFC-A248-6F9D-0559-42BF5226347E}" type="slidenum">
              <a:rPr>
                <a:latin typeface="Inter"/>
                <a:ea typeface="Inter"/>
                <a:cs typeface="Inter"/>
              </a:rPr>
              <a:t>• Fetch API через productService</a:t>
            </a:fld>
            <a:endParaRPr/>
          </a:p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fld id="{2A482979-3790-306B-CD2F-108ABEF4CA98}" type="slidenum">
              <a:rPr>
                <a:latin typeface="Inter"/>
                <a:ea typeface="Inter"/>
                <a:cs typeface="Inter"/>
              </a:rPr>
              <a:t>• localStorage для cart, favorites и theme</a:t>
            </a:fld>
            <a:endParaRPr/>
          </a:p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fld id="{5023409B-3904-89AB-E7BD-D1939C33297F}" type="slidenum">
              <a:rPr>
                <a:latin typeface="Inter"/>
                <a:ea typeface="Inter"/>
                <a:cs typeface="Inter"/>
              </a:rPr>
              <a:t>• CSS media queries для desktop, tablet и mobile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r>
              <a:rPr>
                <a:solidFill>
                  <a:schemeClr val="accent1"/>
                </a:solidFill>
                <a:latin typeface="Inter"/>
                <a:ea typeface="Inter"/>
                <a:cs typeface="Inter"/>
              </a:rPr>
              <a:t>Пользовательский путь и техническая реализация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400">
                <a:latin typeface="Inter"/>
                <a:ea typeface="Inter"/>
                <a:cs typeface="Inter"/>
              </a:rPr>
              <a:t>Lorem ipsum dolor sit </a:t>
            </a:r>
            <a:r>
              <a:rPr sz="1400">
                <a:latin typeface="Inter"/>
                <a:ea typeface="Inter"/>
                <a:cs typeface="Inter"/>
              </a:rPr>
              <a:t>amet</a:t>
            </a:r>
            <a:r>
              <a:rPr sz="1400">
                <a:latin typeface="Inter"/>
                <a:ea typeface="Inter"/>
                <a:cs typeface="Inter"/>
              </a:rPr>
              <a:t>, </a:t>
            </a:r>
            <a:r>
              <a:rPr sz="1400">
                <a:latin typeface="Inter"/>
                <a:ea typeface="Inter"/>
                <a:cs typeface="Inter"/>
              </a:rPr>
              <a:t>consectetur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adipiscing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elit</a:t>
            </a:r>
            <a:r>
              <a:rPr sz="1400">
                <a:latin typeface="Inter"/>
                <a:ea typeface="Inter"/>
                <a:cs typeface="Inter"/>
              </a:rPr>
              <a:t>. </a:t>
            </a:r>
            <a:r>
              <a:rPr sz="1400">
                <a:latin typeface="Inter"/>
                <a:ea typeface="Inter"/>
                <a:cs typeface="Inter"/>
              </a:rPr>
              <a:t>Pellentesque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ultricies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quam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ut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massa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luctus</a:t>
            </a:r>
            <a:r>
              <a:rPr sz="1400">
                <a:latin typeface="Inter"/>
                <a:ea typeface="Inter"/>
                <a:cs typeface="Inter"/>
              </a:rPr>
              <a:t> cursus. </a:t>
            </a:r>
            <a:r>
              <a:rPr sz="1400">
                <a:latin typeface="Inter"/>
                <a:ea typeface="Inter"/>
                <a:cs typeface="Inter"/>
              </a:rPr>
              <a:t>Nullam</a:t>
            </a:r>
            <a:r>
              <a:rPr sz="1400">
                <a:latin typeface="Inter"/>
                <a:ea typeface="Inter"/>
                <a:cs typeface="Inter"/>
              </a:rPr>
              <a:t> pharetra </a:t>
            </a:r>
            <a:r>
              <a:rPr sz="1400">
                <a:latin typeface="Inter"/>
                <a:ea typeface="Inter"/>
                <a:cs typeface="Inter"/>
              </a:rPr>
              <a:t>mauris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tortor</a:t>
            </a:r>
            <a:r>
              <a:rPr sz="1400">
                <a:latin typeface="Inter"/>
                <a:ea typeface="Inter"/>
                <a:cs typeface="Inter"/>
              </a:rPr>
              <a:t>. In hac </a:t>
            </a:r>
            <a:r>
              <a:rPr sz="1400">
                <a:latin typeface="Inter"/>
                <a:ea typeface="Inter"/>
                <a:cs typeface="Inter"/>
              </a:rPr>
              <a:t>habitasse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platea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dictumst</a:t>
            </a:r>
            <a:r>
              <a:rPr sz="1400">
                <a:latin typeface="Inter"/>
                <a:ea typeface="Inter"/>
                <a:cs typeface="Inter"/>
              </a:rPr>
              <a:t>. Proin </a:t>
            </a:r>
            <a:r>
              <a:rPr sz="1400">
                <a:latin typeface="Inter"/>
                <a:ea typeface="Inter"/>
                <a:cs typeface="Inter"/>
              </a:rPr>
              <a:t>mattis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nibh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risus</a:t>
            </a:r>
            <a:r>
              <a:rPr sz="1400">
                <a:latin typeface="Inter"/>
                <a:ea typeface="Inter"/>
                <a:cs typeface="Inter"/>
              </a:rPr>
              <a:t>. </a:t>
            </a:r>
            <a:r>
              <a:rPr sz="1400">
                <a:latin typeface="Inter"/>
                <a:ea typeface="Inter"/>
                <a:cs typeface="Inter"/>
              </a:rPr>
              <a:t>Nulla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tempor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ut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massa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elementum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dapibus</a:t>
            </a:r>
            <a:r>
              <a:rPr sz="1400">
                <a:latin typeface="Inter"/>
                <a:ea typeface="Inter"/>
                <a:cs typeface="Inter"/>
              </a:rPr>
              <a:t>. Nam non ante quis </a:t>
            </a:r>
            <a:r>
              <a:rPr sz="1400">
                <a:latin typeface="Inter"/>
                <a:ea typeface="Inter"/>
                <a:cs typeface="Inter"/>
              </a:rPr>
              <a:t>enim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fringilla</a:t>
            </a:r>
            <a:r>
              <a:rPr sz="1400">
                <a:latin typeface="Inter"/>
                <a:ea typeface="Inter"/>
                <a:cs typeface="Inter"/>
              </a:rPr>
              <a:t> tempus nec in </a:t>
            </a:r>
            <a:r>
              <a:rPr sz="1400">
                <a:latin typeface="Inter"/>
                <a:ea typeface="Inter"/>
                <a:cs typeface="Inter"/>
              </a:rPr>
              <a:t>lectus</a:t>
            </a:r>
            <a:r>
              <a:rPr sz="1400">
                <a:latin typeface="Inter"/>
                <a:ea typeface="Inter"/>
                <a:cs typeface="Inter"/>
              </a:rPr>
              <a:t>. In hac </a:t>
            </a:r>
            <a:r>
              <a:rPr sz="1400">
                <a:latin typeface="Inter"/>
                <a:ea typeface="Inter"/>
                <a:cs typeface="Inter"/>
              </a:rPr>
              <a:t>habitasse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platea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dictumst</a:t>
            </a:r>
            <a:r>
              <a:rPr sz="1400">
                <a:latin typeface="Inter"/>
                <a:ea typeface="Inter"/>
                <a:cs typeface="Inter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400">
                <a:latin typeface="Inter"/>
                <a:ea typeface="Inter"/>
                <a:cs typeface="Inter"/>
              </a:rPr>
              <a:t>Lorem ipsum dolor sit </a:t>
            </a:r>
            <a:r>
              <a:rPr sz="1400">
                <a:latin typeface="Inter"/>
                <a:ea typeface="Inter"/>
                <a:cs typeface="Inter"/>
              </a:rPr>
              <a:t>amet</a:t>
            </a:r>
            <a:r>
              <a:rPr sz="1400">
                <a:latin typeface="Inter"/>
                <a:ea typeface="Inter"/>
                <a:cs typeface="Inter"/>
              </a:rPr>
              <a:t>, </a:t>
            </a:r>
            <a:r>
              <a:rPr sz="1400">
                <a:latin typeface="Inter"/>
                <a:ea typeface="Inter"/>
                <a:cs typeface="Inter"/>
              </a:rPr>
              <a:t>consectetur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adipiscing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elit</a:t>
            </a:r>
            <a:r>
              <a:rPr sz="1400">
                <a:latin typeface="Inter"/>
                <a:ea typeface="Inter"/>
                <a:cs typeface="Inter"/>
              </a:rPr>
              <a:t>. </a:t>
            </a:r>
            <a:r>
              <a:rPr sz="1400">
                <a:latin typeface="Inter"/>
                <a:ea typeface="Inter"/>
                <a:cs typeface="Inter"/>
              </a:rPr>
              <a:t>Pellentesque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ultricies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quam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ut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massa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luctus</a:t>
            </a:r>
            <a:r>
              <a:rPr sz="1400">
                <a:latin typeface="Inter"/>
                <a:ea typeface="Inter"/>
                <a:cs typeface="Inter"/>
              </a:rPr>
              <a:t> cursus. </a:t>
            </a:r>
            <a:r>
              <a:rPr sz="1400">
                <a:latin typeface="Inter"/>
                <a:ea typeface="Inter"/>
                <a:cs typeface="Inter"/>
              </a:rPr>
              <a:t>Nullam</a:t>
            </a:r>
            <a:r>
              <a:rPr sz="1400">
                <a:latin typeface="Inter"/>
                <a:ea typeface="Inter"/>
                <a:cs typeface="Inter"/>
              </a:rPr>
              <a:t> pharetra </a:t>
            </a:r>
            <a:r>
              <a:rPr sz="1400">
                <a:latin typeface="Inter"/>
                <a:ea typeface="Inter"/>
                <a:cs typeface="Inter"/>
              </a:rPr>
              <a:t>mauris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tortor</a:t>
            </a:r>
            <a:r>
              <a:rPr sz="1400">
                <a:latin typeface="Inter"/>
                <a:ea typeface="Inter"/>
                <a:cs typeface="Inter"/>
              </a:rPr>
              <a:t>. In hac </a:t>
            </a:r>
            <a:r>
              <a:rPr sz="1400">
                <a:latin typeface="Inter"/>
                <a:ea typeface="Inter"/>
                <a:cs typeface="Inter"/>
              </a:rPr>
              <a:t>habitasse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platea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dictumst</a:t>
            </a:r>
            <a:r>
              <a:rPr sz="1400">
                <a:latin typeface="Inter"/>
                <a:ea typeface="Inter"/>
                <a:cs typeface="Inter"/>
              </a:rPr>
              <a:t>. Proin </a:t>
            </a:r>
            <a:r>
              <a:rPr sz="1400">
                <a:latin typeface="Inter"/>
                <a:ea typeface="Inter"/>
                <a:cs typeface="Inter"/>
              </a:rPr>
              <a:t>mattis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nibh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risus</a:t>
            </a:r>
            <a:r>
              <a:rPr sz="1400">
                <a:latin typeface="Inter"/>
                <a:ea typeface="Inter"/>
                <a:cs typeface="Inter"/>
              </a:rPr>
              <a:t>. </a:t>
            </a:r>
            <a:r>
              <a:rPr sz="1400">
                <a:latin typeface="Inter"/>
                <a:ea typeface="Inter"/>
                <a:cs typeface="Inter"/>
              </a:rPr>
              <a:t>Nulla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tempor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ut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massa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elementum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dapibus</a:t>
            </a:r>
            <a:r>
              <a:rPr sz="1400">
                <a:latin typeface="Inter"/>
                <a:ea typeface="Inter"/>
                <a:cs typeface="Inter"/>
              </a:rPr>
              <a:t>. Nam non ante quis </a:t>
            </a:r>
            <a:r>
              <a:rPr sz="1400">
                <a:latin typeface="Inter"/>
                <a:ea typeface="Inter"/>
                <a:cs typeface="Inter"/>
              </a:rPr>
              <a:t>enim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fringilla</a:t>
            </a:r>
            <a:r>
              <a:rPr sz="1400">
                <a:latin typeface="Inter"/>
                <a:ea typeface="Inter"/>
                <a:cs typeface="Inter"/>
              </a:rPr>
              <a:t> tempus nec in </a:t>
            </a:r>
            <a:r>
              <a:rPr sz="1400">
                <a:latin typeface="Inter"/>
                <a:ea typeface="Inter"/>
                <a:cs typeface="Inter"/>
              </a:rPr>
              <a:t>lectus</a:t>
            </a:r>
            <a:r>
              <a:rPr sz="1400">
                <a:latin typeface="Inter"/>
                <a:ea typeface="Inter"/>
                <a:cs typeface="Inter"/>
              </a:rPr>
              <a:t>. In hac </a:t>
            </a:r>
            <a:r>
              <a:rPr sz="1400">
                <a:latin typeface="Inter"/>
                <a:ea typeface="Inter"/>
                <a:cs typeface="Inter"/>
              </a:rPr>
              <a:t>habitasse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platea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dictumst</a:t>
            </a:r>
            <a:r>
              <a:rPr sz="1400">
                <a:latin typeface="Inter"/>
                <a:ea typeface="Inter"/>
                <a:cs typeface="Inter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400">
                <a:latin typeface="Inter"/>
                <a:ea typeface="Inter"/>
                <a:cs typeface="Inter"/>
              </a:rPr>
              <a:t>Lorem ipsum dolor sit </a:t>
            </a:r>
            <a:r>
              <a:rPr sz="1400">
                <a:latin typeface="Inter"/>
                <a:ea typeface="Inter"/>
                <a:cs typeface="Inter"/>
              </a:rPr>
              <a:t>amet</a:t>
            </a:r>
            <a:r>
              <a:rPr sz="1400">
                <a:latin typeface="Inter"/>
                <a:ea typeface="Inter"/>
                <a:cs typeface="Inter"/>
              </a:rPr>
              <a:t>, </a:t>
            </a:r>
            <a:r>
              <a:rPr sz="1400">
                <a:latin typeface="Inter"/>
                <a:ea typeface="Inter"/>
                <a:cs typeface="Inter"/>
              </a:rPr>
              <a:t>consectetur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adipiscing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elit</a:t>
            </a:r>
            <a:r>
              <a:rPr sz="1400">
                <a:latin typeface="Inter"/>
                <a:ea typeface="Inter"/>
                <a:cs typeface="Inter"/>
              </a:rPr>
              <a:t>. </a:t>
            </a:r>
            <a:r>
              <a:rPr sz="1400">
                <a:latin typeface="Inter"/>
                <a:ea typeface="Inter"/>
                <a:cs typeface="Inter"/>
              </a:rPr>
              <a:t>Pellentesque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ultricies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quam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ut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massa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luctus</a:t>
            </a:r>
            <a:r>
              <a:rPr sz="1400">
                <a:latin typeface="Inter"/>
                <a:ea typeface="Inter"/>
                <a:cs typeface="Inter"/>
              </a:rPr>
              <a:t> cursus. </a:t>
            </a:r>
            <a:r>
              <a:rPr sz="1400">
                <a:latin typeface="Inter"/>
                <a:ea typeface="Inter"/>
                <a:cs typeface="Inter"/>
              </a:rPr>
              <a:t>Nullam</a:t>
            </a:r>
            <a:r>
              <a:rPr sz="1400">
                <a:latin typeface="Inter"/>
                <a:ea typeface="Inter"/>
                <a:cs typeface="Inter"/>
              </a:rPr>
              <a:t> pharetra </a:t>
            </a:r>
            <a:r>
              <a:rPr sz="1400">
                <a:latin typeface="Inter"/>
                <a:ea typeface="Inter"/>
                <a:cs typeface="Inter"/>
              </a:rPr>
              <a:t>mauris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tortor</a:t>
            </a:r>
            <a:r>
              <a:rPr sz="1400">
                <a:latin typeface="Inter"/>
                <a:ea typeface="Inter"/>
                <a:cs typeface="Inter"/>
              </a:rPr>
              <a:t>. In hac </a:t>
            </a:r>
            <a:r>
              <a:rPr sz="1400">
                <a:latin typeface="Inter"/>
                <a:ea typeface="Inter"/>
                <a:cs typeface="Inter"/>
              </a:rPr>
              <a:t>habitasse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platea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dictumst</a:t>
            </a:r>
            <a:r>
              <a:rPr sz="1400">
                <a:latin typeface="Inter"/>
                <a:ea typeface="Inter"/>
                <a:cs typeface="Inter"/>
              </a:rPr>
              <a:t>. Proin </a:t>
            </a:r>
            <a:r>
              <a:rPr sz="1400">
                <a:latin typeface="Inter"/>
                <a:ea typeface="Inter"/>
                <a:cs typeface="Inter"/>
              </a:rPr>
              <a:t>mattis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nibh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risus</a:t>
            </a:r>
            <a:r>
              <a:rPr sz="1400">
                <a:latin typeface="Inter"/>
                <a:ea typeface="Inter"/>
                <a:cs typeface="Inter"/>
              </a:rPr>
              <a:t>. </a:t>
            </a:r>
            <a:r>
              <a:rPr sz="1400">
                <a:latin typeface="Inter"/>
                <a:ea typeface="Inter"/>
                <a:cs typeface="Inter"/>
              </a:rPr>
              <a:t>Nulla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tempor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ut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massa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elementum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dapibus</a:t>
            </a:r>
            <a:r>
              <a:rPr sz="1400">
                <a:latin typeface="Inter"/>
                <a:ea typeface="Inter"/>
                <a:cs typeface="Inter"/>
              </a:rPr>
              <a:t>. Nam non ante quis </a:t>
            </a:r>
            <a:r>
              <a:rPr sz="1400">
                <a:latin typeface="Inter"/>
                <a:ea typeface="Inter"/>
                <a:cs typeface="Inter"/>
              </a:rPr>
              <a:t>enim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fringilla</a:t>
            </a:r>
            <a:r>
              <a:rPr sz="1400">
                <a:latin typeface="Inter"/>
                <a:ea typeface="Inter"/>
                <a:cs typeface="Inter"/>
              </a:rPr>
              <a:t> tempus nec in </a:t>
            </a:r>
            <a:r>
              <a:rPr sz="1400">
                <a:latin typeface="Inter"/>
                <a:ea typeface="Inter"/>
                <a:cs typeface="Inter"/>
              </a:rPr>
              <a:t>lectus</a:t>
            </a:r>
            <a:r>
              <a:rPr sz="1400">
                <a:latin typeface="Inter"/>
                <a:ea typeface="Inter"/>
                <a:cs typeface="Inter"/>
              </a:rPr>
              <a:t>. In hac </a:t>
            </a:r>
            <a:r>
              <a:rPr sz="1400">
                <a:latin typeface="Inter"/>
                <a:ea typeface="Inter"/>
                <a:cs typeface="Inter"/>
              </a:rPr>
              <a:t>habitasse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platea</a:t>
            </a:r>
            <a:r>
              <a:rPr sz="1400">
                <a:latin typeface="Inter"/>
                <a:ea typeface="Inter"/>
                <a:cs typeface="Inter"/>
              </a:rPr>
              <a:t> </a:t>
            </a:r>
            <a:r>
              <a:rPr sz="1400">
                <a:latin typeface="Inter"/>
                <a:ea typeface="Inter"/>
                <a:cs typeface="Inter"/>
              </a:rPr>
              <a:t>dictumst</a:t>
            </a:r>
            <a:r>
              <a:rPr sz="1400">
                <a:latin typeface="Inter"/>
                <a:ea typeface="Inter"/>
                <a:cs typeface="Inter"/>
              </a:rPr>
              <a:t>. 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2000">
                <a:latin typeface="Inter"/>
                <a:ea typeface="Inter"/>
                <a:cs typeface="Inter"/>
              </a:rPr>
              <a:t>Главный flow: главная → каталог → товар → корзина → checkout → подтверждение.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DCEBFF"/>
            </a:gs>
            <a:gs pos="52000">
              <a:srgbClr val="EEF0FF"/>
            </a:gs>
            <a:gs pos="100000">
              <a:srgbClr val="F5E9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fld id="{00000000-1234-1234-1234-123412341234}" type="slidenum">
              <a:rPr>
                <a:latin typeface="Inter"/>
                <a:ea typeface="Inter"/>
                <a:cs typeface="Inter"/>
              </a:rPr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1170935"/>
            <a:ext cx="11404600" cy="17979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ctr">
              <a:buNone/>
              <a:defRPr>
                <a:latin typeface="Inter"/>
                <a:ea typeface="Inter"/>
                <a:cs typeface="Inter"/>
              </a:defRPr>
            </a:pPr>
            <a:r>
              <a:rPr sz="4200">
                <a:solidFill>
                  <a:schemeClr val="accent1"/>
                </a:solidFill>
                <a:latin typeface="Inter"/>
                <a:ea typeface="Inter"/>
                <a:cs typeface="Inter"/>
              </a:rPr>
              <a:t>Учебный проект собран как настоящий e-commerce experience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AEFF86C5-A7D2-315F-C644-70488B8E4B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677" y="3297710"/>
            <a:ext cx="7092645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В нём есть не только витрина, но и полный пользовательский сценарий: поиск, выбор, сравнение, покупка и подтверждение.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DCEBFF"/>
            </a:gs>
            <a:gs pos="52000">
              <a:srgbClr val="EEF0FF"/>
            </a:gs>
            <a:gs pos="100000">
              <a:srgbClr val="F5E9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fld id="{00000000-1234-1234-1234-123412341234}" type="slidenum">
              <a:rPr>
                <a:latin typeface="Inter"/>
                <a:ea typeface="Inter"/>
                <a:cs typeface="Inter"/>
              </a:rPr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r>
              <a:rPr>
                <a:solidFill>
                  <a:schemeClr val="accent1"/>
                </a:solidFill>
                <a:latin typeface="Inter"/>
                <a:ea typeface="Inter"/>
                <a:cs typeface="Inter"/>
              </a:rPr>
              <a:t>Каталог и покрытие сценариев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2" name="Google Shape;644;p93">
            <a:extLst xmlns:a="http://schemas.openxmlformats.org/drawingml/2006/main">
              <a:ext uri="{FF2B5EF4-FFF2-40B4-BE49-F238E27FC236}">
                <a16:creationId xmlns:a16="http://schemas.microsoft.com/office/drawing/2014/main" id="{95EA389A-1C46-4080-8A4B-690E1800E590}"/>
              </a:ext>
            </a:extLst>
          </p:cNvPr>
          <p:cNvGraphicFramePr/>
          <p:nvPr/>
        </p:nvGraphicFramePr>
        <p:xfrm>
          <a:off xmlns:a="http://schemas.openxmlformats.org/drawingml/2006/main" x="4752785" y="1549337"/>
          <a:ext xmlns:a="http://schemas.openxmlformats.org/drawingml/2006/main" cx="6777990" cy="40957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Категория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Товаров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Пример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Сценарии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Смартфоны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iPhone 17 Pro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поиск, фильтр, корзина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Ноутбуки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MacBook Air 13” M3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карточка, сравнение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Планшеты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iPad Air 11” M2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избранное, отзывы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Наушники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AirPods 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фильтр, checkout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Мониторы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Studio Display 27”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категория, сравнение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Аксессуары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Apple Pencil Pro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категория, поиск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Итого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42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Apple catalog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основной flow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Источник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JSON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src/data/products.json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productService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Ограничение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нет реальной оплаты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учебный MVP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74196"/>
            <a:ext cx="3606800" cy="3220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400">
                <a:latin typeface="Inter"/>
                <a:ea typeface="Inter"/>
                <a:cs typeface="Inter"/>
              </a:rPr>
              <a:t>Каталог содержит 42 позиции в 6 категориях. Все товары приходят из локального JSON через productService.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564835"/>
            <a:ext cx="3606800" cy="1178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Inter"/>
                <a:ea typeface="Inter"/>
                <a:cs typeface="Inter"/>
              </a:defRPr>
            </a:pPr>
            <a:r>
              <a:rPr sz="2000">
                <a:latin typeface="Inter"/>
                <a:ea typeface="Inter"/>
                <a:cs typeface="Inter"/>
              </a:rPr>
              <a:t>Фактический scope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DCEBFF"/>
            </a:gs>
            <a:gs pos="52000">
              <a:srgbClr val="EEF0FF"/>
            </a:gs>
            <a:gs pos="100000">
              <a:srgbClr val="F5E9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fld id="{00000000-1234-1234-1234-123412341234}" type="slidenum">
              <a:rPr>
                <a:latin typeface="Inter"/>
                <a:ea typeface="Inter"/>
                <a:cs typeface="Inter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r>
              <a:rPr>
                <a:solidFill>
                  <a:schemeClr val="accent1"/>
                </a:solidFill>
                <a:latin typeface="Inter"/>
                <a:ea typeface="Inter"/>
                <a:cs typeface="Inter"/>
              </a:rPr>
              <a:t>Каталог как база для развития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749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088295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6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42 товара в 6 категориях.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631212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Локальный scope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6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Оплата учебная, backend пока не подключён.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Ограничение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391117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1104512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6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productService отделяет UI от источника данных.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647429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Inter"/>
                <a:ea typeface="Inter"/>
                <a:cs typeface="Inter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Inter"/>
                <a:ea typeface="Inter"/>
                <a:cs typeface="Inter"/>
              </a:rPr>
              <a:t>API-ready слой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516C1E9-8E8C-409C-BFB5-B784F23B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18" y="1714500"/>
            <a:ext cx="5124164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defPPr>
            <a:lvl1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1pPr>
            <a:lvl2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2pPr>
            <a:lvl3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3pPr>
            <a:lvl4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4pPr>
            <a:lvl5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5pPr>
            <a:lvl6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6pPr>
            <a:lvl7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7pPr>
            <a:lvl8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8pPr>
            <a:lvl9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3357B8"/>
                </a:solidFill>
                <a:latin typeface="Inter"/>
                <a:ea typeface="Inter"/>
                <a:cs typeface="Inter"/>
              </a:rPr>
              <a:t>42</a:t>
            </a:r>
          </a:p>
          <a:p xmlns:a="http://schemas.openxmlformats.org/drawingml/2006/main">
            <a: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3357B8"/>
                </a:solidFill>
                <a:latin typeface="Inter"/>
                <a:ea typeface="Inter"/>
                <a:cs typeface="Inter"/>
              </a:rPr>
              <a:t>товара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3357B8"/>
                </a:solidFill>
                <a:latin typeface="Inter"/>
                <a:ea typeface="Inter"/>
                <a:cs typeface="Inter"/>
              </a:rPr>
              <a:t>6</a:t>
            </a:r>
          </a:p>
          <a:p xmlns:a="http://schemas.openxmlformats.org/drawingml/2006/main">
            <a:pPr algn="ctr">
              <a:buNone/>
              <a:defRPr sz="31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3357B8"/>
                </a:solidFill>
                <a:latin typeface="Inter"/>
                <a:ea typeface="Inter"/>
                <a:cs typeface="Inter"/>
              </a:rPr>
              <a:t>категорий</a:t>
            </a:r>
          </a:p>
        </p:txBody>
      </p:sp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DCEBFF"/>
            </a:gs>
            <a:gs pos="52000">
              <a:srgbClr val="EEF0FF"/>
            </a:gs>
            <a:gs pos="100000">
              <a:srgbClr val="F5E9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fld id="{6DC532E1-40B6-29A8-B015-EB0F29E1B9BE}" type="slidenum">
              <a:rPr>
                <a:latin typeface="Inter"/>
                <a:ea typeface="Inter"/>
                <a:cs typeface="Inter"/>
              </a:rPr>
              <a:t>Каталог изолирован от UI через productService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>
              <a:buNone/>
              <a:defRPr>
                <a:latin typeface="Inter"/>
                <a:ea typeface="Inter"/>
                <a:cs typeface="Inter"/>
              </a:defRPr>
            </a:lvl1pPr>
            <a:lvl2pPr>
              <a:buNone/>
              <a:defRPr>
                <a:latin typeface="Inter"/>
                <a:ea typeface="Inter"/>
                <a:cs typeface="Inter"/>
              </a:defRPr>
            </a:lvl2pPr>
            <a:lvl3pPr>
              <a:buNone/>
              <a:defRPr>
                <a:latin typeface="Inter"/>
                <a:ea typeface="Inter"/>
                <a:cs typeface="Inter"/>
              </a:defRPr>
            </a:lvl3pPr>
            <a:lvl4pPr>
              <a:buNone/>
              <a:defRPr>
                <a:latin typeface="Inter"/>
                <a:ea typeface="Inter"/>
                <a:cs typeface="Inter"/>
              </a:defRPr>
            </a:lvl4pPr>
            <a:lvl5pPr>
              <a:buNone/>
              <a:defRPr>
                <a:latin typeface="Inter"/>
                <a:ea typeface="Inter"/>
                <a:cs typeface="Inter"/>
              </a:defRPr>
            </a:lvl5pPr>
            <a:lvl6pPr>
              <a:buNone/>
              <a:defRPr>
                <a:latin typeface="Inter"/>
                <a:ea typeface="Inter"/>
                <a:cs typeface="Inter"/>
              </a:defRPr>
            </a:lvl6pPr>
            <a:lvl7pPr>
              <a:buNone/>
              <a:defRPr>
                <a:latin typeface="Inter"/>
                <a:ea typeface="Inter"/>
                <a:cs typeface="Inter"/>
              </a:defRPr>
            </a:lvl7pPr>
            <a:lvl8pPr>
              <a:buNone/>
              <a:defRPr>
                <a:latin typeface="Inter"/>
                <a:ea typeface="Inter"/>
                <a:cs typeface="Inter"/>
              </a:defRPr>
            </a:lvl8pPr>
            <a:lvl9pPr>
              <a:buNone/>
              <a:defRPr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>
              <a:buNone/>
              <a:defRPr>
                <a:latin typeface="Inter"/>
                <a:ea typeface="Inter"/>
                <a:cs typeface="Inter"/>
              </a:defRPr>
            </a:pPr>
            <a:r>
              <a:rPr>
                <a:solidFill>
                  <a:schemeClr val="accent1"/>
                </a:solidFill>
                <a:latin typeface="Inter"/>
                <a:ea typeface="Inter"/>
                <a:cs typeface="Inter"/>
              </a:rPr>
              <a:t>Готовность к следующему этапу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BED08C-D3A0-E23F-F823-E34BEC6E526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48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>
                <a:latin typeface="Inter"/>
                <a:ea typeface="Inter"/>
                <a:cs typeface="Inter"/>
              </a:defRPr>
            </a:pPr>
            <a:r>
              <a:rPr sz="6200" u="none" strike="noStrike" cap="none" spc="0" baseline="0">
                <a:ln>
                  <a:noFill/>
                </a:ln>
                <a:solidFill>
                  <a:schemeClr val="accent1"/>
                </a:solidFill>
                <a:latin typeface="Inter"/>
                <a:ea typeface="Inter"/>
                <a:cs typeface="Inter"/>
              </a:rPr>
              <a:t>42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966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товара в локальном каталоге</a:t>
            </a:r>
            <a:endParaRPr sz="1600"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553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>
                <a:latin typeface="Inter"/>
                <a:ea typeface="Inter"/>
                <a:cs typeface="Inter"/>
              </a:defRPr>
            </a:pPr>
            <a:r>
              <a:rPr sz="6200" u="none" strike="noStrike" cap="none" spc="0" baseline="0">
                <a:ln>
                  <a:noFill/>
                </a:ln>
                <a:solidFill>
                  <a:schemeClr val="accent1"/>
                </a:solidFill>
                <a:latin typeface="Inter"/>
                <a:ea typeface="Inter"/>
                <a:cs typeface="Inter"/>
              </a:rPr>
              <a:t>6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171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категорий техники</a:t>
            </a:r>
            <a:endParaRPr sz="1600"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497133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>
                <a:latin typeface="Inter"/>
                <a:ea typeface="Inter"/>
                <a:cs typeface="Inter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latin typeface="Inter"/>
                <a:ea typeface="Inter"/>
                <a:cs typeface="Inter"/>
              </a:defRPr>
            </a:pPr>
            <a:r>
              <a:rPr sz="1600">
                <a:latin typeface="Inter"/>
                <a:ea typeface="Inter"/>
                <a:cs typeface="Inter"/>
              </a:rPr>
              <a:t>42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317616F-849B-4253-A369-F12315F1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18" y="1714500"/>
            <a:ext cx="5124164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defPPr>
            <a:lvl1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1pPr>
            <a:lvl2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2pPr>
            <a:lvl3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3pPr>
            <a:lvl4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4pPr>
            <a:lvl5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5pPr>
            <a:lvl6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6pPr>
            <a:lvl7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7pPr>
            <a:lvl8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8pPr>
            <a:lvl9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3357B8"/>
                </a:solidFill>
                <a:latin typeface="Inter"/>
                <a:ea typeface="Inter"/>
                <a:cs typeface="Inter"/>
              </a:rPr>
              <a:t>Следующий этап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3357B8"/>
                </a:solidFill>
                <a:latin typeface="Inter"/>
                <a:ea typeface="Inter"/>
                <a:cs typeface="Inter"/>
              </a:rPr>
              <a:t>API + backend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3357B8"/>
                </a:solidFill>
                <a:latin typeface="Inter"/>
                <a:ea typeface="Inter"/>
                <a:cs typeface="Inter"/>
              </a:rPr>
              <a:t>Тесты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3357B8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3357B8"/>
                </a:solidFill>
                <a:latin typeface="Inter"/>
                <a:ea typeface="Inter"/>
                <a:cs typeface="Inter"/>
              </a:rPr>
              <a:t>Реальная оплата</a:t>
            </a:r>
          </a:p>
        </p:txBody>
      </p:sp>
    </p:spTree>
    <p:extLst>
      <p:ext uri="{BB962C8B-B14F-4D97-AF65-F5344CB8AC3E}">
        <p14:creationId xmlns:p14="http://schemas.microsoft.com/office/powerpoint/2010/main" val="39938313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2026-10-24T14:51:21.5160000Z</dcterms:created>
  <dcterms:modified xsi:type="dcterms:W3CDTF">2026-10-24T14:51:21.5160000Z</dcterms:modified>
</coreProperties>
</file>