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1e450a26d403c" /><Relationship Type="http://schemas.openxmlformats.org/officeDocument/2006/relationships/extended-properties" Target="/docProps/app.xml" Id="R1c770a891e744746" /><Relationship Type="http://schemas.openxmlformats.org/officeDocument/2006/relationships/officeDocument" Target="/ppt/presentation.xml" Id="Rc0f6ecd794e7494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6a41e121f2b433a"/>
  </p:sldMasterIdLst>
  <p:notesMasterIdLst>
    <p:notesMasterId xmlns:r="http://schemas.openxmlformats.org/officeDocument/2006/relationships" r:id="R4e6d52ce5a814a0d"/>
  </p:notesMasterIdLst>
  <p:sldIdLst>
    <p:sldId xmlns:r="http://schemas.openxmlformats.org/officeDocument/2006/relationships" id="256" r:id="R992e696afb7d4731"/>
    <p:sldId xmlns:r="http://schemas.openxmlformats.org/officeDocument/2006/relationships" id="257" r:id="Rc978bff999534988"/>
    <p:sldId xmlns:r="http://schemas.openxmlformats.org/officeDocument/2006/relationships" id="258" r:id="Rd20c436b7a414693"/>
    <p:sldId xmlns:r="http://schemas.openxmlformats.org/officeDocument/2006/relationships" id="259" r:id="R232acb0cff994dc4"/>
    <p:sldId xmlns:r="http://schemas.openxmlformats.org/officeDocument/2006/relationships" id="260" r:id="Rbc59410e6f4742c4"/>
    <p:sldId xmlns:r="http://schemas.openxmlformats.org/officeDocument/2006/relationships" id="261" r:id="Rc81b4899cdd84dde"/>
    <p:sldId xmlns:r="http://schemas.openxmlformats.org/officeDocument/2006/relationships" id="262" r:id="R82c55564bcbb45c4"/>
    <p:sldId xmlns:r="http://schemas.openxmlformats.org/officeDocument/2006/relationships" id="263" r:id="R401c4055b65f4b30"/>
    <p:sldId xmlns:r="http://schemas.openxmlformats.org/officeDocument/2006/relationships" id="264" r:id="Rac527e3dd84c4b53"/>
    <p:sldId xmlns:r="http://schemas.openxmlformats.org/officeDocument/2006/relationships" id="265" r:id="R281639aee641493a"/>
    <p:sldId xmlns:r="http://schemas.openxmlformats.org/officeDocument/2006/relationships" id="266" r:id="Refbdaad7518e4f15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52de008328f04a52"/>
      <p:italic xmlns:r="http://schemas.openxmlformats.org/officeDocument/2006/relationships" r:id="R1e4b878c8d384bee"/>
    </p:embeddedFont>
    <p:embeddedFont>
      <p:font typeface="Lora SemiBold"/>
      <p:regular xmlns:r="http://schemas.openxmlformats.org/officeDocument/2006/relationships" r:id="R048f35996fc1487a"/>
      <p:bold xmlns:r="http://schemas.openxmlformats.org/officeDocument/2006/relationships" r:id="Rf0cb23bb7cfd4f16"/>
      <p:italic xmlns:r="http://schemas.openxmlformats.org/officeDocument/2006/relationships" r:id="Reb0185b669c84886"/>
      <p:boldItalic xmlns:r="http://schemas.openxmlformats.org/officeDocument/2006/relationships" r:id="Rb533fa37adae41bb"/>
    </p:embeddedFont>
    <p:embeddedFont>
      <p:font typeface="OpenAI Sans"/>
      <p:regular xmlns:r="http://schemas.openxmlformats.org/officeDocument/2006/relationships" r:id="Rdf1b24624db94707"/>
      <p:bold xmlns:r="http://schemas.openxmlformats.org/officeDocument/2006/relationships" r:id="R9cc3dfa1748c4c07"/>
      <p:italic xmlns:r="http://schemas.openxmlformats.org/officeDocument/2006/relationships" r:id="R6787fa92d7394beb"/>
      <p:boldItalic xmlns:r="http://schemas.openxmlformats.org/officeDocument/2006/relationships" r:id="Ra59440caa13f464d"/>
    </p:embeddedFont>
    <p:embeddedFont>
      <p:font typeface="Roboto"/>
      <p:regular xmlns:r="http://schemas.openxmlformats.org/officeDocument/2006/relationships" r:id="R6b3dbbf4000041b8"/>
      <p:bold xmlns:r="http://schemas.openxmlformats.org/officeDocument/2006/relationships" r:id="R888c21030a1346ac"/>
      <p:italic xmlns:r="http://schemas.openxmlformats.org/officeDocument/2006/relationships" r:id="R0d4ac18bd2144ab1"/>
      <p:boldItalic xmlns:r="http://schemas.openxmlformats.org/officeDocument/2006/relationships" r:id="R3f39d90d0a084db2"/>
    </p:embeddedFont>
    <p:embeddedFont>
      <p:font typeface="Roboto Medium"/>
      <p:regular xmlns:r="http://schemas.openxmlformats.org/officeDocument/2006/relationships" r:id="Rfbf270d477e34987"/>
      <p:italic xmlns:r="http://schemas.openxmlformats.org/officeDocument/2006/relationships" r:id="Re27893b995644140"/>
    </p:embeddedFont>
    <p:embeddedFont>
      <p:font typeface="Roboto SemiBold"/>
      <p:regular xmlns:r="http://schemas.openxmlformats.org/officeDocument/2006/relationships" r:id="R06476bd919a04132"/>
      <p:bold xmlns:r="http://schemas.openxmlformats.org/officeDocument/2006/relationships" r:id="R3512b9a005c3435d"/>
      <p:italic xmlns:r="http://schemas.openxmlformats.org/officeDocument/2006/relationships" r:id="Rad7a44a690f441cf"/>
      <p:boldItalic xmlns:r="http://schemas.openxmlformats.org/officeDocument/2006/relationships" r:id="R6dceec00e89846f0"/>
    </p:embeddedFont>
    <p:embeddedFont>
      <p:font typeface="Roboto Serif 14pt"/>
      <p:regular xmlns:r="http://schemas.openxmlformats.org/officeDocument/2006/relationships" r:id="R9b95268942064073"/>
      <p:bold xmlns:r="http://schemas.openxmlformats.org/officeDocument/2006/relationships" r:id="Ra6f87b99e03f4cec"/>
      <p:italic xmlns:r="http://schemas.openxmlformats.org/officeDocument/2006/relationships" r:id="Rf8446a4d4d3d4a32"/>
      <p:boldItalic xmlns:r="http://schemas.openxmlformats.org/officeDocument/2006/relationships" r:id="Rf207468535cd4e3e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eda12930aa4561" /><Relationship Type="http://schemas.openxmlformats.org/officeDocument/2006/relationships/slideMaster" Target="/ppt/slideMasters/slideMaster1.xml" Id="R56a41e121f2b433a" /><Relationship Type="http://schemas.openxmlformats.org/officeDocument/2006/relationships/notesMaster" Target="/ppt/notesMasters/notesMaster1.xml" Id="R4e6d52ce5a814a0d" /><Relationship Type="http://schemas.openxmlformats.org/officeDocument/2006/relationships/presProps" Target="/ppt/presProps.xml" Id="Ra595649aa20f4a47" /><Relationship Type="http://schemas.openxmlformats.org/officeDocument/2006/relationships/viewProps" Target="/ppt/viewProps.xml" Id="R5cba4a0b13e24716" /><Relationship Type="http://schemas.openxmlformats.org/officeDocument/2006/relationships/tableStyles" Target="/ppt/tableStyles.xml" Id="R417805974cd341a6" /><Relationship Type="http://schemas.openxmlformats.org/officeDocument/2006/relationships/font" Target="/ppt/fonts/font.dat" Id="R52de008328f04a52" /><Relationship Type="http://schemas.openxmlformats.org/officeDocument/2006/relationships/font" Target="/ppt/fonts/font2.dat" Id="R1e4b878c8d384bee" /><Relationship Type="http://schemas.openxmlformats.org/officeDocument/2006/relationships/font" Target="/ppt/fonts/font3.dat" Id="R048f35996fc1487a" /><Relationship Type="http://schemas.openxmlformats.org/officeDocument/2006/relationships/font" Target="/ppt/fonts/font4.dat" Id="Rf0cb23bb7cfd4f16" /><Relationship Type="http://schemas.openxmlformats.org/officeDocument/2006/relationships/font" Target="/ppt/fonts/font5.dat" Id="Reb0185b669c84886" /><Relationship Type="http://schemas.openxmlformats.org/officeDocument/2006/relationships/font" Target="/ppt/fonts/font6.dat" Id="Rb533fa37adae41bb" /><Relationship Type="http://schemas.openxmlformats.org/officeDocument/2006/relationships/font" Target="/ppt/fonts/font7.dat" Id="Rdf1b24624db94707" /><Relationship Type="http://schemas.openxmlformats.org/officeDocument/2006/relationships/font" Target="/ppt/fonts/font8.dat" Id="R9cc3dfa1748c4c07" /><Relationship Type="http://schemas.openxmlformats.org/officeDocument/2006/relationships/font" Target="/ppt/fonts/font9.dat" Id="R6787fa92d7394beb" /><Relationship Type="http://schemas.openxmlformats.org/officeDocument/2006/relationships/font" Target="/ppt/fonts/font10.dat" Id="Ra59440caa13f464d" /><Relationship Type="http://schemas.openxmlformats.org/officeDocument/2006/relationships/font" Target="/ppt/fonts/font11.dat" Id="R6b3dbbf4000041b8" /><Relationship Type="http://schemas.openxmlformats.org/officeDocument/2006/relationships/font" Target="/ppt/fonts/font12.dat" Id="R888c21030a1346ac" /><Relationship Type="http://schemas.openxmlformats.org/officeDocument/2006/relationships/font" Target="/ppt/fonts/font13.dat" Id="R0d4ac18bd2144ab1" /><Relationship Type="http://schemas.openxmlformats.org/officeDocument/2006/relationships/font" Target="/ppt/fonts/font14.dat" Id="R3f39d90d0a084db2" /><Relationship Type="http://schemas.openxmlformats.org/officeDocument/2006/relationships/font" Target="/ppt/fonts/font15.dat" Id="Rfbf270d477e34987" /><Relationship Type="http://schemas.openxmlformats.org/officeDocument/2006/relationships/font" Target="/ppt/fonts/font16.dat" Id="Re27893b995644140" /><Relationship Type="http://schemas.openxmlformats.org/officeDocument/2006/relationships/font" Target="/ppt/fonts/font17.dat" Id="R06476bd919a04132" /><Relationship Type="http://schemas.openxmlformats.org/officeDocument/2006/relationships/font" Target="/ppt/fonts/font18.dat" Id="R3512b9a005c3435d" /><Relationship Type="http://schemas.openxmlformats.org/officeDocument/2006/relationships/font" Target="/ppt/fonts/font19.dat" Id="Rad7a44a690f441cf" /><Relationship Type="http://schemas.openxmlformats.org/officeDocument/2006/relationships/font" Target="/ppt/fonts/font20.dat" Id="R6dceec00e89846f0" /><Relationship Type="http://schemas.openxmlformats.org/officeDocument/2006/relationships/font" Target="/ppt/fonts/font21.dat" Id="R9b95268942064073" /><Relationship Type="http://schemas.openxmlformats.org/officeDocument/2006/relationships/font" Target="/ppt/fonts/font22.dat" Id="Ra6f87b99e03f4cec" /><Relationship Type="http://schemas.openxmlformats.org/officeDocument/2006/relationships/font" Target="/ppt/fonts/font23.dat" Id="Rf8446a4d4d3d4a32" /><Relationship Type="http://schemas.openxmlformats.org/officeDocument/2006/relationships/font" Target="/ppt/fonts/font24.dat" Id="Rf207468535cd4e3e" /><Relationship Type="http://schemas.openxmlformats.org/officeDocument/2006/relationships/slide" Target="/ppt/slides/slide1.xml" Id="R992e696afb7d4731" /><Relationship Type="http://schemas.openxmlformats.org/officeDocument/2006/relationships/slide" Target="/ppt/slides/slide2.xml" Id="Rc978bff999534988" /><Relationship Type="http://schemas.openxmlformats.org/officeDocument/2006/relationships/slide" Target="/ppt/slides/slide3.xml" Id="Rd20c436b7a414693" /><Relationship Type="http://schemas.openxmlformats.org/officeDocument/2006/relationships/slide" Target="/ppt/slides/slide4.xml" Id="R232acb0cff994dc4" /><Relationship Type="http://schemas.openxmlformats.org/officeDocument/2006/relationships/slide" Target="/ppt/slides/slide5.xml" Id="Rbc59410e6f4742c4" /><Relationship Type="http://schemas.openxmlformats.org/officeDocument/2006/relationships/slide" Target="/ppt/slides/slide6.xml" Id="Rc81b4899cdd84dde" /><Relationship Type="http://schemas.openxmlformats.org/officeDocument/2006/relationships/slide" Target="/ppt/slides/slide7.xml" Id="R82c55564bcbb45c4" /><Relationship Type="http://schemas.openxmlformats.org/officeDocument/2006/relationships/slide" Target="/ppt/slides/slide8.xml" Id="R401c4055b65f4b30" /><Relationship Type="http://schemas.openxmlformats.org/officeDocument/2006/relationships/slide" Target="/ppt/slides/slide9.xml" Id="Rac527e3dd84c4b53" /><Relationship Type="http://schemas.openxmlformats.org/officeDocument/2006/relationships/slide" Target="/ppt/slides/slide10.xml" Id="R281639aee641493a" /><Relationship Type="http://schemas.openxmlformats.org/officeDocument/2006/relationships/slide" Target="/ppt/slides/slide11.xml" Id="Refbdaad7518e4f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bd5d194fe46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da84834b9f4675" /><Relationship Type="http://schemas.openxmlformats.org/officeDocument/2006/relationships/notesMaster" Target="/ppt/notesMasters/notesMaster1.xml" Id="R4addb4a46996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8b3ac71f7b4297" /><Relationship Type="http://schemas.openxmlformats.org/officeDocument/2006/relationships/notesMaster" Target="/ppt/notesMasters/notesMaster1.xml" Id="Rfdf0050f3fd844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184b629664572" /><Relationship Type="http://schemas.openxmlformats.org/officeDocument/2006/relationships/notesMaster" Target="/ppt/notesMasters/notesMaster1.xml" Id="Rcede12292d33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06f40cfcd4c03" /><Relationship Type="http://schemas.openxmlformats.org/officeDocument/2006/relationships/notesMaster" Target="/ppt/notesMasters/notesMaster1.xml" Id="R4b8da23ab4eb43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8018a2ab5248bb" /><Relationship Type="http://schemas.openxmlformats.org/officeDocument/2006/relationships/notesMaster" Target="/ppt/notesMasters/notesMaster1.xml" Id="R951279fdda36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5466787694935" /><Relationship Type="http://schemas.openxmlformats.org/officeDocument/2006/relationships/notesMaster" Target="/ppt/notesMasters/notesMaster1.xml" Id="Re5ebbe587fe4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d9bd6b943c447d" /><Relationship Type="http://schemas.openxmlformats.org/officeDocument/2006/relationships/notesMaster" Target="/ppt/notesMasters/notesMaster1.xml" Id="Re12a20cd464649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89ad933593431f" /><Relationship Type="http://schemas.openxmlformats.org/officeDocument/2006/relationships/notesMaster" Target="/ppt/notesMasters/notesMaster1.xml" Id="Rc789c90ce0f142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d6051b257d4c73" /><Relationship Type="http://schemas.openxmlformats.org/officeDocument/2006/relationships/notesMaster" Target="/ppt/notesMasters/notesMaster1.xml" Id="R94eba9ea107c45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729b21bb934f1d" /><Relationship Type="http://schemas.openxmlformats.org/officeDocument/2006/relationships/notesMaster" Target="/ppt/notesMasters/notesMaster1.xml" Id="R0702b6d3b9b342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3251244c28459b" /><Relationship Type="http://schemas.openxmlformats.org/officeDocument/2006/relationships/notesMaster" Target="/ppt/notesMasters/notesMaster1.xml" Id="R1f591383c0524c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одной фразы: JohnnyStore — учебный одностраничный интернет-магазин техники, собранный как цельный продукт. Сегодня я покажу не только интерфейс, но и то, как устроен пользовательский сценарий и кодовая база.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коротко обозначьте логику рассказа: сначала проблема и ценность, затем путь пользователя, потом техническая реализация и честный разговор о том, что уже готово и что логично делать дальше.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Главная мысль слайда: проект уже демонстрирует связный пользовательский опыт. Важно подчеркнуть, что локальные данные — осознанное ограничение учебного MVP, а productService оставляет точку замены на API.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Объясните ценность через четыре слоя: пользователь может найти товар, сузить выбор, принять решение и завершить покупку. Последняя карточка показывает, что проект учитывает не только визуальный слой, но и базовую доступность.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этом слайде перечислите то, что можно показать в демо без дополнительных пояснений: каталог, checkout и состояния интерфейса. Отдельно скажите, что оплата учебная и не подключена к реальному платёжному провайдеру.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Расскажите об архитектуре сверху вниз: App задаёт маршруты, Layout собирает общую оболочку, Context-модули владеют состоянием, а productService скрывает источник данных. Это показывает, что структура проекта поддерживает дальнейшее расширение.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Проведите аудиторию по flow слева направо. Затем покажите, что каждому шагу соответствует понятный технический слой: маршруты, контексты, сервис данных и persistence в localStorage.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Это смысловой акцент презентации. Скажите: ценность JohnnyStore не в количестве экранов, а в том, что эти экраны работают вместе и ведут пользователя к понятному результату.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Здесь опирайтесь на цифры из исходного каталога: 42 позиции, шесть категорий. Важно честно обозначить ограничение: данные локальные, а оплата учебная. Это не скрывает ценность прототипа, а задаёт понятный план развития.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График показывает распределение каталога. Аксессуары дают самый широкий слой данных, а основные устройства распределены равномерно. Это хороший фундамент для будущего API, фильтров и аналитики ассортимента.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Финал: сформулируйте три следующих действия. Первое — подключить API через уже выделенный productService. Второе — добавить тесты для основных reducer и checkout-сценариев. Третье — вынести заказ и оплату в backend.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401434a1742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76eac0a074a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0398217a943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1a2381d4f49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d01e1c3ae41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5b57e62d0449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57144f1484b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fc1dd2f42467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fa0a8139840f1" /><Relationship Type="http://schemas.openxmlformats.org/officeDocument/2006/relationships/slideLayout" Target="/ppt/slideLayouts/slideLayout1.xml" Id="R62c7be8d77e44279" /><Relationship Type="http://schemas.openxmlformats.org/officeDocument/2006/relationships/slideLayout" Target="/ppt/slideLayouts/slideLayout2.xml" Id="Reb3d53fc1be5467b" /><Relationship Type="http://schemas.openxmlformats.org/officeDocument/2006/relationships/slideLayout" Target="/ppt/slideLayouts/slideLayout3.xml" Id="Raafc6228204e4af2" /><Relationship Type="http://schemas.openxmlformats.org/officeDocument/2006/relationships/slideLayout" Target="/ppt/slideLayouts/slideLayout4.xml" Id="R24793c38656a4d20" /><Relationship Type="http://schemas.openxmlformats.org/officeDocument/2006/relationships/slideLayout" Target="/ppt/slideLayouts/slideLayout5.xml" Id="R632bb4b0a98c4d3c" /><Relationship Type="http://schemas.openxmlformats.org/officeDocument/2006/relationships/slideLayout" Target="/ppt/slideLayouts/slideLayout6.xml" Id="R750e848d30254f83" /><Relationship Type="http://schemas.openxmlformats.org/officeDocument/2006/relationships/slideLayout" Target="/ppt/slideLayouts/slideLayout7.xml" Id="Rd9de5a5b00a84d63" /><Relationship Type="http://schemas.openxmlformats.org/officeDocument/2006/relationships/slideLayout" Target="/ppt/slideLayouts/slideLayout8.xml" Id="R546d29c2d93446f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c7be8d77e44279"/>
    <p:sldLayoutId xmlns:r="http://schemas.openxmlformats.org/officeDocument/2006/relationships" id="2147483650" r:id="Reb3d53fc1be5467b"/>
    <p:sldLayoutId xmlns:r="http://schemas.openxmlformats.org/officeDocument/2006/relationships" id="2147483651" r:id="Raafc6228204e4af2"/>
    <p:sldLayoutId xmlns:r="http://schemas.openxmlformats.org/officeDocument/2006/relationships" id="2147483652" r:id="R24793c38656a4d20"/>
    <p:sldLayoutId xmlns:r="http://schemas.openxmlformats.org/officeDocument/2006/relationships" id="2147483653" r:id="R632bb4b0a98c4d3c"/>
    <p:sldLayoutId xmlns:r="http://schemas.openxmlformats.org/officeDocument/2006/relationships" id="2147483654" r:id="R750e848d30254f83"/>
    <p:sldLayoutId xmlns:r="http://schemas.openxmlformats.org/officeDocument/2006/relationships" id="2147483655" r:id="Rd9de5a5b00a84d63"/>
    <p:sldLayoutId xmlns:r="http://schemas.openxmlformats.org/officeDocument/2006/relationships" id="2147483656" r:id="R546d29c2d93446f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dd9a5ea4c40ee" /><Relationship Type="http://schemas.openxmlformats.org/officeDocument/2006/relationships/notesSlide" Target="/ppt/notesSlides/notesSlide1.xml" Id="Rf66ca68e3bd2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a366d516948c3" /><Relationship Type="http://schemas.openxmlformats.org/officeDocument/2006/relationships/notesSlide" Target="/ppt/notesSlides/notesSlide2.xml" Id="Rd17ad3ff325045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c1dc56ee14f48" /><Relationship Type="http://schemas.openxmlformats.org/officeDocument/2006/relationships/notesSlide" Target="/ppt/notesSlides/notesSlide3.xml" Id="R8fa4a06931bc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261c909e04579" /><Relationship Type="http://schemas.openxmlformats.org/officeDocument/2006/relationships/notesSlide" Target="/ppt/notesSlides/notesSlide4.xml" Id="Re1cc2a82ac01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262c2fb0c439b" /><Relationship Type="http://schemas.openxmlformats.org/officeDocument/2006/relationships/notesSlide" Target="/ppt/notesSlides/notesSlide5.xml" Id="R13fa8a78c57c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f58f0412834b6b" /><Relationship Type="http://schemas.openxmlformats.org/officeDocument/2006/relationships/notesSlide" Target="/ppt/notesSlides/notesSlide6.xml" Id="Re870f6d91bdf4b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80b8db3c04d35" /><Relationship Type="http://schemas.openxmlformats.org/officeDocument/2006/relationships/notesSlide" Target="/ppt/notesSlides/notesSlide7.xml" Id="R5e792f686639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fdc1d72784248" /><Relationship Type="http://schemas.openxmlformats.org/officeDocument/2006/relationships/notesSlide" Target="/ppt/notesSlides/notesSlide8.xml" Id="R75398ca3ed23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5354ffcbf4cb3" /><Relationship Type="http://schemas.openxmlformats.org/officeDocument/2006/relationships/notesSlide" Target="/ppt/notesSlides/notesSlide9.xml" Id="R413438f92f0348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3965336b24498" /><Relationship Type="http://schemas.openxmlformats.org/officeDocument/2006/relationships/notesSlide" Target="/ppt/notesSlides/notesSlide10.xml" Id="Ra83c6ae720f043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46cfd233c4de5" /><Relationship Type="http://schemas.openxmlformats.org/officeDocument/2006/relationships/notesSlide" Target="/ppt/notesSlides/notesSlide11.xml" Id="R4799e8b557e046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JohnnyStore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Обзор продукта, пользовательского пути и архитектуры учебного e-commerce проекта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ОКТЯБРЬ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FRONTRAIN / JOHNNYSTORE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477FAB3E-288B-4698-ACB0-E3DE86F0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JohnnyStore: обзор проекта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Содержание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8F0F3F86-042F-4145-86A8-DD74CDBC5657}"/>
              </a:ext>
            </a:extLst>
          </p:cNvPr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Идея продукта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JohnnyStore как учебный e-commerce flow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Пользовательский путь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От каталога до подтверждения заказа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Архитектура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React, Router, Context API и слой данных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Текущий статус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42 товара, 6 категорий, полный основной сценарий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Следующие шаги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API, тесты и реальный backend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strike="noStrike" cap="none" spc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Демо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strike="noStrike" cap="none" spc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Ключевые решения и ограничения проекта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51F5E48-905E-4899-89AE-1069073229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JohnnyStore уже выглядит как продукт, а не набор отдельных экранов.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C055BEC-685E-4319-8517-E0BBB51265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EB0D0D6-9F19-4EDB-1B7A-65BF181B1A1D}" type="slidenum">
              <a:t>Зафиксировать следующий шаг: подключить API и backend, сохранив текущий интерфейс и сервисный слой.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Текущий статус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Сильная сторона проекта — связность: единое состояние каталога, корзины, избранного, сравнения и темы.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вывод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Проект собран как цельный shopping flow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Резюме проекта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9E9FB6EB-4E12-4007-92C3-EC692E34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dictumst</a:t>
            </a:r>
            <a:r>
              <a:rPr sz="1600">
                <a:latin typeface="Helvetica Neue"/>
                <a:ea typeface="Helvetica Neue"/>
                <a:cs typeface="Helvetica Neue"/>
              </a:rPr>
              <a:t>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Решение на следующий этап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Учебный MVP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Итог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20634961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Ключевая ценность для пользователя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6 категорий техники и поиск без перезагрузки.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Один интерфейс закрывает выбор, сравнение, сохранение и покупку техники.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Категория, цена, бренд, наличие и сортировка.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Фильтры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Корзина, валидация checkout и подтверждение заказа.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Покупка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Адаптивность, keyboard focus и reduced motion.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Доступность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Что уже реализовано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Функциональность собрана вокруг реального пути покупателя, а не вокруг отдельных компонентов.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Поиск, фильтры, сортировка, категории и карточки товаров.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Каталог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Валидация формы, доставка, оплата и учебный номер заказа.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Checkout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Skeleton Loader, Error, Empty, 404, темы и mobile navigation.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Состояния интерфейса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Context API + useReducer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Корзина, каталог, избранное, сравнение и тема живут отдельно.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productService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Локальный JSON изолирован от компонентов и готов к замене на API.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Архитектура продукта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React + Router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Страницы и маршрутизация собраны вокруг единого Layout.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Такой разрез упрощает развитие проекта и подключение backend без переписывания страниц.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Lorem ipsum dolor sit </a:t>
            </a:r>
            <a:r>
              <a:rPr sz="2000">
                <a:latin typeface="+mj-lt"/>
                <a:ea typeface="+mj-lt"/>
                <a:cs typeface="+mj-lt"/>
              </a:rPr>
              <a:t>amet</a:t>
            </a:r>
            <a:r>
              <a:rPr sz="2000">
                <a:latin typeface="+mj-lt"/>
                <a:ea typeface="+mj-lt"/>
                <a:cs typeface="+mj-lt"/>
              </a:rPr>
              <a:t>, </a:t>
            </a:r>
            <a:r>
              <a:rPr sz="2000">
                <a:latin typeface="+mj-lt"/>
                <a:ea typeface="+mj-lt"/>
                <a:cs typeface="+mj-lt"/>
              </a:rPr>
              <a:t>consectetur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adipiscing</a:t>
            </a:r>
            <a:r>
              <a:rPr sz="2000">
                <a:latin typeface="+mj-lt"/>
                <a:ea typeface="+mj-lt"/>
                <a:cs typeface="+mj-lt"/>
              </a:rPr>
              <a:t> </a:t>
            </a:r>
            <a:r>
              <a:rPr sz="2000">
                <a:latin typeface="+mj-lt"/>
                <a:ea typeface="+mj-lt"/>
                <a:cs typeface="+mj-lt"/>
              </a:rPr>
              <a:t>elit</a:t>
            </a:r>
            <a:r>
              <a:rPr sz="2000">
                <a:latin typeface="+mj-lt"/>
                <a:ea typeface="+mj-lt"/>
                <a:cs typeface="+mj-lt"/>
              </a:rPr>
              <a:t>. 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1. Найти товар через категории, поиск и фильтры.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2. Открыть карточку и добавить в корзину или сравнение.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3. Проверить заказ и пройти валидацию checkout.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4. Получить учебный номер заказа и очистить корзину.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2D94613-2318-AF8E-5E44-A9368AF45A21}" type="slidenum">
              <a:t>• React + Vite + React Router</a:t>
            </a:fld>
            <a:endParaRPr/>
          </a:p>
          <a:p xmlns:a="http://schemas.openxmlformats.org/drawingml/2006/main">
            <a:fld id="{DB66ABA5-BEC9-1EDD-5E03-0EF99B631C08}" type="slidenum">
              <a:t>• Context API и useReducer</a:t>
            </a:fld>
            <a:endParaRPr/>
          </a:p>
          <a:p xmlns:a="http://schemas.openxmlformats.org/drawingml/2006/main">
            <a:fld id="{44618FFC-A248-6F9D-0559-42BF5226347E}" type="slidenum">
              <a:t>• Fetch API через productService</a:t>
            </a:fld>
            <a:endParaRPr/>
          </a:p>
          <a:p xmlns:a="http://schemas.openxmlformats.org/drawingml/2006/main">
            <a:fld id="{2A482979-3790-306B-CD2F-108ABEF4CA98}" type="slidenum">
              <a:t>• localStorage для cart, favorites и theme</a:t>
            </a:fld>
            <a:endParaRPr/>
          </a:p>
          <a:p xmlns:a="http://schemas.openxmlformats.org/drawingml/2006/main">
            <a:fld id="{5023409B-3904-89AB-E7BD-D1939C33297F}" type="slidenum">
              <a:t>• CSS media queries для desktop, tablet и mobile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Пользовательский путь и техническая реализация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Lorem ipsum dolor sit </a:t>
            </a:r>
            <a:r>
              <a:rPr sz="1400"/>
              <a:t>amet</a:t>
            </a:r>
            <a:r>
              <a:rPr sz="1400"/>
              <a:t>, </a:t>
            </a:r>
            <a:r>
              <a:rPr sz="1400"/>
              <a:t>consectetur</a:t>
            </a:r>
            <a:r>
              <a:rPr sz="1400"/>
              <a:t> </a:t>
            </a:r>
            <a:r>
              <a:rPr sz="1400"/>
              <a:t>adipiscing</a:t>
            </a:r>
            <a:r>
              <a:rPr sz="1400"/>
              <a:t> </a:t>
            </a:r>
            <a:r>
              <a:rPr sz="1400"/>
              <a:t>elit</a:t>
            </a:r>
            <a:r>
              <a:rPr sz="1400"/>
              <a:t>. </a:t>
            </a:r>
            <a:r>
              <a:rPr sz="1400"/>
              <a:t>Pellentesque</a:t>
            </a:r>
            <a:r>
              <a:rPr sz="1400"/>
              <a:t> </a:t>
            </a:r>
            <a:r>
              <a:rPr sz="1400"/>
              <a:t>ultricies</a:t>
            </a:r>
            <a:r>
              <a:rPr sz="1400"/>
              <a:t> </a:t>
            </a:r>
            <a:r>
              <a:rPr sz="1400"/>
              <a:t>quam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luctus</a:t>
            </a:r>
            <a:r>
              <a:rPr sz="1400"/>
              <a:t> cursus. </a:t>
            </a:r>
            <a:r>
              <a:rPr sz="1400"/>
              <a:t>Nullam</a:t>
            </a:r>
            <a:r>
              <a:rPr sz="1400"/>
              <a:t> pharetra </a:t>
            </a:r>
            <a:r>
              <a:rPr sz="1400"/>
              <a:t>mauris</a:t>
            </a:r>
            <a:r>
              <a:rPr sz="1400"/>
              <a:t> </a:t>
            </a:r>
            <a:r>
              <a:rPr sz="1400"/>
              <a:t>tortor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Proin </a:t>
            </a:r>
            <a:r>
              <a:rPr sz="1400"/>
              <a:t>mattis</a:t>
            </a:r>
            <a:r>
              <a:rPr sz="1400"/>
              <a:t> </a:t>
            </a:r>
            <a:r>
              <a:rPr sz="1400"/>
              <a:t>nibh</a:t>
            </a:r>
            <a:r>
              <a:rPr sz="1400"/>
              <a:t> </a:t>
            </a:r>
            <a:r>
              <a:rPr sz="1400"/>
              <a:t>risus</a:t>
            </a:r>
            <a:r>
              <a:rPr sz="1400"/>
              <a:t>. </a:t>
            </a:r>
            <a:r>
              <a:rPr sz="1400"/>
              <a:t>Nulla</a:t>
            </a:r>
            <a:r>
              <a:rPr sz="1400"/>
              <a:t> </a:t>
            </a:r>
            <a:r>
              <a:rPr sz="1400"/>
              <a:t>tempor</a:t>
            </a:r>
            <a:r>
              <a:rPr sz="1400"/>
              <a:t> </a:t>
            </a:r>
            <a:r>
              <a:rPr sz="1400"/>
              <a:t>ut</a:t>
            </a:r>
            <a:r>
              <a:rPr sz="1400"/>
              <a:t> </a:t>
            </a:r>
            <a:r>
              <a:rPr sz="1400"/>
              <a:t>massa</a:t>
            </a:r>
            <a:r>
              <a:rPr sz="1400"/>
              <a:t> </a:t>
            </a:r>
            <a:r>
              <a:rPr sz="1400"/>
              <a:t>elementum</a:t>
            </a:r>
            <a:r>
              <a:rPr sz="1400"/>
              <a:t> </a:t>
            </a:r>
            <a:r>
              <a:rPr sz="1400"/>
              <a:t>dapibus</a:t>
            </a:r>
            <a:r>
              <a:rPr sz="1400"/>
              <a:t>. Nam non ante quis </a:t>
            </a:r>
            <a:r>
              <a:rPr sz="1400"/>
              <a:t>enim</a:t>
            </a:r>
            <a:r>
              <a:rPr sz="1400"/>
              <a:t> </a:t>
            </a:r>
            <a:r>
              <a:rPr sz="1400"/>
              <a:t>fringilla</a:t>
            </a:r>
            <a:r>
              <a:rPr sz="1400"/>
              <a:t> tempus nec in </a:t>
            </a:r>
            <a:r>
              <a:rPr sz="1400"/>
              <a:t>lectus</a:t>
            </a:r>
            <a:r>
              <a:rPr sz="1400"/>
              <a:t>. In hac </a:t>
            </a:r>
            <a:r>
              <a:rPr sz="1400"/>
              <a:t>habitasse</a:t>
            </a:r>
            <a:r>
              <a:rPr sz="1400"/>
              <a:t> </a:t>
            </a:r>
            <a:r>
              <a:rPr sz="1400"/>
              <a:t>platea</a:t>
            </a:r>
            <a:r>
              <a:rPr sz="1400"/>
              <a:t> </a:t>
            </a:r>
            <a:r>
              <a:rPr sz="1400"/>
              <a:t>dictumst</a:t>
            </a:r>
            <a:r>
              <a:rPr sz="1400"/>
              <a:t>. 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Главный flow: главная → каталог → товар → корзина → checkout →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Учебный проект собран как настоящий e-commerce experience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В нём есть не только витрина, но и полный пользовательский сценарий: поиск, выбор, сравнение, покупка и подтверждение.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и покрытие сценариев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" name="Google Shape;644;p93">
            <a:extLst xmlns:a="http://schemas.openxmlformats.org/drawingml/2006/main">
              <a:ext uri="{FF2B5EF4-FFF2-40B4-BE49-F238E27FC236}">
                <a16:creationId xmlns:a16="http://schemas.microsoft.com/office/drawing/2014/main" id="{309E4E36-B873-4C87-A949-1FEAD1395B03}"/>
              </a:ext>
            </a:extLst>
          </p:cNvPr>
          <p:cNvGraphicFramePr/>
          <p:nvPr/>
        </p:nvGraphicFramePr>
        <p:xfrm>
          <a:off xmlns:a="http://schemas.openxmlformats.org/drawingml/2006/main" x="4752785" y="1549337"/>
          <a:ext xmlns:a="http://schemas.openxmlformats.org/drawingml/2006/main" cx="6777990" cy="4095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Товаров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Пример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Сценарии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Смартфоны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iPhone 17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поиск, фильтр, корзина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Ноутбуки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MacBook Air 13” M3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карточка,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Планшеты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iPad Air 11” M2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избранное, отзывы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Наушники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AirPods 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фильтр, checkout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Мониторы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Studio Display 27”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сравнение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Аксессуары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Pencil Pro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категория, поиск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Итого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Apple catalog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основной flow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Источник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src/data/products.json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productService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Ограничение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нет реальной оплаты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учебный MVP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Каталог содержит 42 позиции в 6 категориях. Все товары приходят из локального JSON через productService.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Фактический scope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Каталог как база для развития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42 товара в 6 категориях.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scope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Оплата учебная, backend пока не подключён.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Ограничение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productService отделяет UI от источника данных.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API-ready слой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50B7DCF0-4B74-4251-9B33-F6AACFE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150" b="1">
                <a:solidFill>
                  <a:srgbClr val="3357B8"/>
                </a:solidFill>
              </a:defRPr>
            </a:defPPr>
            <a:lvl1pPr algn="ctr">
              <a:defRPr sz="3150" b="1">
                <a:solidFill>
                  <a:srgbClr val="3357B8"/>
                </a:solidFill>
              </a:defRPr>
            </a:lvl1pPr>
            <a:lvl2pPr algn="ctr">
              <a:defRPr sz="3150" b="1">
                <a:solidFill>
                  <a:srgbClr val="3357B8"/>
                </a:solidFill>
              </a:defRPr>
            </a:lvl2pPr>
            <a:lvl3pPr algn="ctr">
              <a:defRPr sz="3150" b="1">
                <a:solidFill>
                  <a:srgbClr val="3357B8"/>
                </a:solidFill>
              </a:defRPr>
            </a:lvl3pPr>
            <a:lvl4pPr algn="ctr">
              <a:defRPr sz="3150" b="1">
                <a:solidFill>
                  <a:srgbClr val="3357B8"/>
                </a:solidFill>
              </a:defRPr>
            </a:lvl4pPr>
            <a:lvl5pPr algn="ctr">
              <a:defRPr sz="3150" b="1">
                <a:solidFill>
                  <a:srgbClr val="3357B8"/>
                </a:solidFill>
              </a:defRPr>
            </a:lvl5pPr>
            <a:lvl6pPr algn="ctr">
              <a:defRPr sz="3150" b="1">
                <a:solidFill>
                  <a:srgbClr val="3357B8"/>
                </a:solidFill>
              </a:defRPr>
            </a:lvl6pPr>
            <a:lvl7pPr algn="ctr">
              <a:defRPr sz="3150" b="1">
                <a:solidFill>
                  <a:srgbClr val="3357B8"/>
                </a:solidFill>
              </a:defRPr>
            </a:lvl7pPr>
            <a:lvl8pPr algn="ctr">
              <a:defRPr sz="3150" b="1">
                <a:solidFill>
                  <a:srgbClr val="3357B8"/>
                </a:solidFill>
              </a:defRPr>
            </a:lvl8pPr>
            <a:lvl9pPr algn="ctr">
              <a:defRPr sz="31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42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товара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6</a:t>
            </a:r>
          </a:p>
          <a:p xmlns:a="http://schemas.openxmlformats.org/drawingml/2006/main">
            <a:pPr algn="ctr">
              <a:defRPr sz="3150" b="1">
                <a:solidFill>
                  <a:srgbClr val="3357B8"/>
                </a:solidFill>
              </a:defRPr>
            </a:pPr>
            <a:r>
              <a:rPr sz="3150" b="1">
                <a:solidFill>
                  <a:srgbClr val="3357B8"/>
                </a:solidFill>
              </a:rPr>
              <a:t>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703D3F7-3F40-C6BC-22D6-8148C90E0088}" type="slidenum">
              <a:t>42 товара в локальном каталоге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Готовность к следующему этапу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42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Следующий шаг: API + backend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6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Следующий шаг: API + backend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42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92BA48DD-A82C-4CF5-AEBA-6C9F84C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18" y="1714500"/>
            <a:ext cx="5124164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3357B8"/>
                </a:solidFill>
              </a:defRPr>
            </a:defPPr>
            <a:lvl1pPr algn="ctr">
              <a:defRPr sz="2250" b="1">
                <a:solidFill>
                  <a:srgbClr val="3357B8"/>
                </a:solidFill>
              </a:defRPr>
            </a:lvl1pPr>
            <a:lvl2pPr algn="ctr">
              <a:defRPr sz="2250" b="1">
                <a:solidFill>
                  <a:srgbClr val="3357B8"/>
                </a:solidFill>
              </a:defRPr>
            </a:lvl2pPr>
            <a:lvl3pPr algn="ctr">
              <a:defRPr sz="2250" b="1">
                <a:solidFill>
                  <a:srgbClr val="3357B8"/>
                </a:solidFill>
              </a:defRPr>
            </a:lvl3pPr>
            <a:lvl4pPr algn="ctr">
              <a:defRPr sz="2250" b="1">
                <a:solidFill>
                  <a:srgbClr val="3357B8"/>
                </a:solidFill>
              </a:defRPr>
            </a:lvl4pPr>
            <a:lvl5pPr algn="ctr">
              <a:defRPr sz="2250" b="1">
                <a:solidFill>
                  <a:srgbClr val="3357B8"/>
                </a:solidFill>
              </a:defRPr>
            </a:lvl5pPr>
            <a:lvl6pPr algn="ctr">
              <a:defRPr sz="2250" b="1">
                <a:solidFill>
                  <a:srgbClr val="3357B8"/>
                </a:solidFill>
              </a:defRPr>
            </a:lvl6pPr>
            <a:lvl7pPr algn="ctr">
              <a:defRPr sz="2250" b="1">
                <a:solidFill>
                  <a:srgbClr val="3357B8"/>
                </a:solidFill>
              </a:defRPr>
            </a:lvl7pPr>
            <a:lvl8pPr algn="ctr">
              <a:defRPr sz="2250" b="1">
                <a:solidFill>
                  <a:srgbClr val="3357B8"/>
                </a:solidFill>
              </a:defRPr>
            </a:lvl8pPr>
            <a:lvl9pPr algn="ctr">
              <a:defRPr sz="2250" b="1">
                <a:solidFill>
                  <a:srgbClr val="3357B8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Следующий этап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API + backend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Тесты</a:t>
            </a:r>
          </a:p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Реальная оплата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2026-10-24T14:44:01.9660000Z</dcterms:created>
  <dcterms:modified xsi:type="dcterms:W3CDTF">2026-10-24T14:44:01.9660000Z</dcterms:modified>
</coreProperties>
</file>