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4fbc7fdc8e4619" /><Relationship Type="http://schemas.openxmlformats.org/officeDocument/2006/relationships/extended-properties" Target="/docProps/app.xml" Id="R7dd0acc40a8c42b1" /><Relationship Type="http://schemas.openxmlformats.org/officeDocument/2006/relationships/officeDocument" Target="/ppt/presentation.xml" Id="R5014205b71b74bf9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739a81bf11444703"/>
  </p:sldMasterIdLst>
  <p:notesMasterIdLst>
    <p:notesMasterId xmlns:r="http://schemas.openxmlformats.org/officeDocument/2006/relationships" r:id="Rf1ee837ba68e42f4"/>
  </p:notesMasterIdLst>
  <p:sldIdLst>
    <p:sldId xmlns:r="http://schemas.openxmlformats.org/officeDocument/2006/relationships" id="256" r:id="R5fe5e78578ea4f11"/>
    <p:sldId xmlns:r="http://schemas.openxmlformats.org/officeDocument/2006/relationships" id="257" r:id="R168485987f9243af"/>
    <p:sldId xmlns:r="http://schemas.openxmlformats.org/officeDocument/2006/relationships" id="258" r:id="R623641968ae54410"/>
    <p:sldId xmlns:r="http://schemas.openxmlformats.org/officeDocument/2006/relationships" id="259" r:id="R60b6980bbd4f4e95"/>
    <p:sldId xmlns:r="http://schemas.openxmlformats.org/officeDocument/2006/relationships" id="260" r:id="Rea4ba8a2ab0c43b3"/>
    <p:sldId xmlns:r="http://schemas.openxmlformats.org/officeDocument/2006/relationships" id="261" r:id="R27db67abf91f4d97"/>
    <p:sldId xmlns:r="http://schemas.openxmlformats.org/officeDocument/2006/relationships" id="262" r:id="R9fd68af1e8634a1a"/>
    <p:sldId xmlns:r="http://schemas.openxmlformats.org/officeDocument/2006/relationships" id="263" r:id="R447463eeb5c84ed6"/>
    <p:sldId xmlns:r="http://schemas.openxmlformats.org/officeDocument/2006/relationships" id="264" r:id="Ra5c93c47d1d44fa7"/>
    <p:sldId xmlns:r="http://schemas.openxmlformats.org/officeDocument/2006/relationships" id="265" r:id="R4c3c7683206e470d"/>
    <p:sldId xmlns:r="http://schemas.openxmlformats.org/officeDocument/2006/relationships" id="266" r:id="Rb5622dfbb9f74bad"/>
  </p:sldIdLst>
  <p:sldSz cx="12192000" cy="6858000"/>
  <p:notesSz cx="6858000" cy="9144000"/>
  <p:embeddedFontLst>
    <p:embeddedFont>
      <p:font typeface="Lora Medium"/>
      <p:regular xmlns:r="http://schemas.openxmlformats.org/officeDocument/2006/relationships" r:id="Rfc5e2b0739ed4266"/>
      <p:italic xmlns:r="http://schemas.openxmlformats.org/officeDocument/2006/relationships" r:id="R2d7abaf5a4424ae6"/>
    </p:embeddedFont>
    <p:embeddedFont>
      <p:font typeface="Lora SemiBold"/>
      <p:regular xmlns:r="http://schemas.openxmlformats.org/officeDocument/2006/relationships" r:id="Rfa59d689a15a472a"/>
      <p:bold xmlns:r="http://schemas.openxmlformats.org/officeDocument/2006/relationships" r:id="Rd0332372575d4c90"/>
      <p:italic xmlns:r="http://schemas.openxmlformats.org/officeDocument/2006/relationships" r:id="R1f710c6f7a2f4e2c"/>
      <p:boldItalic xmlns:r="http://schemas.openxmlformats.org/officeDocument/2006/relationships" r:id="Rdb2fc2931d934a4c"/>
    </p:embeddedFont>
    <p:embeddedFont>
      <p:font typeface="OpenAI Sans"/>
      <p:regular xmlns:r="http://schemas.openxmlformats.org/officeDocument/2006/relationships" r:id="R008a51ff4d8d40c3"/>
      <p:bold xmlns:r="http://schemas.openxmlformats.org/officeDocument/2006/relationships" r:id="Rc7badb13f77a4407"/>
      <p:italic xmlns:r="http://schemas.openxmlformats.org/officeDocument/2006/relationships" r:id="R0bc452b474724107"/>
      <p:boldItalic xmlns:r="http://schemas.openxmlformats.org/officeDocument/2006/relationships" r:id="R62642d88a2ce428c"/>
    </p:embeddedFont>
    <p:embeddedFont>
      <p:font typeface="Roboto"/>
      <p:regular xmlns:r="http://schemas.openxmlformats.org/officeDocument/2006/relationships" r:id="Rd59c7c22cc164543"/>
      <p:bold xmlns:r="http://schemas.openxmlformats.org/officeDocument/2006/relationships" r:id="Rfe0d05da79f64845"/>
      <p:italic xmlns:r="http://schemas.openxmlformats.org/officeDocument/2006/relationships" r:id="R3226cee452294e21"/>
      <p:boldItalic xmlns:r="http://schemas.openxmlformats.org/officeDocument/2006/relationships" r:id="Rbba72e84536f4a5f"/>
    </p:embeddedFont>
    <p:embeddedFont>
      <p:font typeface="Roboto Medium"/>
      <p:regular xmlns:r="http://schemas.openxmlformats.org/officeDocument/2006/relationships" r:id="R96420648b3974526"/>
      <p:italic xmlns:r="http://schemas.openxmlformats.org/officeDocument/2006/relationships" r:id="R30bbda67ab3c4941"/>
    </p:embeddedFont>
    <p:embeddedFont>
      <p:font typeface="Roboto SemiBold"/>
      <p:regular xmlns:r="http://schemas.openxmlformats.org/officeDocument/2006/relationships" r:id="R03eda9fd15064610"/>
      <p:bold xmlns:r="http://schemas.openxmlformats.org/officeDocument/2006/relationships" r:id="Rbf85f356c4f748d6"/>
      <p:italic xmlns:r="http://schemas.openxmlformats.org/officeDocument/2006/relationships" r:id="Rfbb0f809c5d94821"/>
      <p:boldItalic xmlns:r="http://schemas.openxmlformats.org/officeDocument/2006/relationships" r:id="Raf42236adc3e498b"/>
    </p:embeddedFont>
    <p:embeddedFont>
      <p:font typeface="Roboto Serif 14pt"/>
      <p:regular xmlns:r="http://schemas.openxmlformats.org/officeDocument/2006/relationships" r:id="R7dabff5fb3ac4b27"/>
      <p:bold xmlns:r="http://schemas.openxmlformats.org/officeDocument/2006/relationships" r:id="R378c2273795942e5"/>
      <p:italic xmlns:r="http://schemas.openxmlformats.org/officeDocument/2006/relationships" r:id="R8b6cfac854c24c15"/>
      <p:boldItalic xmlns:r="http://schemas.openxmlformats.org/officeDocument/2006/relationships" r:id="Rc6e486d8e58c4dcf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7b72e51984451c" /><Relationship Type="http://schemas.openxmlformats.org/officeDocument/2006/relationships/slideMaster" Target="/ppt/slideMasters/slideMaster1.xml" Id="R739a81bf11444703" /><Relationship Type="http://schemas.openxmlformats.org/officeDocument/2006/relationships/notesMaster" Target="/ppt/notesMasters/notesMaster1.xml" Id="Rf1ee837ba68e42f4" /><Relationship Type="http://schemas.openxmlformats.org/officeDocument/2006/relationships/presProps" Target="/ppt/presProps.xml" Id="Rcb53ca7ac82f4154" /><Relationship Type="http://schemas.openxmlformats.org/officeDocument/2006/relationships/viewProps" Target="/ppt/viewProps.xml" Id="Rc47b504e57c34ddc" /><Relationship Type="http://schemas.openxmlformats.org/officeDocument/2006/relationships/tableStyles" Target="/ppt/tableStyles.xml" Id="R13aeeab091b24999" /><Relationship Type="http://schemas.openxmlformats.org/officeDocument/2006/relationships/font" Target="/ppt/fonts/font.dat" Id="Rfc5e2b0739ed4266" /><Relationship Type="http://schemas.openxmlformats.org/officeDocument/2006/relationships/font" Target="/ppt/fonts/font2.dat" Id="R2d7abaf5a4424ae6" /><Relationship Type="http://schemas.openxmlformats.org/officeDocument/2006/relationships/font" Target="/ppt/fonts/font3.dat" Id="Rfa59d689a15a472a" /><Relationship Type="http://schemas.openxmlformats.org/officeDocument/2006/relationships/font" Target="/ppt/fonts/font4.dat" Id="Rd0332372575d4c90" /><Relationship Type="http://schemas.openxmlformats.org/officeDocument/2006/relationships/font" Target="/ppt/fonts/font5.dat" Id="R1f710c6f7a2f4e2c" /><Relationship Type="http://schemas.openxmlformats.org/officeDocument/2006/relationships/font" Target="/ppt/fonts/font6.dat" Id="Rdb2fc2931d934a4c" /><Relationship Type="http://schemas.openxmlformats.org/officeDocument/2006/relationships/font" Target="/ppt/fonts/font7.dat" Id="R008a51ff4d8d40c3" /><Relationship Type="http://schemas.openxmlformats.org/officeDocument/2006/relationships/font" Target="/ppt/fonts/font8.dat" Id="Rc7badb13f77a4407" /><Relationship Type="http://schemas.openxmlformats.org/officeDocument/2006/relationships/font" Target="/ppt/fonts/font9.dat" Id="R0bc452b474724107" /><Relationship Type="http://schemas.openxmlformats.org/officeDocument/2006/relationships/font" Target="/ppt/fonts/font10.dat" Id="R62642d88a2ce428c" /><Relationship Type="http://schemas.openxmlformats.org/officeDocument/2006/relationships/font" Target="/ppt/fonts/font11.dat" Id="Rd59c7c22cc164543" /><Relationship Type="http://schemas.openxmlformats.org/officeDocument/2006/relationships/font" Target="/ppt/fonts/font12.dat" Id="Rfe0d05da79f64845" /><Relationship Type="http://schemas.openxmlformats.org/officeDocument/2006/relationships/font" Target="/ppt/fonts/font13.dat" Id="R3226cee452294e21" /><Relationship Type="http://schemas.openxmlformats.org/officeDocument/2006/relationships/font" Target="/ppt/fonts/font14.dat" Id="Rbba72e84536f4a5f" /><Relationship Type="http://schemas.openxmlformats.org/officeDocument/2006/relationships/font" Target="/ppt/fonts/font15.dat" Id="R96420648b3974526" /><Relationship Type="http://schemas.openxmlformats.org/officeDocument/2006/relationships/font" Target="/ppt/fonts/font16.dat" Id="R30bbda67ab3c4941" /><Relationship Type="http://schemas.openxmlformats.org/officeDocument/2006/relationships/font" Target="/ppt/fonts/font17.dat" Id="R03eda9fd15064610" /><Relationship Type="http://schemas.openxmlformats.org/officeDocument/2006/relationships/font" Target="/ppt/fonts/font18.dat" Id="Rbf85f356c4f748d6" /><Relationship Type="http://schemas.openxmlformats.org/officeDocument/2006/relationships/font" Target="/ppt/fonts/font19.dat" Id="Rfbb0f809c5d94821" /><Relationship Type="http://schemas.openxmlformats.org/officeDocument/2006/relationships/font" Target="/ppt/fonts/font20.dat" Id="Raf42236adc3e498b" /><Relationship Type="http://schemas.openxmlformats.org/officeDocument/2006/relationships/font" Target="/ppt/fonts/font21.dat" Id="R7dabff5fb3ac4b27" /><Relationship Type="http://schemas.openxmlformats.org/officeDocument/2006/relationships/font" Target="/ppt/fonts/font22.dat" Id="R378c2273795942e5" /><Relationship Type="http://schemas.openxmlformats.org/officeDocument/2006/relationships/font" Target="/ppt/fonts/font23.dat" Id="R8b6cfac854c24c15" /><Relationship Type="http://schemas.openxmlformats.org/officeDocument/2006/relationships/font" Target="/ppt/fonts/font24.dat" Id="Rc6e486d8e58c4dcf" /><Relationship Type="http://schemas.openxmlformats.org/officeDocument/2006/relationships/slide" Target="/ppt/slides/slide1.xml" Id="R5fe5e78578ea4f11" /><Relationship Type="http://schemas.openxmlformats.org/officeDocument/2006/relationships/slide" Target="/ppt/slides/slide2.xml" Id="R168485987f9243af" /><Relationship Type="http://schemas.openxmlformats.org/officeDocument/2006/relationships/slide" Target="/ppt/slides/slide3.xml" Id="R623641968ae54410" /><Relationship Type="http://schemas.openxmlformats.org/officeDocument/2006/relationships/slide" Target="/ppt/slides/slide4.xml" Id="R60b6980bbd4f4e95" /><Relationship Type="http://schemas.openxmlformats.org/officeDocument/2006/relationships/slide" Target="/ppt/slides/slide5.xml" Id="Rea4ba8a2ab0c43b3" /><Relationship Type="http://schemas.openxmlformats.org/officeDocument/2006/relationships/slide" Target="/ppt/slides/slide6.xml" Id="R27db67abf91f4d97" /><Relationship Type="http://schemas.openxmlformats.org/officeDocument/2006/relationships/slide" Target="/ppt/slides/slide7.xml" Id="R9fd68af1e8634a1a" /><Relationship Type="http://schemas.openxmlformats.org/officeDocument/2006/relationships/slide" Target="/ppt/slides/slide8.xml" Id="R447463eeb5c84ed6" /><Relationship Type="http://schemas.openxmlformats.org/officeDocument/2006/relationships/slide" Target="/ppt/slides/slide9.xml" Id="Ra5c93c47d1d44fa7" /><Relationship Type="http://schemas.openxmlformats.org/officeDocument/2006/relationships/slide" Target="/ppt/slides/slide10.xml" Id="R4c3c7683206e470d" /><Relationship Type="http://schemas.openxmlformats.org/officeDocument/2006/relationships/slide" Target="/ppt/slides/slide11.xml" Id="Rb5622dfbb9f74b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277de0166b4c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f6a5b2ef974046" /><Relationship Type="http://schemas.openxmlformats.org/officeDocument/2006/relationships/notesMaster" Target="/ppt/notesMasters/notesMaster1.xml" Id="Re21c8699b7e841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a6c5c3245b4261" /><Relationship Type="http://schemas.openxmlformats.org/officeDocument/2006/relationships/notesMaster" Target="/ppt/notesMasters/notesMaster1.xml" Id="R11469807493548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58236bec9742a4" /><Relationship Type="http://schemas.openxmlformats.org/officeDocument/2006/relationships/notesMaster" Target="/ppt/notesMasters/notesMaster1.xml" Id="R11cabbda84704a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c44341b0934028" /><Relationship Type="http://schemas.openxmlformats.org/officeDocument/2006/relationships/notesMaster" Target="/ppt/notesMasters/notesMaster1.xml" Id="R9dd79906756243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112fb6fffa434a" /><Relationship Type="http://schemas.openxmlformats.org/officeDocument/2006/relationships/notesMaster" Target="/ppt/notesMasters/notesMaster1.xml" Id="R0706e800f5b74d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033c7e89e64e7e" /><Relationship Type="http://schemas.openxmlformats.org/officeDocument/2006/relationships/notesMaster" Target="/ppt/notesMasters/notesMaster1.xml" Id="R53d359d6ece74b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7179e984194b15" /><Relationship Type="http://schemas.openxmlformats.org/officeDocument/2006/relationships/notesMaster" Target="/ppt/notesMasters/notesMaster1.xml" Id="R8126f48dda9c48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83cb9ddd6c42e9" /><Relationship Type="http://schemas.openxmlformats.org/officeDocument/2006/relationships/notesMaster" Target="/ppt/notesMasters/notesMaster1.xml" Id="R319745df703549a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2f424890d942a7" /><Relationship Type="http://schemas.openxmlformats.org/officeDocument/2006/relationships/notesMaster" Target="/ppt/notesMasters/notesMaster1.xml" Id="R8a4e9932b35c4c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fdc2acf69a24028" /><Relationship Type="http://schemas.openxmlformats.org/officeDocument/2006/relationships/notesMaster" Target="/ppt/notesMasters/notesMaster1.xml" Id="Rd24e97174bcd4bf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e177737718c4ca4" /><Relationship Type="http://schemas.openxmlformats.org/officeDocument/2006/relationships/notesMaster" Target="/ppt/notesMasters/notesMaster1.xml" Id="Rd0feee2c67a44e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Начните с одной фразы: JohnnyStore — учебный одностраничный интернет-магазин техники, собранный как цельный продукт. Сегодня я покажу не только интерфейс, но и то, как устроен пользовательский сценарий и кодовая база.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Здесь коротко обозначьте логику рассказа: сначала проблема и ценность, затем путь пользователя, потом техническая реализация и честный разговор о том, что уже готово и что логично делать дальше.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Главная мысль слайда: проект уже демонстрирует связный пользовательский опыт. Важно подчеркнуть, что локальные данные — осознанное ограничение учебного MVP, а productService оставляет точку замены на API.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Объясните ценность через четыре слоя: пользователь может найти товар, сузить выбор, принять решение и завершить покупку. Последняя карточка показывает, что проект учитывает не только визуальный слой, но и базовую доступность.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На этом слайде перечислите то, что можно показать в демо без дополнительных пояснений: каталог, checkout и состояния интерфейса. Отдельно скажите, что оплата учебная и не подключена к реальному платёжному провайдеру.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Расскажите об архитектуре сверху вниз: App задаёт маршруты, Layout собирает общую оболочку, Context-модули владеют состоянием, а productService скрывает источник данных. Это показывает, что структура проекта поддерживает дальнейшее расширение.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Проведите аудиторию по flow слева направо. Затем покажите, что каждому шагу соответствует понятный технический слой: маршруты, контексты, сервис данных и persistence в localStorage.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Это смысловой акцент презентации. Скажите: ценность JohnnyStore не в количестве экранов, а в том, что эти экраны работают вместе и ведут пользователя к понятному результату.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Здесь опирайтесь на цифры из исходного каталога: 42 позиции, шесть категорий. Важно честно обозначить ограничение: данные локальные, а оплата учебная. Это не скрывает ценность прототипа, а задаёт понятный план развития.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График показывает распределение каталога. Аксессуары дают самый широкий слой данных, а основные устройства распределены равномерно. Это хороший фундамент для будущего API, фильтров и аналитики ассортимента.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Финал: сформулируйте три следующих действия. Первое — подключить API через уже выделенный productService. Второе — добавить тесты для основных reducer и checkout-сценариев. Третье — вынести заказ и оплату в backend.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66f279b3b6487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77870da0d4453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68d997163d45b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eae9ab6c6840f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1bc589c8d4475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765d48dd824d2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73100a2b264db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3db810402e47cd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latin typeface="Lora SemiBold"/>
                <a:ea typeface="Lora SemiBold"/>
                <a:cs typeface="Lora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8129411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8705144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493000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8466647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7361767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587544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c7a184884e42e5" /><Relationship Type="http://schemas.openxmlformats.org/officeDocument/2006/relationships/slideLayout" Target="/ppt/slideLayouts/slideLayout1.xml" Id="R3a7b49d478b34725" /><Relationship Type="http://schemas.openxmlformats.org/officeDocument/2006/relationships/slideLayout" Target="/ppt/slideLayouts/slideLayout2.xml" Id="Re6f826291cc44b12" /><Relationship Type="http://schemas.openxmlformats.org/officeDocument/2006/relationships/slideLayout" Target="/ppt/slideLayouts/slideLayout3.xml" Id="Rea45f738c73b4fc3" /><Relationship Type="http://schemas.openxmlformats.org/officeDocument/2006/relationships/slideLayout" Target="/ppt/slideLayouts/slideLayout4.xml" Id="R2c51412314804b57" /><Relationship Type="http://schemas.openxmlformats.org/officeDocument/2006/relationships/slideLayout" Target="/ppt/slideLayouts/slideLayout5.xml" Id="Rdb7c63bab8d94e34" /><Relationship Type="http://schemas.openxmlformats.org/officeDocument/2006/relationships/slideLayout" Target="/ppt/slideLayouts/slideLayout6.xml" Id="R901eab1339d94d62" /><Relationship Type="http://schemas.openxmlformats.org/officeDocument/2006/relationships/slideLayout" Target="/ppt/slideLayouts/slideLayout7.xml" Id="Rb648ebac90cc4bba" /><Relationship Type="http://schemas.openxmlformats.org/officeDocument/2006/relationships/slideLayout" Target="/ppt/slideLayouts/slideLayout8.xml" Id="R3e3d8dd6d2a84a80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531100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7b49d478b34725"/>
    <p:sldLayoutId xmlns:r="http://schemas.openxmlformats.org/officeDocument/2006/relationships" id="2147483650" r:id="Re6f826291cc44b12"/>
    <p:sldLayoutId xmlns:r="http://schemas.openxmlformats.org/officeDocument/2006/relationships" id="2147483651" r:id="Rea45f738c73b4fc3"/>
    <p:sldLayoutId xmlns:r="http://schemas.openxmlformats.org/officeDocument/2006/relationships" id="2147483652" r:id="R2c51412314804b57"/>
    <p:sldLayoutId xmlns:r="http://schemas.openxmlformats.org/officeDocument/2006/relationships" id="2147483653" r:id="Rdb7c63bab8d94e34"/>
    <p:sldLayoutId xmlns:r="http://schemas.openxmlformats.org/officeDocument/2006/relationships" id="2147483654" r:id="R901eab1339d94d62"/>
    <p:sldLayoutId xmlns:r="http://schemas.openxmlformats.org/officeDocument/2006/relationships" id="2147483655" r:id="Rb648ebac90cc4bba"/>
    <p:sldLayoutId xmlns:r="http://schemas.openxmlformats.org/officeDocument/2006/relationships" id="2147483656" r:id="R3e3d8dd6d2a84a80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1" i="0" kern="1200">
          <a:solidFill>
            <a:schemeClr val="tx1"/>
          </a:solidFill>
          <a:latin typeface="Lora SemiBold"/>
          <a:ea typeface="Lora SemiBold"/>
          <a:cs typeface="Lora SemiBold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520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fab7f9f7444c68" /><Relationship Type="http://schemas.openxmlformats.org/officeDocument/2006/relationships/notesSlide" Target="/ppt/notesSlides/notesSlide1.xml" Id="Rdbe889c59d664a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ae8297d8f14b95" /><Relationship Type="http://schemas.openxmlformats.org/officeDocument/2006/relationships/notesSlide" Target="/ppt/notesSlides/notesSlide2.xml" Id="Rd41d5587e07f4e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3787ce07e54a46" /><Relationship Type="http://schemas.openxmlformats.org/officeDocument/2006/relationships/notesSlide" Target="/ppt/notesSlides/notesSlide3.xml" Id="Rd33f913987864d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53c5bc646c49eb" /><Relationship Type="http://schemas.openxmlformats.org/officeDocument/2006/relationships/notesSlide" Target="/ppt/notesSlides/notesSlide4.xml" Id="Rdf429ba905a34b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5fc9d06af345be" /><Relationship Type="http://schemas.openxmlformats.org/officeDocument/2006/relationships/notesSlide" Target="/ppt/notesSlides/notesSlide5.xml" Id="R988345ac05b045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9fa68e7dbb45f5" /><Relationship Type="http://schemas.openxmlformats.org/officeDocument/2006/relationships/notesSlide" Target="/ppt/notesSlides/notesSlide6.xml" Id="R221716fc7a2246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37bee79cc24af4" /><Relationship Type="http://schemas.openxmlformats.org/officeDocument/2006/relationships/notesSlide" Target="/ppt/notesSlides/notesSlide7.xml" Id="R4b7570ff6a4f42d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c9028826bf4754" /><Relationship Type="http://schemas.openxmlformats.org/officeDocument/2006/relationships/notesSlide" Target="/ppt/notesSlides/notesSlide8.xml" Id="Re7b18af7ada343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9d46cda4044dc4" /><Relationship Type="http://schemas.openxmlformats.org/officeDocument/2006/relationships/notesSlide" Target="/ppt/notesSlides/notesSlide9.xml" Id="R7b7b87f408c2488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d76ac72bcd484a" /><Relationship Type="http://schemas.openxmlformats.org/officeDocument/2006/relationships/notesSlide" Target="/ppt/notesSlides/notesSlide10.xml" Id="R65c7e959ca0b42b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4e5ab59d344e13" /><Relationship Type="http://schemas.openxmlformats.org/officeDocument/2006/relationships/notesSlide" Target="/ppt/notesSlides/notesSlide11.xml" Id="Re919247c276f4a1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06809B0-D483-45C1-B580-B57BB5CC520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69969" y="1444887"/>
            <a:ext cx="9448800" cy="1726468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rPr sz="5500">
                <a:solidFill>
                  <a:schemeClr val="accent1"/>
                </a:solidFill>
                <a:latin typeface="Lora Medium"/>
                <a:ea typeface="Lora Medium"/>
                <a:cs typeface="Lora Medium"/>
              </a:rPr>
              <a:t>JohnnyStore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D11E6E-01C0-D6E4-28D7-D7F6B94AF61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3019" y="5077241"/>
            <a:ext cx="6304556" cy="1076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400">
                <a:solidFill>
                  <a:schemeClr val="accent2">
                    <a:lumMod val="50000"/>
                  </a:schemeClr>
                </a:solidFill>
              </a:rPr>
              <a:t>Обзор продукта, пользовательского пути и архитектуры учебного e-commerce проекта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C66AB198-0518-67DE-AB81-D65264FD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18" y="4606175"/>
            <a:ext cx="6304556" cy="3202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6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ОКТЯБРЬ 2026</a:t>
            </a:r>
          </a:p>
        </p:txBody>
      </p:sp>
      <p:sp>
        <p:nvSpPr>
          <p:cNvPr id="10" name="Subtitle 4">
            <a:extLst xmlns:a="http://schemas.openxmlformats.org/drawingml/2006/main">
              <a:ext uri="{FF2B5EF4-FFF2-40B4-BE49-F238E27FC236}">
                <a16:creationId xmlns:a16="http://schemas.microsoft.com/office/drawing/2014/main" id="{CC2E0538-5645-7BC8-CF3A-FDF31FD9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18" y="555606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accent2">
                    <a:lumMod val="90000"/>
                  </a:schemeClr>
                </a:solidFill>
                <a:latin typeface="Roboto Medium"/>
                <a:ea typeface="Roboto Medium"/>
                <a:cs typeface="Roboto Medium"/>
              </a:rPr>
              <a:t>FRONTRAIN / JOHNNYSTORE</a:t>
            </a:r>
          </a:p>
        </p:txBody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FF9A3A48-C53E-41BD-B917-57B26372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3260" y="3934067"/>
            <a:ext cx="1255852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68508855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3108432E-6CC9-7470-65A5-7F6A330EFB4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2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40BD946D-556A-ECA8-679C-19ABE963A4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1046195"/>
            <a:ext cx="9448800" cy="98580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JohnnyStore: обзор проекта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173F7058-30A0-0125-1A90-B808A012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2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Содержание</a:t>
            </a:r>
          </a:p>
        </p:txBody>
      </p:sp>
      <p:graphicFrame>
        <p:nvGraphicFramePr>
          <p:cNvPr id="7" name="Table 6">
            <a:extLst xmlns:a="http://schemas.openxmlformats.org/drawingml/2006/main">
              <a:ext uri="{FF2B5EF4-FFF2-40B4-BE49-F238E27FC236}">
                <a16:creationId xmlns:a16="http://schemas.microsoft.com/office/drawing/2014/main" id="{E81FE86D-A8C4-450A-A14F-648AA200FAC6}"/>
              </a:ext>
            </a:extLst>
          </p:cNvPr>
          <p:cNvGraphicFramePr/>
          <p:nvPr/>
        </p:nvGraphicFramePr>
        <p:xfrm>
          <a:off xmlns:a="http://schemas.openxmlformats.org/drawingml/2006/main" x="393700" y="2573020"/>
          <a:ext xmlns:a="http://schemas.openxmlformats.org/drawingml/2006/main" cx="11404600" cy="35661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578"/>
                <a:gridCol w="6875813"/>
                <a:gridCol w="3901209"/>
              </a:tblGrid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01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Идея продукта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strike="noStrike" cap="none" spc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JohnnyStore как учебный e-commerce flow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02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Пользовательский путь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strike="noStrike" cap="none" spc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От каталога до подтверждения заказа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03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Архитектура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strike="noStrike" cap="none" spc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React, Router, Context API и слой данных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04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Текущий статус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strike="noStrike" cap="none" spc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42 товара, 6 категорий, полный основной сценарий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05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Следующие шаги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strike="noStrike" cap="none" spc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API, тесты и реальный backend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06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Демо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strike="noStrike" cap="none" spc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Ключевые решения и ограничения проекта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810BED8-CB43-D17C-4D24-32A4B0893D6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3601337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104A3BAC-0B15-4A0A-B780-C015C5E85EA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699" y="2812968"/>
            <a:ext cx="5537200" cy="186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JohnnyStore уже выглядит как продукт, а не набор отдельных экранов.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D94420B-35FE-403C-94D6-9A35872B806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EB0D0D6-9F19-4EDB-1B7A-65BF181B1A1D}" type="slidenum">
              <a:t>Зафиксировать следующий шаг: подключить API и backend, сохранив текущий интерфейс и сервисный слой.</a:t>
            </a:fld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3548D03-1D0F-655D-DD48-D4BF5C80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111025"/>
            <a:ext cx="1844403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Текущий статус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6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4051D0BE-5D22-BCB4-EADF-44F16643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2826992"/>
            <a:ext cx="5537200" cy="10010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Сильная сторона проекта — связность: единое состояние каталога, корзины, избранного, сравнения и темы.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EE26938C-7FB7-798D-7C48-98893273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2344035"/>
            <a:ext cx="5537200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Главный вывод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10" name="Title 2">
            <a:extLst xmlns:a="http://schemas.openxmlformats.org/drawingml/2006/main">
              <a:ext uri="{FF2B5EF4-FFF2-40B4-BE49-F238E27FC236}">
                <a16:creationId xmlns:a16="http://schemas.microsoft.com/office/drawing/2014/main" id="{944AF173-BF22-B5ED-B88F-9080D8699E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1046195"/>
            <a:ext cx="11403610" cy="623819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Проект собран как цельный shopping flow</a:t>
            </a:r>
          </a:p>
        </p:txBody>
      </p:sp>
      <p:sp>
        <p:nvSpPr>
          <p:cNvPr id="11" name="Subtitle 4">
            <a:extLst xmlns:a="http://schemas.openxmlformats.org/drawingml/2006/main">
              <a:ext uri="{FF2B5EF4-FFF2-40B4-BE49-F238E27FC236}">
                <a16:creationId xmlns:a16="http://schemas.microsoft.com/office/drawing/2014/main" id="{42E9C51D-AB09-8D83-4157-006D5713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2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Резюме проекта</a:t>
            </a:r>
          </a:p>
        </p:txBody>
      </p:sp>
      <p:sp>
        <p:nvSpPr>
          <p:cNvPr id="15" name="Straight Connector 14">
            <a:extLst xmlns:a="http://schemas.openxmlformats.org/drawingml/2006/main">
              <a:ext uri="{FF2B5EF4-FFF2-40B4-BE49-F238E27FC236}">
                <a16:creationId xmlns:a16="http://schemas.microsoft.com/office/drawing/2014/main" id="{1E93BF4A-0405-4855-A606-2F15D21A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039769"/>
            <a:ext cx="55372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108E1773-B682-C5EE-6944-58546A38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4867987"/>
            <a:ext cx="5537200" cy="12002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>
                <a:latin typeface="Helvetica Neue"/>
                <a:ea typeface="Helvetica Neue"/>
                <a:cs typeface="Helvetica Neue"/>
              </a:rPr>
              <a:t>amet</a:t>
            </a:r>
            <a:r>
              <a:rPr sz="1600">
                <a:latin typeface="Helvetica Neue"/>
                <a:ea typeface="Helvetica Neue"/>
                <a:cs typeface="Helvetica Neue"/>
              </a:rPr>
              <a:t>, </a:t>
            </a:r>
            <a:r>
              <a:rPr sz="1600"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elit</a:t>
            </a:r>
            <a:r>
              <a:rPr sz="1600">
                <a:latin typeface="Helvetica Neue"/>
                <a:ea typeface="Helvetica Neue"/>
                <a:cs typeface="Helvetica Neue"/>
              </a:rPr>
              <a:t>. </a:t>
            </a:r>
            <a:r>
              <a:rPr sz="1600"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quam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ut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massa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luctus</a:t>
            </a:r>
            <a:r>
              <a:rPr sz="1600">
                <a:latin typeface="Helvetica Neue"/>
                <a:ea typeface="Helvetica Neue"/>
                <a:cs typeface="Helvetica Neue"/>
              </a:rPr>
              <a:t> cursus. </a:t>
            </a:r>
            <a:r>
              <a:rPr sz="1600">
                <a:latin typeface="Helvetica Neue"/>
                <a:ea typeface="Helvetica Neue"/>
                <a:cs typeface="Helvetica Neue"/>
              </a:rPr>
              <a:t>Nullam</a:t>
            </a:r>
            <a:r>
              <a:rPr sz="1600">
                <a:latin typeface="Helvetica Neue"/>
                <a:ea typeface="Helvetica Neue"/>
                <a:cs typeface="Helvetica Neue"/>
              </a:rPr>
              <a:t> pharetra </a:t>
            </a:r>
            <a:r>
              <a:rPr sz="1600">
                <a:latin typeface="Helvetica Neue"/>
                <a:ea typeface="Helvetica Neue"/>
                <a:cs typeface="Helvetica Neue"/>
              </a:rPr>
              <a:t>mauris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tortor</a:t>
            </a:r>
            <a:r>
              <a:rPr sz="1600">
                <a:latin typeface="Helvetica Neue"/>
                <a:ea typeface="Helvetica Neue"/>
                <a:cs typeface="Helvetica Neue"/>
              </a:rPr>
              <a:t>. In hac </a:t>
            </a:r>
            <a:r>
              <a:rPr sz="1600">
                <a:latin typeface="Helvetica Neue"/>
                <a:ea typeface="Helvetica Neue"/>
                <a:cs typeface="Helvetica Neue"/>
              </a:rPr>
              <a:t>habitasse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platea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dictumst</a:t>
            </a:r>
            <a:r>
              <a:rPr sz="1600">
                <a:latin typeface="Helvetica Neue"/>
                <a:ea typeface="Helvetica Neue"/>
                <a:cs typeface="Helvetica Neue"/>
              </a:rPr>
              <a:t>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6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1C1F2FD8-0D30-C7BF-5234-6F0EE46F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4385030"/>
            <a:ext cx="5537200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Решение на следующий этап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F16B487F-1A7A-C301-4AB8-8DC1C198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499" y="2093356"/>
            <a:ext cx="2271780" cy="402442"/>
          </a:xfrm>
          <a:prstGeom xmlns:a="http://schemas.openxmlformats.org/drawingml/2006/main" prst="roundRect">
            <a:avLst>
              <a:gd name="adj" fmla="val 15738"/>
            </a:avLst>
          </a:prstGeom>
          <a:solidFill xmlns:a="http://schemas.openxmlformats.org/drawingml/2006/main">
            <a:schemeClr val="accent1">
              <a:alpha val="24648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chemeClr val="accent1"/>
                </a:solidFill>
              </a:rPr>
              <a:t>Учебный MVP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3AF61EC-DBA0-BFB1-3293-0BF5DB67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4756098"/>
            <a:ext cx="5537199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Итог</a:t>
            </a:r>
          </a:p>
        </p:txBody>
      </p:sp>
      <p:sp>
        <p:nvSpPr>
          <p:cNvPr id="1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47E14DB1-10CD-1A00-06DC-F11F9056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51" y="5134071"/>
            <a:ext cx="5537200" cy="8603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>
                <a:latin typeface="Helvetica Neue"/>
                <a:ea typeface="Helvetica Neue"/>
                <a:cs typeface="Helvetica Neue"/>
              </a:rPr>
              <a:t>amet</a:t>
            </a:r>
            <a:r>
              <a:rPr sz="1600">
                <a:latin typeface="Helvetica Neue"/>
                <a:ea typeface="Helvetica Neue"/>
                <a:cs typeface="Helvetica Neue"/>
              </a:rPr>
              <a:t>, </a:t>
            </a:r>
            <a:r>
              <a:rPr sz="1600"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elit</a:t>
            </a:r>
            <a:r>
              <a:rPr sz="1600">
                <a:latin typeface="Helvetica Neue"/>
                <a:ea typeface="Helvetica Neue"/>
                <a:cs typeface="Helvetica Neue"/>
              </a:rPr>
              <a:t>. </a:t>
            </a:r>
            <a:r>
              <a:rPr sz="1600"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quam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ut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massa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luctus</a:t>
            </a:r>
            <a:r>
              <a:rPr sz="1600">
                <a:latin typeface="Helvetica Neue"/>
                <a:ea typeface="Helvetica Neue"/>
                <a:cs typeface="Helvetica Neue"/>
              </a:rPr>
              <a:t> cursus.</a:t>
            </a:r>
          </a:p>
        </p:txBody>
      </p:sp>
    </p:spTree>
    <p:extLst>
      <p:ext uri="{BB962C8B-B14F-4D97-AF65-F5344CB8AC3E}">
        <p14:creationId xmlns:p14="http://schemas.microsoft.com/office/powerpoint/2010/main" val="22190858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Ключевая ценность для пользователя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E3149F3-A7D7-BC8F-C84C-4A4E60EA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CD1077A-BBDF-3B07-D940-FA5482CB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54A841D-1EA0-6181-C778-7C851CA6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325089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6 категорий техники и поиск без перезагрузки.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4E203EC-EB81-96EF-66AB-3B6012B4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000F722-C0CE-FDAF-EAFE-20BC4A7F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A4694142-7504-448C-B110-ABCB1A6DD41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1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649094"/>
            <a:ext cx="11404600" cy="63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Один интерфейс закрывает выбор, сравнение, сохранение и покупку техники.</a:t>
            </a:r>
          </a:p>
        </p:txBody>
      </p:sp>
      <p:sp>
        <p:nvSpPr>
          <p:cNvPr id="1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1146566"/>
            <a:ext cx="11404599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Lorem ipsum dolor sit </a:t>
            </a:r>
            <a:r>
              <a:rPr sz="2000">
                <a:latin typeface="+mj-lt"/>
                <a:ea typeface="+mj-lt"/>
                <a:cs typeface="+mj-lt"/>
              </a:rPr>
              <a:t>amet</a:t>
            </a:r>
            <a:r>
              <a:rPr sz="2000">
                <a:latin typeface="+mj-lt"/>
                <a:ea typeface="+mj-lt"/>
                <a:cs typeface="+mj-lt"/>
              </a:rPr>
              <a:t>, </a:t>
            </a:r>
            <a:r>
              <a:rPr sz="2000">
                <a:latin typeface="+mj-lt"/>
                <a:ea typeface="+mj-lt"/>
                <a:cs typeface="+mj-lt"/>
              </a:rPr>
              <a:t>consectetur</a:t>
            </a:r>
            <a:r>
              <a:rPr sz="2000">
                <a:latin typeface="+mj-lt"/>
                <a:ea typeface="+mj-lt"/>
                <a:cs typeface="+mj-lt"/>
              </a:rPr>
              <a:t> </a:t>
            </a:r>
            <a:r>
              <a:rPr sz="2000">
                <a:latin typeface="+mj-lt"/>
                <a:ea typeface="+mj-lt"/>
                <a:cs typeface="+mj-lt"/>
              </a:rPr>
              <a:t>adipiscing</a:t>
            </a:r>
            <a:r>
              <a:rPr sz="2000">
                <a:latin typeface="+mj-lt"/>
                <a:ea typeface="+mj-lt"/>
                <a:cs typeface="+mj-lt"/>
              </a:rPr>
              <a:t> </a:t>
            </a:r>
            <a:r>
              <a:rPr sz="2000">
                <a:latin typeface="+mj-lt"/>
                <a:ea typeface="+mj-lt"/>
                <a:cs typeface="+mj-lt"/>
              </a:rPr>
              <a:t>elit</a:t>
            </a:r>
            <a:r>
              <a:rPr sz="2000">
                <a:latin typeface="+mj-lt"/>
                <a:ea typeface="+mj-lt"/>
                <a:cs typeface="+mj-lt"/>
              </a:rPr>
              <a:t>. 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9DCE927-F1A4-A9ED-C839-844BB688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279380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Каталог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71DDDF3-A6F6-A2D9-7F68-A246AE82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325089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Категория, цена, бренд, наличие и сортировка.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AD06467-8163-39A0-0B9A-1A98533B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279380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Фильтры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61F5831-A6CA-0036-3E5C-283D4EBA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Корзина, валидация checkout и подтверждение заказа.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283300B-2E76-54E3-B3E8-C4CE0DA3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Покупка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E87E4E-34C4-73A3-D9B4-5528035E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Адаптивность, keyboard focus и reduced motion.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BBBD727-79F1-2502-A083-A18F5A75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Доступность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Что уже реализовано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BD5D3365-630B-7DA2-6578-D2DE7ACBBC0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0"/>
            <a:ext cx="55372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Функциональность собрана вокруг реального пути покупателя, а не вокруг отдельных компонентов.</a:t>
            </a:r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436666"/>
            <a:ext cx="5537200" cy="7193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Функциональность собрана вокруг реального пути покупателя, а не вокруг отдельных компонентов.</a:t>
            </a:r>
          </a:p>
        </p:txBody>
      </p:sp>
      <p:sp>
        <p:nvSpPr>
          <p:cNvPr id="2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4FA777D-1E43-2118-018B-D684DB7E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104" y="2184252"/>
            <a:ext cx="501476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4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Поиск, фильтры, сортировка, категории и карточки товаров.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F2F01BD9-1359-C69B-3F1A-A3653422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793" y="1813255"/>
            <a:ext cx="5014766" cy="243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4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Каталог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C99D68F-34ED-A722-D7DB-03942B0B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42" y="1521935"/>
            <a:ext cx="5394187" cy="1393857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4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2674159-B6E6-B9EF-D753-5EF1E687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104" y="3693012"/>
            <a:ext cx="501476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4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Валидация формы, доставка, оплата и учебный номер заказа.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7D84212-7716-6AFC-2CCA-1118E418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793" y="3322015"/>
            <a:ext cx="5014766" cy="243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4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Checkout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20BED9B-3AD0-B986-23FF-346EFF8E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42" y="3030695"/>
            <a:ext cx="5394187" cy="1393857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8865802-6967-7210-3371-DEA6828B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105" y="5201772"/>
            <a:ext cx="501476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4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Skeleton Loader, Error, Empty, 404, темы и mobile navigation.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D2FEB2E-B2D7-376B-AFC1-B25E2E37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794" y="4830775"/>
            <a:ext cx="5014766" cy="243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4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Состояния интерфейса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95C5540-5014-B354-3651-51BA1275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43" y="4539455"/>
            <a:ext cx="5394187" cy="1393857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14037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6</a:t>
            </a:fld>
            <a:endParaRPr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Context API + useReducer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Корзина, каталог, избранное, сравнение и тема живут отдельно.</a:t>
            </a:r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productService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</a:rPr>
              <a:t>Локальный JSON изолирован от компонентов и готов к замене на API.</a:t>
            </a:r>
            <a:endParaRPr sz="1600"/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7FAC9A03-119F-393D-2295-2587BE7C4F7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2F7C895E-DE9C-ED5D-5936-715D047B60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7556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Архитектура продукта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E49F3E50-E7DD-037F-1687-7A3A0847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7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6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895137EF-1168-9543-8134-200AA74D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6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React + Router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</a:rPr>
              <a:t>Страницы и маршрутизация собраны вокруг единого Layout.</a:t>
            </a:r>
            <a:endParaRPr sz="1600"/>
          </a:p>
        </p:txBody>
      </p:sp>
      <p:sp>
        <p:nvSpPr>
          <p:cNvPr id="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926CAA1-5F44-3769-A410-E058BAEE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208EF3D1-5C57-8D4F-49C8-21BD7442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820543"/>
            <a:ext cx="11404600" cy="13266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Такой разрез упрощает развитие проекта и подключение backend без переписывания страниц.</a:t>
            </a:r>
          </a:p>
        </p:txBody>
      </p:sp>
      <p:sp>
        <p:nvSpPr>
          <p:cNvPr id="1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3CCF932-231F-7EA0-6520-FFB192B4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1318016"/>
            <a:ext cx="11404599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Lorem ipsum dolor sit </a:t>
            </a:r>
            <a:r>
              <a:rPr sz="2000">
                <a:latin typeface="+mj-lt"/>
                <a:ea typeface="+mj-lt"/>
                <a:cs typeface="+mj-lt"/>
              </a:rPr>
              <a:t>amet</a:t>
            </a:r>
            <a:r>
              <a:rPr sz="2000">
                <a:latin typeface="+mj-lt"/>
                <a:ea typeface="+mj-lt"/>
                <a:cs typeface="+mj-lt"/>
              </a:rPr>
              <a:t>, </a:t>
            </a:r>
            <a:r>
              <a:rPr sz="2000">
                <a:latin typeface="+mj-lt"/>
                <a:ea typeface="+mj-lt"/>
                <a:cs typeface="+mj-lt"/>
              </a:rPr>
              <a:t>consectetur</a:t>
            </a:r>
            <a:r>
              <a:rPr sz="2000">
                <a:latin typeface="+mj-lt"/>
                <a:ea typeface="+mj-lt"/>
                <a:cs typeface="+mj-lt"/>
              </a:rPr>
              <a:t> </a:t>
            </a:r>
            <a:r>
              <a:rPr sz="2000">
                <a:latin typeface="+mj-lt"/>
                <a:ea typeface="+mj-lt"/>
                <a:cs typeface="+mj-lt"/>
              </a:rPr>
              <a:t>adipiscing</a:t>
            </a:r>
            <a:r>
              <a:rPr sz="2000">
                <a:latin typeface="+mj-lt"/>
                <a:ea typeface="+mj-lt"/>
                <a:cs typeface="+mj-lt"/>
              </a:rPr>
              <a:t> </a:t>
            </a:r>
            <a:r>
              <a:rPr sz="2000">
                <a:latin typeface="+mj-lt"/>
                <a:ea typeface="+mj-lt"/>
                <a:cs typeface="+mj-lt"/>
              </a:rPr>
              <a:t>elit</a:t>
            </a:r>
            <a:r>
              <a:rPr sz="2000">
                <a:latin typeface="+mj-lt"/>
                <a:ea typeface="+mj-lt"/>
                <a:cs typeface="+mj-lt"/>
              </a:rPr>
              <a:t>. </a:t>
            </a:r>
            <a:endParaRPr sz="2000">
              <a:latin typeface="+mj-lt"/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192694"/>
            <a:ext cx="5537200" cy="380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>1. Найти товар через категории, поиск и фильтры.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>2. Открыть карточку и добавить в корзину или сравнение.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>3. Проверить заказ и пройти валидацию checkout.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>4. Получить учебный номер заказа и очистить корзину.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42D94613-2318-AF8E-5E44-A9368AF45A21}" type="slidenum">
              <a:t>• React + Vite + React Router</a:t>
            </a:fld>
            <a:endParaRPr/>
          </a:p>
          <a:p xmlns:a="http://schemas.openxmlformats.org/drawingml/2006/main">
            <a:fld id="{DB66ABA5-BEC9-1EDD-5E03-0EF99B631C08}" type="slidenum">
              <a:t>• Context API и useReducer</a:t>
            </a:fld>
            <a:endParaRPr/>
          </a:p>
          <a:p xmlns:a="http://schemas.openxmlformats.org/drawingml/2006/main">
            <a:fld id="{44618FFC-A248-6F9D-0559-42BF5226347E}" type="slidenum">
              <a:t>• Fetch API через productService</a:t>
            </a:fld>
            <a:endParaRPr/>
          </a:p>
          <a:p xmlns:a="http://schemas.openxmlformats.org/drawingml/2006/main">
            <a:fld id="{2A482979-3790-306B-CD2F-108ABEF4CA98}" type="slidenum">
              <a:t>• localStorage для cart, favorites и theme</a:t>
            </a:fld>
            <a:endParaRPr/>
          </a:p>
          <a:p xmlns:a="http://schemas.openxmlformats.org/drawingml/2006/main">
            <a:fld id="{5023409B-3904-89AB-E7BD-D1939C33297F}" type="slidenum">
              <a:t>• CSS media queries для desktop, tablet и mobile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55026"/>
            <a:ext cx="7835900" cy="102927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Пользовательский путь и техническая реализация</a:t>
            </a:r>
          </a:p>
        </p:txBody>
      </p:sp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111" y="2192694"/>
            <a:ext cx="5537200" cy="380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Lorem ipsum dolor sit </a:t>
            </a:r>
            <a:r>
              <a:rPr sz="1400"/>
              <a:t>amet</a:t>
            </a:r>
            <a:r>
              <a:rPr sz="1400"/>
              <a:t>, </a:t>
            </a:r>
            <a:r>
              <a:rPr sz="1400"/>
              <a:t>consectetur</a:t>
            </a:r>
            <a:r>
              <a:rPr sz="1400"/>
              <a:t> </a:t>
            </a:r>
            <a:r>
              <a:rPr sz="1400"/>
              <a:t>adipiscing</a:t>
            </a:r>
            <a:r>
              <a:rPr sz="1400"/>
              <a:t> </a:t>
            </a:r>
            <a:r>
              <a:rPr sz="1400"/>
              <a:t>elit</a:t>
            </a:r>
            <a:r>
              <a:rPr sz="1400"/>
              <a:t>. </a:t>
            </a:r>
            <a:r>
              <a:rPr sz="1400"/>
              <a:t>Pellentesque</a:t>
            </a:r>
            <a:r>
              <a:rPr sz="1400"/>
              <a:t> </a:t>
            </a:r>
            <a:r>
              <a:rPr sz="1400"/>
              <a:t>ultricies</a:t>
            </a:r>
            <a:r>
              <a:rPr sz="1400"/>
              <a:t> </a:t>
            </a:r>
            <a:r>
              <a:rPr sz="1400"/>
              <a:t>quam</a:t>
            </a:r>
            <a:r>
              <a:rPr sz="1400"/>
              <a:t> </a:t>
            </a:r>
            <a:r>
              <a:rPr sz="1400"/>
              <a:t>ut</a:t>
            </a:r>
            <a:r>
              <a:rPr sz="1400"/>
              <a:t> </a:t>
            </a:r>
            <a:r>
              <a:rPr sz="1400"/>
              <a:t>massa</a:t>
            </a:r>
            <a:r>
              <a:rPr sz="1400"/>
              <a:t> </a:t>
            </a:r>
            <a:r>
              <a:rPr sz="1400"/>
              <a:t>luctus</a:t>
            </a:r>
            <a:r>
              <a:rPr sz="1400"/>
              <a:t> cursus. </a:t>
            </a:r>
            <a:r>
              <a:rPr sz="1400"/>
              <a:t>Nullam</a:t>
            </a:r>
            <a:r>
              <a:rPr sz="1400"/>
              <a:t> pharetra </a:t>
            </a:r>
            <a:r>
              <a:rPr sz="1400"/>
              <a:t>mauris</a:t>
            </a:r>
            <a:r>
              <a:rPr sz="1400"/>
              <a:t> </a:t>
            </a:r>
            <a:r>
              <a:rPr sz="1400"/>
              <a:t>tortor</a:t>
            </a:r>
            <a:r>
              <a:rPr sz="1400"/>
              <a:t>. In hac </a:t>
            </a:r>
            <a:r>
              <a:rPr sz="1400"/>
              <a:t>habitasse</a:t>
            </a:r>
            <a:r>
              <a:rPr sz="1400"/>
              <a:t> </a:t>
            </a:r>
            <a:r>
              <a:rPr sz="1400"/>
              <a:t>platea</a:t>
            </a:r>
            <a:r>
              <a:rPr sz="1400"/>
              <a:t> </a:t>
            </a:r>
            <a:r>
              <a:rPr sz="1400"/>
              <a:t>dictumst</a:t>
            </a:r>
            <a:r>
              <a:rPr sz="1400"/>
              <a:t>. Proin </a:t>
            </a:r>
            <a:r>
              <a:rPr sz="1400"/>
              <a:t>mattis</a:t>
            </a:r>
            <a:r>
              <a:rPr sz="1400"/>
              <a:t> </a:t>
            </a:r>
            <a:r>
              <a:rPr sz="1400"/>
              <a:t>nibh</a:t>
            </a:r>
            <a:r>
              <a:rPr sz="1400"/>
              <a:t> </a:t>
            </a:r>
            <a:r>
              <a:rPr sz="1400"/>
              <a:t>risus</a:t>
            </a:r>
            <a:r>
              <a:rPr sz="1400"/>
              <a:t>. </a:t>
            </a:r>
            <a:r>
              <a:rPr sz="1400"/>
              <a:t>Nulla</a:t>
            </a:r>
            <a:r>
              <a:rPr sz="1400"/>
              <a:t> </a:t>
            </a:r>
            <a:r>
              <a:rPr sz="1400"/>
              <a:t>tempor</a:t>
            </a:r>
            <a:r>
              <a:rPr sz="1400"/>
              <a:t> </a:t>
            </a:r>
            <a:r>
              <a:rPr sz="1400"/>
              <a:t>ut</a:t>
            </a:r>
            <a:r>
              <a:rPr sz="1400"/>
              <a:t> </a:t>
            </a:r>
            <a:r>
              <a:rPr sz="1400"/>
              <a:t>massa</a:t>
            </a:r>
            <a:r>
              <a:rPr sz="1400"/>
              <a:t> </a:t>
            </a:r>
            <a:r>
              <a:rPr sz="1400"/>
              <a:t>elementum</a:t>
            </a:r>
            <a:r>
              <a:rPr sz="1400"/>
              <a:t> </a:t>
            </a:r>
            <a:r>
              <a:rPr sz="1400"/>
              <a:t>dapibus</a:t>
            </a:r>
            <a:r>
              <a:rPr sz="1400"/>
              <a:t>. Nam non ante quis </a:t>
            </a:r>
            <a:r>
              <a:rPr sz="1400"/>
              <a:t>enim</a:t>
            </a:r>
            <a:r>
              <a:rPr sz="1400"/>
              <a:t> </a:t>
            </a:r>
            <a:r>
              <a:rPr sz="1400"/>
              <a:t>fringilla</a:t>
            </a:r>
            <a:r>
              <a:rPr sz="1400"/>
              <a:t> tempus nec in </a:t>
            </a:r>
            <a:r>
              <a:rPr sz="1400"/>
              <a:t>lectus</a:t>
            </a:r>
            <a:r>
              <a:rPr sz="1400"/>
              <a:t>. In hac </a:t>
            </a:r>
            <a:r>
              <a:rPr sz="1400"/>
              <a:t>habitasse</a:t>
            </a:r>
            <a:r>
              <a:rPr sz="1400"/>
              <a:t> </a:t>
            </a:r>
            <a:r>
              <a:rPr sz="1400"/>
              <a:t>platea</a:t>
            </a:r>
            <a:r>
              <a:rPr sz="1400"/>
              <a:t> </a:t>
            </a:r>
            <a:r>
              <a:rPr sz="1400"/>
              <a:t>dictumst</a:t>
            </a:r>
            <a:r>
              <a:rPr sz="1400"/>
              <a:t>. 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Lorem ipsum dolor sit </a:t>
            </a:r>
            <a:r>
              <a:rPr sz="1400"/>
              <a:t>amet</a:t>
            </a:r>
            <a:r>
              <a:rPr sz="1400"/>
              <a:t>, </a:t>
            </a:r>
            <a:r>
              <a:rPr sz="1400"/>
              <a:t>consectetur</a:t>
            </a:r>
            <a:r>
              <a:rPr sz="1400"/>
              <a:t> </a:t>
            </a:r>
            <a:r>
              <a:rPr sz="1400"/>
              <a:t>adipiscing</a:t>
            </a:r>
            <a:r>
              <a:rPr sz="1400"/>
              <a:t> </a:t>
            </a:r>
            <a:r>
              <a:rPr sz="1400"/>
              <a:t>elit</a:t>
            </a:r>
            <a:r>
              <a:rPr sz="1400"/>
              <a:t>. </a:t>
            </a:r>
            <a:r>
              <a:rPr sz="1400"/>
              <a:t>Pellentesque</a:t>
            </a:r>
            <a:r>
              <a:rPr sz="1400"/>
              <a:t> </a:t>
            </a:r>
            <a:r>
              <a:rPr sz="1400"/>
              <a:t>ultricies</a:t>
            </a:r>
            <a:r>
              <a:rPr sz="1400"/>
              <a:t> </a:t>
            </a:r>
            <a:r>
              <a:rPr sz="1400"/>
              <a:t>quam</a:t>
            </a:r>
            <a:r>
              <a:rPr sz="1400"/>
              <a:t> </a:t>
            </a:r>
            <a:r>
              <a:rPr sz="1400"/>
              <a:t>ut</a:t>
            </a:r>
            <a:r>
              <a:rPr sz="1400"/>
              <a:t> </a:t>
            </a:r>
            <a:r>
              <a:rPr sz="1400"/>
              <a:t>massa</a:t>
            </a:r>
            <a:r>
              <a:rPr sz="1400"/>
              <a:t> </a:t>
            </a:r>
            <a:r>
              <a:rPr sz="1400"/>
              <a:t>luctus</a:t>
            </a:r>
            <a:r>
              <a:rPr sz="1400"/>
              <a:t> cursus. </a:t>
            </a:r>
            <a:r>
              <a:rPr sz="1400"/>
              <a:t>Nullam</a:t>
            </a:r>
            <a:r>
              <a:rPr sz="1400"/>
              <a:t> pharetra </a:t>
            </a:r>
            <a:r>
              <a:rPr sz="1400"/>
              <a:t>mauris</a:t>
            </a:r>
            <a:r>
              <a:rPr sz="1400"/>
              <a:t> </a:t>
            </a:r>
            <a:r>
              <a:rPr sz="1400"/>
              <a:t>tortor</a:t>
            </a:r>
            <a:r>
              <a:rPr sz="1400"/>
              <a:t>. In hac </a:t>
            </a:r>
            <a:r>
              <a:rPr sz="1400"/>
              <a:t>habitasse</a:t>
            </a:r>
            <a:r>
              <a:rPr sz="1400"/>
              <a:t> </a:t>
            </a:r>
            <a:r>
              <a:rPr sz="1400"/>
              <a:t>platea</a:t>
            </a:r>
            <a:r>
              <a:rPr sz="1400"/>
              <a:t> </a:t>
            </a:r>
            <a:r>
              <a:rPr sz="1400"/>
              <a:t>dictumst</a:t>
            </a:r>
            <a:r>
              <a:rPr sz="1400"/>
              <a:t>. Proin </a:t>
            </a:r>
            <a:r>
              <a:rPr sz="1400"/>
              <a:t>mattis</a:t>
            </a:r>
            <a:r>
              <a:rPr sz="1400"/>
              <a:t> </a:t>
            </a:r>
            <a:r>
              <a:rPr sz="1400"/>
              <a:t>nibh</a:t>
            </a:r>
            <a:r>
              <a:rPr sz="1400"/>
              <a:t> </a:t>
            </a:r>
            <a:r>
              <a:rPr sz="1400"/>
              <a:t>risus</a:t>
            </a:r>
            <a:r>
              <a:rPr sz="1400"/>
              <a:t>. </a:t>
            </a:r>
            <a:r>
              <a:rPr sz="1400"/>
              <a:t>Nulla</a:t>
            </a:r>
            <a:r>
              <a:rPr sz="1400"/>
              <a:t> </a:t>
            </a:r>
            <a:r>
              <a:rPr sz="1400"/>
              <a:t>tempor</a:t>
            </a:r>
            <a:r>
              <a:rPr sz="1400"/>
              <a:t> </a:t>
            </a:r>
            <a:r>
              <a:rPr sz="1400"/>
              <a:t>ut</a:t>
            </a:r>
            <a:r>
              <a:rPr sz="1400"/>
              <a:t> </a:t>
            </a:r>
            <a:r>
              <a:rPr sz="1400"/>
              <a:t>massa</a:t>
            </a:r>
            <a:r>
              <a:rPr sz="1400"/>
              <a:t> </a:t>
            </a:r>
            <a:r>
              <a:rPr sz="1400"/>
              <a:t>elementum</a:t>
            </a:r>
            <a:r>
              <a:rPr sz="1400"/>
              <a:t> </a:t>
            </a:r>
            <a:r>
              <a:rPr sz="1400"/>
              <a:t>dapibus</a:t>
            </a:r>
            <a:r>
              <a:rPr sz="1400"/>
              <a:t>. Nam non ante quis </a:t>
            </a:r>
            <a:r>
              <a:rPr sz="1400"/>
              <a:t>enim</a:t>
            </a:r>
            <a:r>
              <a:rPr sz="1400"/>
              <a:t> </a:t>
            </a:r>
            <a:r>
              <a:rPr sz="1400"/>
              <a:t>fringilla</a:t>
            </a:r>
            <a:r>
              <a:rPr sz="1400"/>
              <a:t> tempus nec in </a:t>
            </a:r>
            <a:r>
              <a:rPr sz="1400"/>
              <a:t>lectus</a:t>
            </a:r>
            <a:r>
              <a:rPr sz="1400"/>
              <a:t>. In hac </a:t>
            </a:r>
            <a:r>
              <a:rPr sz="1400"/>
              <a:t>habitasse</a:t>
            </a:r>
            <a:r>
              <a:rPr sz="1400"/>
              <a:t> </a:t>
            </a:r>
            <a:r>
              <a:rPr sz="1400"/>
              <a:t>platea</a:t>
            </a:r>
            <a:r>
              <a:rPr sz="1400"/>
              <a:t> </a:t>
            </a:r>
            <a:r>
              <a:rPr sz="1400"/>
              <a:t>dictumst</a:t>
            </a:r>
            <a:r>
              <a:rPr sz="1400"/>
              <a:t>. 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Lorem ipsum dolor sit </a:t>
            </a:r>
            <a:r>
              <a:rPr sz="1400"/>
              <a:t>amet</a:t>
            </a:r>
            <a:r>
              <a:rPr sz="1400"/>
              <a:t>, </a:t>
            </a:r>
            <a:r>
              <a:rPr sz="1400"/>
              <a:t>consectetur</a:t>
            </a:r>
            <a:r>
              <a:rPr sz="1400"/>
              <a:t> </a:t>
            </a:r>
            <a:r>
              <a:rPr sz="1400"/>
              <a:t>adipiscing</a:t>
            </a:r>
            <a:r>
              <a:rPr sz="1400"/>
              <a:t> </a:t>
            </a:r>
            <a:r>
              <a:rPr sz="1400"/>
              <a:t>elit</a:t>
            </a:r>
            <a:r>
              <a:rPr sz="1400"/>
              <a:t>. </a:t>
            </a:r>
            <a:r>
              <a:rPr sz="1400"/>
              <a:t>Pellentesque</a:t>
            </a:r>
            <a:r>
              <a:rPr sz="1400"/>
              <a:t> </a:t>
            </a:r>
            <a:r>
              <a:rPr sz="1400"/>
              <a:t>ultricies</a:t>
            </a:r>
            <a:r>
              <a:rPr sz="1400"/>
              <a:t> </a:t>
            </a:r>
            <a:r>
              <a:rPr sz="1400"/>
              <a:t>quam</a:t>
            </a:r>
            <a:r>
              <a:rPr sz="1400"/>
              <a:t> </a:t>
            </a:r>
            <a:r>
              <a:rPr sz="1400"/>
              <a:t>ut</a:t>
            </a:r>
            <a:r>
              <a:rPr sz="1400"/>
              <a:t> </a:t>
            </a:r>
            <a:r>
              <a:rPr sz="1400"/>
              <a:t>massa</a:t>
            </a:r>
            <a:r>
              <a:rPr sz="1400"/>
              <a:t> </a:t>
            </a:r>
            <a:r>
              <a:rPr sz="1400"/>
              <a:t>luctus</a:t>
            </a:r>
            <a:r>
              <a:rPr sz="1400"/>
              <a:t> cursus. </a:t>
            </a:r>
            <a:r>
              <a:rPr sz="1400"/>
              <a:t>Nullam</a:t>
            </a:r>
            <a:r>
              <a:rPr sz="1400"/>
              <a:t> pharetra </a:t>
            </a:r>
            <a:r>
              <a:rPr sz="1400"/>
              <a:t>mauris</a:t>
            </a:r>
            <a:r>
              <a:rPr sz="1400"/>
              <a:t> </a:t>
            </a:r>
            <a:r>
              <a:rPr sz="1400"/>
              <a:t>tortor</a:t>
            </a:r>
            <a:r>
              <a:rPr sz="1400"/>
              <a:t>. In hac </a:t>
            </a:r>
            <a:r>
              <a:rPr sz="1400"/>
              <a:t>habitasse</a:t>
            </a:r>
            <a:r>
              <a:rPr sz="1400"/>
              <a:t> </a:t>
            </a:r>
            <a:r>
              <a:rPr sz="1400"/>
              <a:t>platea</a:t>
            </a:r>
            <a:r>
              <a:rPr sz="1400"/>
              <a:t> </a:t>
            </a:r>
            <a:r>
              <a:rPr sz="1400"/>
              <a:t>dictumst</a:t>
            </a:r>
            <a:r>
              <a:rPr sz="1400"/>
              <a:t>. Proin </a:t>
            </a:r>
            <a:r>
              <a:rPr sz="1400"/>
              <a:t>mattis</a:t>
            </a:r>
            <a:r>
              <a:rPr sz="1400"/>
              <a:t> </a:t>
            </a:r>
            <a:r>
              <a:rPr sz="1400"/>
              <a:t>nibh</a:t>
            </a:r>
            <a:r>
              <a:rPr sz="1400"/>
              <a:t> </a:t>
            </a:r>
            <a:r>
              <a:rPr sz="1400"/>
              <a:t>risus</a:t>
            </a:r>
            <a:r>
              <a:rPr sz="1400"/>
              <a:t>. </a:t>
            </a:r>
            <a:r>
              <a:rPr sz="1400"/>
              <a:t>Nulla</a:t>
            </a:r>
            <a:r>
              <a:rPr sz="1400"/>
              <a:t> </a:t>
            </a:r>
            <a:r>
              <a:rPr sz="1400"/>
              <a:t>tempor</a:t>
            </a:r>
            <a:r>
              <a:rPr sz="1400"/>
              <a:t> </a:t>
            </a:r>
            <a:r>
              <a:rPr sz="1400"/>
              <a:t>ut</a:t>
            </a:r>
            <a:r>
              <a:rPr sz="1400"/>
              <a:t> </a:t>
            </a:r>
            <a:r>
              <a:rPr sz="1400"/>
              <a:t>massa</a:t>
            </a:r>
            <a:r>
              <a:rPr sz="1400"/>
              <a:t> </a:t>
            </a:r>
            <a:r>
              <a:rPr sz="1400"/>
              <a:t>elementum</a:t>
            </a:r>
            <a:r>
              <a:rPr sz="1400"/>
              <a:t> </a:t>
            </a:r>
            <a:r>
              <a:rPr sz="1400"/>
              <a:t>dapibus</a:t>
            </a:r>
            <a:r>
              <a:rPr sz="1400"/>
              <a:t>. Nam non ante quis </a:t>
            </a:r>
            <a:r>
              <a:rPr sz="1400"/>
              <a:t>enim</a:t>
            </a:r>
            <a:r>
              <a:rPr sz="1400"/>
              <a:t> </a:t>
            </a:r>
            <a:r>
              <a:rPr sz="1400"/>
              <a:t>fringilla</a:t>
            </a:r>
            <a:r>
              <a:rPr sz="1400"/>
              <a:t> tempus nec in </a:t>
            </a:r>
            <a:r>
              <a:rPr sz="1400"/>
              <a:t>lectus</a:t>
            </a:r>
            <a:r>
              <a:rPr sz="1400"/>
              <a:t>. In hac </a:t>
            </a:r>
            <a:r>
              <a:rPr sz="1400"/>
              <a:t>habitasse</a:t>
            </a:r>
            <a:r>
              <a:rPr sz="1400"/>
              <a:t> </a:t>
            </a:r>
            <a:r>
              <a:rPr sz="1400"/>
              <a:t>platea</a:t>
            </a:r>
            <a:r>
              <a:rPr sz="1400"/>
              <a:t> </a:t>
            </a:r>
            <a:r>
              <a:rPr sz="1400"/>
              <a:t>dictumst</a:t>
            </a:r>
            <a:r>
              <a:rPr sz="1400"/>
              <a:t>. 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310936"/>
            <a:ext cx="5537200" cy="7193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Главный flow: главная → каталог → товар → корзина → checkout → подтверждение.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F5D028D-B73B-5BFF-0AA5-65F94FB570F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D035ED81-B82C-6CFE-FAA7-0911E05CDE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1170935"/>
            <a:ext cx="11404600" cy="17979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200">
                <a:solidFill>
                  <a:schemeClr val="accent1"/>
                </a:solidFill>
              </a:rPr>
              <a:t>Учебный проект собран как настоящий e-commerce experience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AEFF86C5-A7D2-315F-C644-70488B8E4BC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6730FFED-E57C-67CB-4BAA-56812683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677" y="3297710"/>
            <a:ext cx="7092645" cy="186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В нём есть не только витрина, но и полный пользовательский сценарий: поиск, выбор, сравнение, покупка и подтверждение.</a:t>
            </a:r>
          </a:p>
        </p:txBody>
      </p:sp>
    </p:spTree>
    <p:extLst>
      <p:ext uri="{BB962C8B-B14F-4D97-AF65-F5344CB8AC3E}">
        <p14:creationId xmlns:p14="http://schemas.microsoft.com/office/powerpoint/2010/main" val="34661421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4429360-E0B5-E472-3BCB-2FC70A04DA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CD65521-5912-FE80-B7B5-EE9E16A135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Каталог и покрытие сценариев</a:t>
            </a:r>
            <a:endParaRPr>
              <a:solidFill>
                <a:schemeClr val="accent1"/>
              </a:solidFill>
            </a:endParaRPr>
          </a:p>
        </p:txBody>
      </p:sp>
      <p:graphicFrame>
        <p:nvGraphicFramePr>
          <p:cNvPr id="2" name="Google Shape;644;p93">
            <a:extLst xmlns:a="http://schemas.openxmlformats.org/drawingml/2006/main">
              <a:ext uri="{FF2B5EF4-FFF2-40B4-BE49-F238E27FC236}">
                <a16:creationId xmlns:a16="http://schemas.microsoft.com/office/drawing/2014/main" id="{F4261403-543D-46F9-9DC3-6EC0158520E6}"/>
              </a:ext>
            </a:extLst>
          </p:cNvPr>
          <p:cNvGraphicFramePr/>
          <p:nvPr/>
        </p:nvGraphicFramePr>
        <p:xfrm>
          <a:off xmlns:a="http://schemas.openxmlformats.org/drawingml/2006/main" x="4752785" y="1549337"/>
          <a:ext xmlns:a="http://schemas.openxmlformats.org/drawingml/2006/main" cx="6777990" cy="409575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694500"/>
                <a:gridCol w="1694500"/>
                <a:gridCol w="1694500"/>
                <a:gridCol w="1694500"/>
              </a:tblGrid>
              <a:tr h="55843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Категория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Товаров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Пример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Сценарии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Смартфоны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6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iPhone 17 Pro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поиск, фильтр, корзина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Ноутбуки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MacBook Air 13” M3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карточка, сравнение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Планшеты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iPad Air 11” M2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избранное, отзывы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Наушники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AirPods 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фильтр, checkout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Мониторы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6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Studio Display 27”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категория, сравнение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Аксессуары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Apple Pencil Pro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категория, поиск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Итого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42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Apple catalog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основной flow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Источник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JSON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src/data/products.json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productService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Ограничение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—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нет реальной оплаты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учебный MVP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75B304C-27F3-8A33-E6D7-E2EFCA2F82B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1547039-AB2A-5CA1-49F7-26E9E716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774196"/>
            <a:ext cx="3606800" cy="32202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Каталог содержит 42 позиции в 6 категориях. Все товары приходят из локального JSON через productService.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D136FB89-7449-CC90-F061-B6BF578E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564835"/>
            <a:ext cx="3606800" cy="11783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Фактический scope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255389493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F29587C6-818E-614C-4E8F-CD264BB5DD4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10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3FE1DBC-074A-B31C-7363-7F3B844437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49230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Каталог как база для развития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1655C29-3D04-D88C-395C-E6000B5894F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EFFCFBF-F669-9423-2DB8-D166659E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74900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B25D3D5-48E8-D985-A4A9-9DA67A42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93A9C42-081B-E830-D8CB-13511AF8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3088295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42 товара в 6 категориях.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3899B51-315F-2B69-8DFE-6F0EE585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2631212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Локальный scope</a:t>
            </a:r>
          </a:p>
        </p:txBody>
      </p:sp>
      <p:sp>
        <p:nvSpPr>
          <p:cNvPr id="14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BE99E9C-A611-68DB-873D-1306B6DA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Оплата учебная, backend пока не подключён.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A7172E7-1168-69D9-D755-CC735D3A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Ограничение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B252D751-7B28-98E9-CF7E-0EB98657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391117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7D94FB0-B75A-4229-2FD1-CA1FAAC5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1104512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productService отделяет UI от источника данных.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0D1D081-A168-A031-F892-8E2476A4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647429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API-ready слой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A516C1E9-8E8C-409C-BFB5-B784F23B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18" y="1714500"/>
            <a:ext cx="5124164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3150" b="1">
                <a:solidFill>
                  <a:srgbClr val="3357B8"/>
                </a:solidFill>
              </a:defRPr>
            </a:defPPr>
            <a:lvl1pPr algn="ctr">
              <a:defRPr sz="3150" b="1">
                <a:solidFill>
                  <a:srgbClr val="3357B8"/>
                </a:solidFill>
              </a:defRPr>
            </a:lvl1pPr>
            <a:lvl2pPr algn="ctr">
              <a:defRPr sz="3150" b="1">
                <a:solidFill>
                  <a:srgbClr val="3357B8"/>
                </a:solidFill>
              </a:defRPr>
            </a:lvl2pPr>
            <a:lvl3pPr algn="ctr">
              <a:defRPr sz="3150" b="1">
                <a:solidFill>
                  <a:srgbClr val="3357B8"/>
                </a:solidFill>
              </a:defRPr>
            </a:lvl3pPr>
            <a:lvl4pPr algn="ctr">
              <a:defRPr sz="3150" b="1">
                <a:solidFill>
                  <a:srgbClr val="3357B8"/>
                </a:solidFill>
              </a:defRPr>
            </a:lvl4pPr>
            <a:lvl5pPr algn="ctr">
              <a:defRPr sz="3150" b="1">
                <a:solidFill>
                  <a:srgbClr val="3357B8"/>
                </a:solidFill>
              </a:defRPr>
            </a:lvl5pPr>
            <a:lvl6pPr algn="ctr">
              <a:defRPr sz="3150" b="1">
                <a:solidFill>
                  <a:srgbClr val="3357B8"/>
                </a:solidFill>
              </a:defRPr>
            </a:lvl6pPr>
            <a:lvl7pPr algn="ctr">
              <a:defRPr sz="3150" b="1">
                <a:solidFill>
                  <a:srgbClr val="3357B8"/>
                </a:solidFill>
              </a:defRPr>
            </a:lvl7pPr>
            <a:lvl8pPr algn="ctr">
              <a:defRPr sz="3150" b="1">
                <a:solidFill>
                  <a:srgbClr val="3357B8"/>
                </a:solidFill>
              </a:defRPr>
            </a:lvl8pPr>
            <a:lvl9pPr algn="ctr">
              <a:defRPr sz="3150" b="1">
                <a:solidFill>
                  <a:srgbClr val="3357B8"/>
                </a:solidFill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3357B8"/>
                </a:solidFill>
              </a:defRPr>
            </a:pPr>
            <a:r>
              <a:rPr sz="3150" b="1">
                <a:solidFill>
                  <a:srgbClr val="3357B8"/>
                </a:solidFill>
              </a:rPr>
              <a:t>42</a:t>
            </a:r>
          </a:p>
          <a:p xmlns:a="http://schemas.openxmlformats.org/drawingml/2006/main">
            <a:pPr algn="ctr">
              <a:defRPr sz="3150" b="1">
                <a:solidFill>
                  <a:srgbClr val="3357B8"/>
                </a:solidFill>
              </a:defRPr>
            </a:pPr>
            <a:r>
              <a:rPr sz="3150" b="1">
                <a:solidFill>
                  <a:srgbClr val="3357B8"/>
                </a:solidFill>
              </a:rPr>
              <a:t>товара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3150" b="1">
                <a:solidFill>
                  <a:srgbClr val="3357B8"/>
                </a:solidFill>
              </a:defRPr>
            </a:pPr>
            <a:r>
              <a:rPr sz="3150" b="1">
                <a:solidFill>
                  <a:srgbClr val="3357B8"/>
                </a:solidFill>
              </a:rPr>
              <a:t>6</a:t>
            </a:r>
          </a:p>
          <a:p xmlns:a="http://schemas.openxmlformats.org/drawingml/2006/main">
            <a:pPr algn="ctr">
              <a:defRPr sz="3150" b="1">
                <a:solidFill>
                  <a:srgbClr val="3357B8"/>
                </a:solidFill>
              </a:defRPr>
            </a:pPr>
            <a:r>
              <a:rPr sz="3150" b="1">
                <a:solidFill>
                  <a:srgbClr val="3357B8"/>
                </a:solidFill>
              </a:rPr>
              <a:t>категорий</a:t>
            </a:r>
          </a:p>
        </p:txBody>
      </p:sp>
    </p:spTree>
    <p:extLst>
      <p:ext uri="{BB962C8B-B14F-4D97-AF65-F5344CB8AC3E}">
        <p14:creationId xmlns:p14="http://schemas.microsoft.com/office/powerpoint/2010/main" val="314597529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95E36811-4D7D-1AF4-2047-7797FCF554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6DC532E1-40B6-29A8-B015-EB0F29E1B9BE}" type="slidenum">
              <a:t>Каталог изолирован от UI через productService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619161C-354F-15D6-9579-085F52D7C5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49230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Готовность к следующему этапу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8BED08C-D3A0-E23F-F823-E34BEC6E526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C1DC18F5-97D1-0F9E-AF97-E39D1D59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2032000"/>
            <a:ext cx="2581975" cy="2656541"/>
          </a:xfrm>
          <a:prstGeom xmlns:a="http://schemas.openxmlformats.org/drawingml/2006/main" prst="roundRect">
            <a:avLst>
              <a:gd name="adj" fmla="val 3602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90C522A2-2174-5AFA-9A00-7E4BBCEB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4348" y="235682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6200" u="none" strike="noStrike" cap="none" spc="0" baseline="0">
                <a:ln>
                  <a:noFill/>
                </a:ln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42</a:t>
            </a:r>
            <a:endParaRPr sz="6200">
              <a:solidFill>
                <a:schemeClr val="accent1"/>
              </a:solidFill>
              <a:latin typeface="Roboto Medium"/>
              <a:ea typeface="Roboto Medium"/>
              <a:cs typeface="Roboto Medium"/>
            </a:endParaRPr>
          </a:p>
        </p:txBody>
      </p:sp>
      <p:sp>
        <p:nvSpPr>
          <p:cNvPr id="7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859261F-DEEB-D3E4-08EA-A3B8D1EB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0966" y="3529296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товара в локальном каталоге</a:t>
            </a:r>
            <a:endParaRPr sz="1600"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6A67EF5-6C28-37C0-A44F-C89DA6A6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2032000"/>
            <a:ext cx="2581975" cy="2656541"/>
          </a:xfrm>
          <a:prstGeom xmlns:a="http://schemas.openxmlformats.org/drawingml/2006/main" prst="roundRect">
            <a:avLst>
              <a:gd name="adj" fmla="val 3602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9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1178A3C-CA3E-3A18-E320-61DF2ABD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553" y="235682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6200" u="none" strike="noStrike" cap="none" spc="0" baseline="0">
                <a:ln>
                  <a:noFill/>
                </a:ln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6</a:t>
            </a:r>
            <a:endParaRPr sz="6200">
              <a:solidFill>
                <a:schemeClr val="accent1"/>
              </a:solidFill>
              <a:latin typeface="Roboto Medium"/>
              <a:ea typeface="Roboto Medium"/>
              <a:cs typeface="Roboto Medium"/>
            </a:endParaRPr>
          </a:p>
        </p:txBody>
      </p:sp>
      <p:sp>
        <p:nvSpPr>
          <p:cNvPr id="10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A0C1C6C-0D79-048C-2E65-5A332ED3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3171" y="3529296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категорий техники</a:t>
            </a:r>
            <a:endParaRPr sz="1600"/>
          </a:p>
        </p:txBody>
      </p:sp>
      <p:sp>
        <p:nvSpPr>
          <p:cNvPr id="1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1ADE962-9ED7-3644-FA2A-7A64E19E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427" y="4971337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42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2317616F-849B-4253-A369-F12315F1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18" y="1714500"/>
            <a:ext cx="5124164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250" b="1">
                <a:solidFill>
                  <a:srgbClr val="3357B8"/>
                </a:solidFill>
              </a:defRPr>
            </a:defPPr>
            <a:lvl1pPr algn="ctr">
              <a:defRPr sz="2250" b="1">
                <a:solidFill>
                  <a:srgbClr val="3357B8"/>
                </a:solidFill>
              </a:defRPr>
            </a:lvl1pPr>
            <a:lvl2pPr algn="ctr">
              <a:defRPr sz="2250" b="1">
                <a:solidFill>
                  <a:srgbClr val="3357B8"/>
                </a:solidFill>
              </a:defRPr>
            </a:lvl2pPr>
            <a:lvl3pPr algn="ctr">
              <a:defRPr sz="2250" b="1">
                <a:solidFill>
                  <a:srgbClr val="3357B8"/>
                </a:solidFill>
              </a:defRPr>
            </a:lvl3pPr>
            <a:lvl4pPr algn="ctr">
              <a:defRPr sz="2250" b="1">
                <a:solidFill>
                  <a:srgbClr val="3357B8"/>
                </a:solidFill>
              </a:defRPr>
            </a:lvl4pPr>
            <a:lvl5pPr algn="ctr">
              <a:defRPr sz="2250" b="1">
                <a:solidFill>
                  <a:srgbClr val="3357B8"/>
                </a:solidFill>
              </a:defRPr>
            </a:lvl5pPr>
            <a:lvl6pPr algn="ctr">
              <a:defRPr sz="2250" b="1">
                <a:solidFill>
                  <a:srgbClr val="3357B8"/>
                </a:solidFill>
              </a:defRPr>
            </a:lvl6pPr>
            <a:lvl7pPr algn="ctr">
              <a:defRPr sz="2250" b="1">
                <a:solidFill>
                  <a:srgbClr val="3357B8"/>
                </a:solidFill>
              </a:defRPr>
            </a:lvl7pPr>
            <a:lvl8pPr algn="ctr">
              <a:defRPr sz="2250" b="1">
                <a:solidFill>
                  <a:srgbClr val="3357B8"/>
                </a:solidFill>
              </a:defRPr>
            </a:lvl8pPr>
            <a:lvl9pPr algn="ctr">
              <a:defRPr sz="2250" b="1">
                <a:solidFill>
                  <a:srgbClr val="3357B8"/>
                </a:solidFill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3357B8"/>
                </a:solidFill>
              </a:defRPr>
            </a:pPr>
            <a:r>
              <a:rPr sz="2250" b="1">
                <a:solidFill>
                  <a:srgbClr val="3357B8"/>
                </a:solidFill>
              </a:rPr>
              <a:t>Следующий этап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250" b="1">
                <a:solidFill>
                  <a:srgbClr val="3357B8"/>
                </a:solidFill>
              </a:defRPr>
            </a:pPr>
            <a:r>
              <a:rPr sz="2250" b="1">
                <a:solidFill>
                  <a:srgbClr val="3357B8"/>
                </a:solidFill>
              </a:rPr>
              <a:t>API + backend</a:t>
            </a:r>
          </a:p>
          <a:p xmlns:a="http://schemas.openxmlformats.org/drawingml/2006/main">
            <a:pPr algn="ctr">
              <a:defRPr sz="2250" b="1">
                <a:solidFill>
                  <a:srgbClr val="3357B8"/>
                </a:solidFill>
              </a:defRPr>
            </a:pPr>
            <a:r>
              <a:rPr sz="2250" b="1">
                <a:solidFill>
                  <a:srgbClr val="3357B8"/>
                </a:solidFill>
              </a:rPr>
              <a:t>Тесты</a:t>
            </a:r>
          </a:p>
          <a:p xmlns:a="http://schemas.openxmlformats.org/drawingml/2006/main">
            <a:pPr algn="ctr">
              <a:defRPr sz="2250" b="1">
                <a:solidFill>
                  <a:srgbClr val="3357B8"/>
                </a:solidFill>
              </a:defRPr>
            </a:pPr>
            <a:r>
              <a:rPr sz="2250" b="1">
                <a:solidFill>
                  <a:srgbClr val="3357B8"/>
                </a:solidFill>
              </a:rPr>
              <a:t>Реальная оплата</a:t>
            </a:r>
          </a:p>
        </p:txBody>
      </p:sp>
    </p:spTree>
    <p:extLst>
      <p:ext uri="{BB962C8B-B14F-4D97-AF65-F5344CB8AC3E}">
        <p14:creationId xmlns:p14="http://schemas.microsoft.com/office/powerpoint/2010/main" val="399383134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2026-10-24T14:44:35.0790000Z</dcterms:created>
  <dcterms:modified xsi:type="dcterms:W3CDTF">2026-10-24T14:44:35.0790000Z</dcterms:modified>
</coreProperties>
</file>